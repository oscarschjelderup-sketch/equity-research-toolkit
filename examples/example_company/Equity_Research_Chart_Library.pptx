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300"/>
          <c:y val="0.0600"/>
          <c:w val="0.9400"/>
          <c:h val="0.7800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(NOKm)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dPt>
            <c:idx val="0"/>
            <c:invertIfNegative val="0"/>
            <c:spPr>
              <a:solidFill>
                <a:srgbClr val="003255"/>
              </a:solidFill>
            </c:spPr>
          </c:dPt>
          <c:dPt>
            <c:idx val="1"/>
            <c:invertIfNegative val="0"/>
            <c:spPr>
              <a:solidFill>
                <a:srgbClr val="003255"/>
              </a:solidFill>
            </c:spPr>
          </c:dPt>
          <c:dPt>
            <c:idx val="2"/>
            <c:invertIfNegative val="0"/>
            <c:spPr>
              <a:solidFill>
                <a:srgbClr val="003255"/>
              </a:solidFill>
            </c:spPr>
          </c:dPt>
          <c:dPt>
            <c:idx val="3"/>
            <c:invertIfNegative val="0"/>
            <c:spPr>
              <a:solidFill>
                <a:srgbClr val="003255"/>
              </a:solidFill>
            </c:spPr>
          </c:dPt>
          <c:dPt>
            <c:idx val="4"/>
            <c:invertIfNegative val="0"/>
            <c:spPr>
              <a:solidFill>
                <a:srgbClr val="003255"/>
              </a:solidFill>
            </c:spPr>
          </c:dPt>
          <c:dPt>
            <c:idx val="5"/>
            <c:invertIfNegative val="0"/>
            <c:spPr>
              <a:solidFill>
                <a:srgbClr val="81B0C0"/>
              </a:solidFill>
            </c:spPr>
          </c:dPt>
          <c:dPt>
            <c:idx val="6"/>
            <c:invertIfNegative val="0"/>
            <c:spPr>
              <a:solidFill>
                <a:srgbClr val="81B0C0"/>
              </a:solidFill>
            </c:spPr>
          </c:dPt>
          <c:dPt>
            <c:idx val="7"/>
            <c:invertIfNegative val="0"/>
            <c:spPr>
              <a:solidFill>
                <a:srgbClr val="81B0C0"/>
              </a:solidFill>
            </c:spPr>
          </c:dPt>
          <c:cat>
            <c:strRef>
              <c:f>Sheet1!$A$2:$A$9</c:f>
              <c:strCache>
                <c:ptCount val="8"/>
                <c:pt idx="0">
                  <c:v>2021A</c:v>
                </c:pt>
                <c:pt idx="1">
                  <c:v>2022A</c:v>
                </c:pt>
                <c:pt idx="2">
                  <c:v>2023A</c:v>
                </c:pt>
                <c:pt idx="3">
                  <c:v>2024A</c:v>
                </c:pt>
                <c:pt idx="4">
                  <c:v>2025A</c:v>
                </c:pt>
                <c:pt idx="5">
                  <c:v>2026E</c:v>
                </c:pt>
                <c:pt idx="6">
                  <c:v>2027E</c:v>
                </c:pt>
                <c:pt idx="7">
                  <c:v>2028E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3668</c:v>
                </c:pt>
                <c:pt idx="1">
                  <c:v>4262</c:v>
                </c:pt>
                <c:pt idx="2">
                  <c:v>4687</c:v>
                </c:pt>
                <c:pt idx="3">
                  <c:v>5045</c:v>
                </c:pt>
                <c:pt idx="4">
                  <c:v>5433</c:v>
                </c:pt>
                <c:pt idx="5">
                  <c:v>5726.447959148221</c:v>
                </c:pt>
                <c:pt idx="6">
                  <c:v>6083.842720592843</c:v>
                </c:pt>
                <c:pt idx="7">
                  <c:v>6479.028157707458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718.542236561188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Company growth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0.09971844204598779</c:v>
                </c:pt>
                <c:pt idx="1">
                  <c:v>0.0763814806912737</c:v>
                </c:pt>
                <c:pt idx="2">
                  <c:v>0.07690782953419228</c:v>
                </c:pt>
                <c:pt idx="3">
                  <c:v>0.054012140465345304</c:v>
                </c:pt>
                <c:pt idx="4">
                  <c:v>0.062411247599599706</c:v>
                </c:pt>
                <c:pt idx="5">
                  <c:v>0.06495655053293459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 growth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2023A</c:v>
                </c:pt>
                <c:pt idx="1">
                  <c:v>2024A</c:v>
                </c:pt>
                <c:pt idx="2">
                  <c:v>2025A</c:v>
                </c:pt>
                <c:pt idx="3">
                  <c:v>2026E</c:v>
                </c:pt>
                <c:pt idx="4">
                  <c:v>2027E</c:v>
                </c:pt>
                <c:pt idx="5">
                  <c:v>2028E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0.07</c:v>
                </c:pt>
                <c:pt idx="1">
                  <c:v>0.048</c:v>
                </c:pt>
                <c:pt idx="2">
                  <c:v>0.045</c:v>
                </c:pt>
                <c:pt idx="3">
                  <c:v>0.041</c:v>
                </c:pt>
                <c:pt idx="4">
                  <c:v>0.039</c:v>
                </c:pt>
                <c:pt idx="5">
                  <c:v>0.04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Norway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Sheet1!$B$2:$B$8</c:f>
              <c:numCache>
                <c:formatCode>0</c:formatCode>
                <c:ptCount val="7"/>
                <c:pt idx="0">
                  <c:v>2150</c:v>
                </c:pt>
                <c:pt idx="1">
                  <c:v>2340</c:v>
                </c:pt>
                <c:pt idx="2">
                  <c:v>2505</c:v>
                </c:pt>
                <c:pt idx="3">
                  <c:v>2690</c:v>
                </c:pt>
                <c:pt idx="4">
                  <c:v>2824.5903839999996</c:v>
                </c:pt>
                <c:pt idx="5">
                  <c:v>2976.0982505654392</c:v>
                </c:pt>
                <c:pt idx="6">
                  <c:v>3138.5734403893293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Sweden</c:v>
                </c:pt>
              </c:strCache>
            </c:strRef>
          </c:tx>
          <c:spPr>
            <a:solidFill>
              <a:srgbClr val="4F7FA0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Sheet1!$C$2:$C$8</c:f>
              <c:numCache>
                <c:formatCode>0</c:formatCode>
                <c:ptCount val="7"/>
                <c:pt idx="0">
                  <c:v>1400</c:v>
                </c:pt>
                <c:pt idx="1">
                  <c:v>1545</c:v>
                </c:pt>
                <c:pt idx="2">
                  <c:v>1665</c:v>
                </c:pt>
                <c:pt idx="3">
                  <c:v>1785</c:v>
                </c:pt>
                <c:pt idx="4">
                  <c:v>1877.4552109090912</c:v>
                </c:pt>
                <c:pt idx="5">
                  <c:v>1988.8505001504</c:v>
                </c:pt>
                <c:pt idx="6">
                  <c:v>2110.3352744464964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Denmark &amp; Finland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Sheet1!$D$2:$D$8</c:f>
              <c:numCache>
                <c:formatCode>0</c:formatCode>
                <c:ptCount val="7"/>
                <c:pt idx="0">
                  <c:v>712</c:v>
                </c:pt>
                <c:pt idx="1">
                  <c:v>802</c:v>
                </c:pt>
                <c:pt idx="2">
                  <c:v>875</c:v>
                </c:pt>
                <c:pt idx="3">
                  <c:v>958</c:v>
                </c:pt>
                <c:pt idx="4">
                  <c:v>1024.4023642391303</c:v>
                </c:pt>
                <c:pt idx="5">
                  <c:v>1118.8939698770034</c:v>
                </c:pt>
                <c:pt idx="6">
                  <c:v>1230.1194428716326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Norway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Sheet1!$B$2:$B$8</c:f>
              <c:numCache>
                <c:formatCode>0%</c:formatCode>
                <c:ptCount val="7"/>
                <c:pt idx="0">
                  <c:v>0.5044580009385266</c:v>
                </c:pt>
                <c:pt idx="1">
                  <c:v>0.4992532536803926</c:v>
                </c:pt>
                <c:pt idx="2">
                  <c:v>0.4965312190287413</c:v>
                </c:pt>
                <c:pt idx="3">
                  <c:v>0.4951224001472483</c:v>
                </c:pt>
                <c:pt idx="4">
                  <c:v>0.4932534800194259</c:v>
                </c:pt>
                <c:pt idx="5">
                  <c:v>0.48918066873948246</c:v>
                </c:pt>
                <c:pt idx="6">
                  <c:v>0.4844204044175482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Sweden</c:v>
                </c:pt>
              </c:strCache>
            </c:strRef>
          </c:tx>
          <c:spPr>
            <a:solidFill>
              <a:srgbClr val="4F7FA0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Sheet1!$C$2:$C$8</c:f>
              <c:numCache>
                <c:formatCode>0%</c:formatCode>
                <c:ptCount val="7"/>
                <c:pt idx="0">
                  <c:v>0.328484279680901</c:v>
                </c:pt>
                <c:pt idx="1">
                  <c:v>0.32963516108384894</c:v>
                </c:pt>
                <c:pt idx="2">
                  <c:v>0.33002973240832506</c:v>
                </c:pt>
                <c:pt idx="3">
                  <c:v>0.3285477636664826</c:v>
                </c:pt>
                <c:pt idx="4">
                  <c:v>0.32785685372549034</c:v>
                </c:pt>
                <c:pt idx="5">
                  <c:v>0.32690695527326114</c:v>
                </c:pt>
                <c:pt idx="6">
                  <c:v>0.3257178735881923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Denmark &amp; Finland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</c:strCache>
            </c:strRef>
          </c:cat>
          <c:val>
            <c:numRef>
              <c:f>Sheet1!$D$2:$D$8</c:f>
              <c:numCache>
                <c:formatCode>0%</c:formatCode>
                <c:ptCount val="7"/>
                <c:pt idx="0">
                  <c:v>0.1670577193805725</c:v>
                </c:pt>
                <c:pt idx="1">
                  <c:v>0.17111158523575848</c:v>
                </c:pt>
                <c:pt idx="2">
                  <c:v>0.1734390485629336</c:v>
                </c:pt>
                <c:pt idx="3">
                  <c:v>0.1763298361862691</c:v>
                </c:pt>
                <c:pt idx="4">
                  <c:v>0.17888966625508365</c:v>
                </c:pt>
                <c:pt idx="5">
                  <c:v>0.18391237598725635</c:v>
                </c:pt>
                <c:pt idx="6">
                  <c:v>0.18986172199425946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000"/>
          <c:y val="0.0300"/>
          <c:w val="0.6600"/>
          <c:h val="0.9400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EV/EBIT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dPt>
            <c:idx val="0"/>
            <c:invertIfNegative val="0"/>
            <c:spPr>
              <a:solidFill>
                <a:srgbClr val="81B0C0"/>
              </a:solidFill>
            </c:spPr>
          </c:dPt>
          <c:dPt>
            <c:idx val="1"/>
            <c:invertIfNegative val="0"/>
            <c:spPr>
              <a:solidFill>
                <a:srgbClr val="81B0C0"/>
              </a:solidFill>
            </c:spPr>
          </c:dPt>
          <c:dPt>
            <c:idx val="2"/>
            <c:invertIfNegative val="0"/>
            <c:spPr>
              <a:solidFill>
                <a:srgbClr val="81B0C0"/>
              </a:solidFill>
            </c:spPr>
          </c:dPt>
          <c:dPt>
            <c:idx val="3"/>
            <c:invertIfNegative val="0"/>
            <c:spPr>
              <a:solidFill>
                <a:srgbClr val="81B0C0"/>
              </a:solidFill>
            </c:spPr>
          </c:dPt>
          <c:dPt>
            <c:idx val="4"/>
            <c:invertIfNegative val="0"/>
            <c:spPr>
              <a:solidFill>
                <a:srgbClr val="81B0C0"/>
              </a:solidFill>
            </c:spPr>
          </c:dPt>
          <c:dPt>
            <c:idx val="5"/>
            <c:invertIfNegative val="0"/>
            <c:spPr>
              <a:solidFill>
                <a:srgbClr val="81B0C0"/>
              </a:solidFill>
            </c:spPr>
          </c:dPt>
          <c:dPt>
            <c:idx val="6"/>
            <c:invertIfNegative val="0"/>
            <c:spPr>
              <a:solidFill>
                <a:srgbClr val="003255"/>
              </a:solidFill>
            </c:spPr>
          </c:dPt>
          <c:dPt>
            <c:idx val="7"/>
            <c:invertIfNegative val="0"/>
            <c:spPr>
              <a:solidFill>
                <a:srgbClr val="81B0C0"/>
              </a:solidFill>
            </c:spPr>
          </c:dPt>
          <c:dPt>
            <c:idx val="8"/>
            <c:invertIfNegative val="0"/>
            <c:spPr>
              <a:solidFill>
                <a:srgbClr val="81B0C0"/>
              </a:solidFill>
            </c:spPr>
          </c:dPt>
          <c:cat>
            <c:strRef>
              <c:f>Sheet1!$A$2:$A$10</c:f>
              <c:strCache>
                <c:ptCount val="9"/>
                <c:pt idx="0">
                  <c:v>Peer E AB</c:v>
                </c:pt>
                <c:pt idx="1">
                  <c:v>Peer F plc</c:v>
                </c:pt>
                <c:pt idx="2">
                  <c:v>Peer A ASA</c:v>
                </c:pt>
                <c:pt idx="3">
                  <c:v>Peer B AB</c:v>
                </c:pt>
                <c:pt idx="4">
                  <c:v>Peer G SE</c:v>
                </c:pt>
                <c:pt idx="5">
                  <c:v>Peer C A/S</c:v>
                </c:pt>
                <c:pt idx="6">
                  <c:v>Example Company</c:v>
                </c:pt>
                <c:pt idx="7">
                  <c:v>Peer H NV</c:v>
                </c:pt>
                <c:pt idx="8">
                  <c:v>Peer D Oyj</c:v>
                </c:pt>
              </c:strCache>
            </c:strRef>
          </c:cat>
          <c:val>
            <c:numRef>
              <c:f>Sheet1!$B$2:$B$10</c:f>
              <c:numCache>
                <c:formatCode>0.0"x"</c:formatCode>
                <c:ptCount val="9"/>
                <c:pt idx="0">
                  <c:v>15.6</c:v>
                </c:pt>
                <c:pt idx="1">
                  <c:v>14.5</c:v>
                </c:pt>
                <c:pt idx="2">
                  <c:v>13.6</c:v>
                </c:pt>
                <c:pt idx="3">
                  <c:v>12.9</c:v>
                </c:pt>
                <c:pt idx="4">
                  <c:v>12.4</c:v>
                </c:pt>
                <c:pt idx="5">
                  <c:v>11.6</c:v>
                </c:pt>
                <c:pt idx="6">
                  <c:v>11.319975277441578</c:v>
                </c:pt>
                <c:pt idx="7">
                  <c:v>11.3</c:v>
                </c:pt>
                <c:pt idx="8">
                  <c:v>10.6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9.032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max"/>
      </c:valAx>
    </c:plotArea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Company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YTD</c:v>
                </c:pt>
              </c:strCache>
            </c:strRef>
          </c:cat>
          <c:val>
            <c:numRef>
              <c:f>Sheet1!$B$2:$B$6</c:f>
              <c:numCache>
                <c:formatCode>0%;-0%</c:formatCode>
                <c:ptCount val="5"/>
                <c:pt idx="0">
                  <c:v>-0.031</c:v>
                </c:pt>
                <c:pt idx="1">
                  <c:v>0.064</c:v>
                </c:pt>
                <c:pt idx="2">
                  <c:v>0.118</c:v>
                </c:pt>
                <c:pt idx="3">
                  <c:v>0.196</c:v>
                </c:pt>
                <c:pt idx="4">
                  <c:v>0.142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OSEBX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1M</c:v>
                </c:pt>
                <c:pt idx="1">
                  <c:v>3M</c:v>
                </c:pt>
                <c:pt idx="2">
                  <c:v>6M</c:v>
                </c:pt>
                <c:pt idx="3">
                  <c:v>12M</c:v>
                </c:pt>
                <c:pt idx="4">
                  <c:v>YTD</c:v>
                </c:pt>
              </c:strCache>
            </c:strRef>
          </c:cat>
          <c:val>
            <c:numRef>
              <c:f>Sheet1!$C$2:$C$6</c:f>
              <c:numCache>
                <c:formatCode>0%;-0%</c:formatCode>
                <c:ptCount val="5"/>
                <c:pt idx="0">
                  <c:v>0.012</c:v>
                </c:pt>
                <c:pt idx="1">
                  <c:v>0.035</c:v>
                </c:pt>
                <c:pt idx="2">
                  <c:v>-0.024</c:v>
                </c:pt>
                <c:pt idx="3">
                  <c:v>0.087</c:v>
                </c:pt>
                <c:pt idx="4">
                  <c:v>0.061</c:v>
                </c:pt>
              </c:numCache>
            </c:numRef>
          </c:val>
        </c:ser>
        <c:dLbls>
          <c:numFmt formatCode="0%;-0%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5"/>
          <c:min val="-0.1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00"/>
          <c:y val="0.1700"/>
          <c:w val="0.9600"/>
          <c:h val="0.7000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2021A</c:v>
                </c:pt>
                <c:pt idx="1">
                  <c:v>2022A</c:v>
                </c:pt>
                <c:pt idx="2">
                  <c:v>2023A</c:v>
                </c:pt>
                <c:pt idx="3">
                  <c:v>2024A</c:v>
                </c:pt>
                <c:pt idx="4">
                  <c:v>2025A</c:v>
                </c:pt>
                <c:pt idx="5">
                  <c:v>2026E</c:v>
                </c:pt>
                <c:pt idx="6">
                  <c:v>2027E</c:v>
                </c:pt>
                <c:pt idx="7">
                  <c:v>2028E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3668</c:v>
                </c:pt>
                <c:pt idx="1">
                  <c:v>4262</c:v>
                </c:pt>
                <c:pt idx="2">
                  <c:v>4687</c:v>
                </c:pt>
                <c:pt idx="3">
                  <c:v>5045</c:v>
                </c:pt>
                <c:pt idx="4">
                  <c:v>5433</c:v>
                </c:pt>
                <c:pt idx="5">
                  <c:v>5726.447959148221</c:v>
                </c:pt>
                <c:pt idx="6">
                  <c:v>6083.842720592843</c:v>
                </c:pt>
                <c:pt idx="7">
                  <c:v>6479.028157707458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 adj.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2021A</c:v>
                </c:pt>
                <c:pt idx="1">
                  <c:v>2022A</c:v>
                </c:pt>
                <c:pt idx="2">
                  <c:v>2023A</c:v>
                </c:pt>
                <c:pt idx="3">
                  <c:v>2024A</c:v>
                </c:pt>
                <c:pt idx="4">
                  <c:v>2025A</c:v>
                </c:pt>
                <c:pt idx="5">
                  <c:v>2026E</c:v>
                </c:pt>
                <c:pt idx="6">
                  <c:v>2027E</c:v>
                </c:pt>
                <c:pt idx="7">
                  <c:v>2028E</c:v>
                </c:pt>
              </c:strCache>
            </c:strRef>
          </c:cat>
          <c:val>
            <c:numRef>
              <c:f>Sheet1!$C$2:$C$9</c:f>
              <c:numCache>
                <c:formatCode>0</c:formatCode>
                <c:ptCount val="8"/>
                <c:pt idx="0">
                  <c:v>443.8</c:v>
                </c:pt>
                <c:pt idx="1">
                  <c:v>579.5999999999998</c:v>
                </c:pt>
                <c:pt idx="2">
                  <c:v>712.3999999999997</c:v>
                </c:pt>
                <c:pt idx="3">
                  <c:v>827.4000000000001</c:v>
                </c:pt>
                <c:pt idx="4">
                  <c:v>950.6999999999999</c:v>
                </c:pt>
                <c:pt idx="5">
                  <c:v>999.5961047647056</c:v>
                </c:pt>
                <c:pt idx="6">
                  <c:v>1075.181160423324</c:v>
                </c:pt>
                <c:pt idx="7">
                  <c:v>1167.7030689374428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5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EBIT adj. margin</c:v>
                </c:pt>
              </c:strCache>
            </c:strRef>
          </c:tx>
          <c:spPr>
            <a:ln w="28575" cap="rnd">
              <a:solidFill>
                <a:srgbClr val="C9A227"/>
              </a:solidFill>
              <a:round/>
            </a:ln>
          </c:spPr>
          <c:marker>
            <c:symbol val="circle"/>
            <c:size val="5"/>
            <c:spPr>
              <a:solidFill>
                <a:srgbClr val="C9A227"/>
              </a:solidFill>
              <a:ln>
                <a:noFill/>
              </a:ln>
            </c:spPr>
          </c:marker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00" b="1">
                    <a:solidFill>
                      <a:srgbClr val="7A6A10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2021A</c:v>
                </c:pt>
                <c:pt idx="1">
                  <c:v>2022A</c:v>
                </c:pt>
                <c:pt idx="2">
                  <c:v>2023A</c:v>
                </c:pt>
                <c:pt idx="3">
                  <c:v>2024A</c:v>
                </c:pt>
                <c:pt idx="4">
                  <c:v>2025A</c:v>
                </c:pt>
                <c:pt idx="5">
                  <c:v>2026E</c:v>
                </c:pt>
                <c:pt idx="6">
                  <c:v>2027E</c:v>
                </c:pt>
                <c:pt idx="7">
                  <c:v>2028E</c:v>
                </c:pt>
              </c:strCache>
            </c:strRef>
          </c:cat>
          <c:val>
            <c:numRef>
              <c:f>Sheet1!$D$2:$D$9</c:f>
              <c:numCache>
                <c:formatCode>0</c:formatCode>
                <c:ptCount val="8"/>
                <c:pt idx="0">
                  <c:v>0.12099236641221374</c:v>
                </c:pt>
                <c:pt idx="1">
                  <c:v>0.13599249178789297</c:v>
                </c:pt>
                <c:pt idx="2">
                  <c:v>0.15199487945380835</c:v>
                </c:pt>
                <c:pt idx="3">
                  <c:v>0.16400396432111003</c:v>
                </c:pt>
                <c:pt idx="4">
                  <c:v>0.17498619547211483</c:v>
                </c:pt>
                <c:pt idx="5">
                  <c:v>0.17455779077985198</c:v>
                </c:pt>
                <c:pt idx="6">
                  <c:v>0.1767273103204996</c:v>
                </c:pt>
                <c:pt idx="7">
                  <c:v>0.1802281207172008</c:v>
                </c:pt>
              </c:numCache>
            </c:numRef>
          </c:val>
          <c:smooth val="0"/>
        </c:ser>
        <c:marker val="1"/>
        <c:axId val="900001"/>
        <c:axId val="900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42.49364444656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  <c:catAx>
        <c:axId val="900001"/>
        <c:scaling>
          <c:orientation val="minMax"/>
        </c:scaling>
        <c:delete val="1"/>
        <c:axPos val="b"/>
        <c:majorTickMark val="none"/>
        <c:minorTickMark val="none"/>
        <c:tickLblPos val="nextTo"/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0.2296"/>
          <c:min val="-0.264"/>
        </c:scaling>
        <c:delete val="0"/>
        <c:axPos val="r"/>
        <c:numFmt formatCode="0%" sourceLinked="0"/>
        <c:majorTickMark val="none"/>
        <c:minorTickMark val="none"/>
        <c:tickLblPos val="none"/>
        <c:spPr>
          <a:ln>
            <a:noFill/>
          </a:ln>
        </c:spPr>
        <c:crossAx val="9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00"/>
          <c:y val="0.1700"/>
          <c:w val="0.9600"/>
          <c:h val="0.7000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FCFF (NOKm)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Sheet1!$A$2:$A$9</c:f>
              <c:strCache>
                <c:ptCount val="8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  <c:pt idx="7">
                  <c:v>2029E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464.0879999999999</c:v>
                </c:pt>
                <c:pt idx="1">
                  <c:v>548.7719999999997</c:v>
                </c:pt>
                <c:pt idx="2">
                  <c:v>642.6720000000001</c:v>
                </c:pt>
                <c:pt idx="3">
                  <c:v>739.1459999999998</c:v>
                </c:pt>
                <c:pt idx="4">
                  <c:v>610.4453913062154</c:v>
                </c:pt>
                <c:pt idx="5">
                  <c:v>667.1689083005359</c:v>
                </c:pt>
                <c:pt idx="6">
                  <c:v>735.9212782374107</c:v>
                </c:pt>
                <c:pt idx="7">
                  <c:v>826.0159391502075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Cash conversion</c:v>
                </c:pt>
              </c:strCache>
            </c:strRef>
          </c:tx>
          <c:spPr>
            <a:ln w="28575" cap="rnd">
              <a:solidFill>
                <a:srgbClr val="003255"/>
              </a:solidFill>
              <a:round/>
            </a:ln>
          </c:spPr>
          <c:marker>
            <c:symbol val="circle"/>
            <c:size val="5"/>
            <c:spPr>
              <a:solidFill>
                <a:srgbClr val="003255"/>
              </a:solidFill>
              <a:ln>
                <a:noFill/>
              </a:ln>
            </c:spPr>
          </c:marker>
          <c:dLbls>
            <c:numFmt formatCode="0%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00" b="1">
                    <a:solidFill>
                      <a:srgbClr val="003255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  <c:pt idx="7">
                  <c:v>2029E</c:v>
                </c:pt>
              </c:strCache>
            </c:strRef>
          </c:cat>
          <c:val>
            <c:numRef>
              <c:f>Sheet1!$C$2:$C$9</c:f>
              <c:numCache>
                <c:formatCode>0</c:formatCode>
                <c:ptCount val="8"/>
                <c:pt idx="0">
                  <c:v>0.598282841304628</c:v>
                </c:pt>
                <c:pt idx="1">
                  <c:v>0.5943593631539044</c:v>
                </c:pt>
                <c:pt idx="2">
                  <c:v>0.6095144157814871</c:v>
                </c:pt>
                <c:pt idx="3">
                  <c:v>0.6212355017650024</c:v>
                </c:pt>
                <c:pt idx="4">
                  <c:v>0.48774767614458775</c:v>
                </c:pt>
                <c:pt idx="5">
                  <c:v>0.49682306477820415</c:v>
                </c:pt>
                <c:pt idx="6">
                  <c:v>0.506560609506785</c:v>
                </c:pt>
                <c:pt idx="7">
                  <c:v>0.5282575347070143</c:v>
                </c:pt>
              </c:numCache>
            </c:numRef>
          </c:val>
          <c:smooth val="0"/>
        </c:ser>
        <c:marker val="1"/>
        <c:axId val="900001"/>
        <c:axId val="900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21.6255026403321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  <c:catAx>
        <c:axId val="900001"/>
        <c:scaling>
          <c:orientation val="minMax"/>
        </c:scaling>
        <c:delete val="1"/>
        <c:axPos val="b"/>
        <c:majorTickMark val="none"/>
        <c:minorTickMark val="none"/>
        <c:tickLblPos val="nextTo"/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0.75"/>
          <c:min val="-0.6"/>
        </c:scaling>
        <c:delete val="0"/>
        <c:axPos val="r"/>
        <c:numFmt formatCode="0%" sourceLinked="0"/>
        <c:majorTickMark val="none"/>
        <c:minorTickMark val="none"/>
        <c:tickLblPos val="none"/>
        <c:spPr>
          <a:ln>
            <a:noFill/>
          </a:ln>
        </c:spPr>
        <c:crossAx val="9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</c:v>
                </c:pt>
              </c:strCache>
            </c:strRef>
          </c:tx>
          <c:spPr>
            <a:ln w="25400">
              <a:solidFill>
                <a:srgbClr val="C00000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  <c:pt idx="6">
                  <c:v>2031E</c:v>
                </c:pt>
                <c:pt idx="7">
                  <c:v>2032E</c:v>
                </c:pt>
                <c:pt idx="8">
                  <c:v>2033E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5433</c:v>
                </c:pt>
                <c:pt idx="1">
                  <c:v>5560.891777811328</c:v>
                </c:pt>
                <c:pt idx="2">
                  <c:v>5707.966356168339</c:v>
                </c:pt>
                <c:pt idx="3">
                  <c:v>5860.3254482267375</c:v>
                </c:pt>
                <c:pt idx="4">
                  <c:v>5994.7705419172635</c:v>
                </c:pt>
                <c:pt idx="5">
                  <c:v>6101.371924078791</c:v>
                </c:pt>
                <c:pt idx="6">
                  <c:v>6171.858884321899</c:v>
                </c:pt>
                <c:pt idx="7">
                  <c:v>6206.207673136613</c:v>
                </c:pt>
                <c:pt idx="8">
                  <c:v>6214.973852094804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ln w="25400">
              <a:solidFill>
                <a:srgbClr val="003255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  <c:pt idx="6">
                  <c:v>2031E</c:v>
                </c:pt>
                <c:pt idx="7">
                  <c:v>2032E</c:v>
                </c:pt>
                <c:pt idx="8">
                  <c:v>2033E</c:v>
                </c:pt>
              </c:strCache>
            </c:strRef>
          </c:cat>
          <c:val>
            <c:numRef>
              <c:f>Sheet1!$C$2:$C$10</c:f>
              <c:numCache>
                <c:formatCode>0</c:formatCode>
                <c:ptCount val="9"/>
                <c:pt idx="0">
                  <c:v>5433</c:v>
                </c:pt>
                <c:pt idx="1">
                  <c:v>5726.447959148221</c:v>
                </c:pt>
                <c:pt idx="2">
                  <c:v>6083.842720592843</c:v>
                </c:pt>
                <c:pt idx="3">
                  <c:v>6479.028157707458</c:v>
                </c:pt>
                <c:pt idx="4">
                  <c:v>6875.885074266413</c:v>
                </c:pt>
                <c:pt idx="5">
                  <c:v>7257.939122327278</c:v>
                </c:pt>
                <c:pt idx="6">
                  <c:v>7613.3094600679</c:v>
                </c:pt>
                <c:pt idx="7">
                  <c:v>7938.822604765159</c:v>
                </c:pt>
                <c:pt idx="8">
                  <c:v>8244.174514192426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</c:v>
                </c:pt>
              </c:strCache>
            </c:strRef>
          </c:tx>
          <c:spPr>
            <a:ln w="25400">
              <a:solidFill>
                <a:srgbClr val="2E7D32"/>
              </a:solidFill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2025A</c:v>
                </c:pt>
                <c:pt idx="1">
                  <c:v>2026E</c:v>
                </c:pt>
                <c:pt idx="2">
                  <c:v>2027E</c:v>
                </c:pt>
                <c:pt idx="3">
                  <c:v>2028E</c:v>
                </c:pt>
                <c:pt idx="4">
                  <c:v>2029E</c:v>
                </c:pt>
                <c:pt idx="5">
                  <c:v>2030E</c:v>
                </c:pt>
                <c:pt idx="6">
                  <c:v>2031E</c:v>
                </c:pt>
                <c:pt idx="7">
                  <c:v>2032E</c:v>
                </c:pt>
                <c:pt idx="8">
                  <c:v>2033E</c:v>
                </c:pt>
              </c:strCache>
            </c:strRef>
          </c:cat>
          <c:val>
            <c:numRef>
              <c:f>Sheet1!$D$2:$D$10</c:f>
              <c:numCache>
                <c:formatCode>0</c:formatCode>
                <c:ptCount val="9"/>
                <c:pt idx="0">
                  <c:v>5433</c:v>
                </c:pt>
                <c:pt idx="1">
                  <c:v>5838.062002852031</c:v>
                </c:pt>
                <c:pt idx="2">
                  <c:v>6354.503402660296</c:v>
                </c:pt>
                <c:pt idx="3">
                  <c:v>6946.087876302471</c:v>
                </c:pt>
                <c:pt idx="4">
                  <c:v>7565.521220590915</c:v>
                </c:pt>
                <c:pt idx="5">
                  <c:v>8191.50102555118</c:v>
                </c:pt>
                <c:pt idx="6">
                  <c:v>8810.636633769045</c:v>
                </c:pt>
                <c:pt idx="7">
                  <c:v>9418.373475172555</c:v>
                </c:pt>
                <c:pt idx="8">
                  <c:v>10024.515035978922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5000.0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Company EBIT margin</c:v>
                </c:pt>
              </c:strCache>
            </c:strRef>
          </c:tx>
          <c:spPr>
            <a:ln w="25400">
              <a:solidFill>
                <a:srgbClr val="003255"/>
              </a:solidFill>
            </a:ln>
          </c:spPr>
          <c:marker>
            <c:symbol val="circle"/>
            <c:size val="6"/>
            <c:spPr>
              <a:solidFill>
                <a:srgbClr val="003255"/>
              </a:solidFill>
              <a:ln>
                <a:noFill/>
              </a:ln>
            </c:spPr>
          </c:marker>
          <c:cat>
            <c:strRef>
              <c:f>Sheet1!$A$2:$A$10</c:f>
              <c:strCache>
                <c:ptCount val="9"/>
                <c:pt idx="0">
                  <c:v>2020A</c:v>
                </c:pt>
                <c:pt idx="1">
                  <c:v>2021A</c:v>
                </c:pt>
                <c:pt idx="2">
                  <c:v>2022A</c:v>
                </c:pt>
                <c:pt idx="3">
                  <c:v>2023A</c:v>
                </c:pt>
                <c:pt idx="4">
                  <c:v>2024A</c:v>
                </c:pt>
                <c:pt idx="5">
                  <c:v>2025A</c:v>
                </c:pt>
                <c:pt idx="6">
                  <c:v>2026E</c:v>
                </c:pt>
                <c:pt idx="7">
                  <c:v>2027E</c:v>
                </c:pt>
                <c:pt idx="8">
                  <c:v>2028E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0.09700115340253748</c:v>
                </c:pt>
                <c:pt idx="1">
                  <c:v>0.12099236641221374</c:v>
                </c:pt>
                <c:pt idx="2">
                  <c:v>0.13599249178789297</c:v>
                </c:pt>
                <c:pt idx="3">
                  <c:v>0.15199487945380835</c:v>
                </c:pt>
                <c:pt idx="4">
                  <c:v>0.16400396432111003</c:v>
                </c:pt>
                <c:pt idx="5">
                  <c:v>0.17498619547211483</c:v>
                </c:pt>
                <c:pt idx="6">
                  <c:v>0.17455779077985198</c:v>
                </c:pt>
                <c:pt idx="7">
                  <c:v>0.1767273103204996</c:v>
                </c:pt>
                <c:pt idx="8">
                  <c:v>0.1802281207172008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average</c:v>
                </c:pt>
              </c:strCache>
            </c:strRef>
          </c:tx>
          <c:spPr>
            <a:ln w="25400">
              <a:solidFill>
                <a:srgbClr val="81B0C0"/>
              </a:solidFill>
            </a:ln>
          </c:spPr>
          <c:marker>
            <c:symbol val="circle"/>
            <c:size val="6"/>
            <c:spPr>
              <a:solidFill>
                <a:srgbClr val="81B0C0"/>
              </a:solidFill>
              <a:ln>
                <a:noFill/>
              </a:ln>
            </c:spPr>
          </c:marker>
          <c:cat>
            <c:strRef>
              <c:f>Sheet1!$A$2:$A$10</c:f>
              <c:strCache>
                <c:ptCount val="9"/>
                <c:pt idx="0">
                  <c:v>2020A</c:v>
                </c:pt>
                <c:pt idx="1">
                  <c:v>2021A</c:v>
                </c:pt>
                <c:pt idx="2">
                  <c:v>2022A</c:v>
                </c:pt>
                <c:pt idx="3">
                  <c:v>2023A</c:v>
                </c:pt>
                <c:pt idx="4">
                  <c:v>2024A</c:v>
                </c:pt>
                <c:pt idx="5">
                  <c:v>2025A</c:v>
                </c:pt>
                <c:pt idx="6">
                  <c:v>2026E</c:v>
                </c:pt>
                <c:pt idx="7">
                  <c:v>2027E</c:v>
                </c:pt>
                <c:pt idx="8">
                  <c:v>2028E</c:v>
                </c:pt>
              </c:strCache>
            </c:strRef>
          </c:cat>
          <c:val>
            <c:numRef>
              <c:f>Sheet1!$C$2:$C$10</c:f>
              <c:numCache>
                <c:formatCode>0%</c:formatCode>
                <c:ptCount val="9"/>
                <c:pt idx="0">
                  <c:v>0.118</c:v>
                </c:pt>
                <c:pt idx="1">
                  <c:v>0.121</c:v>
                </c:pt>
                <c:pt idx="2">
                  <c:v>0.127</c:v>
                </c:pt>
                <c:pt idx="3">
                  <c:v>0.131</c:v>
                </c:pt>
                <c:pt idx="4">
                  <c:v>0.136</c:v>
                </c:pt>
                <c:pt idx="5">
                  <c:v>0.139</c:v>
                </c:pt>
                <c:pt idx="6">
                  <c:v>0.141</c:v>
                </c:pt>
                <c:pt idx="7">
                  <c:v>0.142</c:v>
                </c:pt>
                <c:pt idx="8">
                  <c:v>0.143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2"/>
          <c:min val="0.06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Premium</c:v>
                </c:pt>
              </c:strCache>
            </c:strRef>
          </c:tx>
          <c:spPr>
            <a:solidFill>
              <a:srgbClr val="003255"/>
            </a:solidFill>
          </c:spPr>
          <c:cat>
            <c:strRef>
              <c:f>Sheet1!$A$2:$A$13</c:f>
              <c:strCache>
                <c:ptCount val="12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2026E</c:v>
                </c:pt>
                <c:pt idx="8">
                  <c:v>2027E</c:v>
                </c:pt>
                <c:pt idx="9">
                  <c:v>2028E</c:v>
                </c:pt>
                <c:pt idx="10">
                  <c:v>2029E</c:v>
                </c:pt>
                <c:pt idx="11">
                  <c:v>2030E</c:v>
                </c:pt>
              </c:strCache>
            </c:strRef>
          </c:cat>
          <c:val>
            <c:numRef>
              <c:f>Sheet1!$B$2:$B$13</c:f>
              <c:numCache>
                <c:formatCode>0</c:formatCode>
                <c:ptCount val="12"/>
                <c:pt idx="0">
                  <c:v>18.0</c:v>
                </c:pt>
                <c:pt idx="1">
                  <c:v>15.9</c:v>
                </c:pt>
                <c:pt idx="2">
                  <c:v>16.2</c:v>
                </c:pt>
                <c:pt idx="3">
                  <c:v>17.9</c:v>
                </c:pt>
                <c:pt idx="4">
                  <c:v>18.5</c:v>
                </c:pt>
                <c:pt idx="5">
                  <c:v>19.0</c:v>
                </c:pt>
                <c:pt idx="6">
                  <c:v>19.5</c:v>
                </c:pt>
                <c:pt idx="7">
                  <c:v>19.9</c:v>
                </c:pt>
                <c:pt idx="8">
                  <c:v>20.3</c:v>
                </c:pt>
                <c:pt idx="9">
                  <c:v>20.7</c:v>
                </c:pt>
                <c:pt idx="10">
                  <c:v>21.0</c:v>
                </c:pt>
                <c:pt idx="11">
                  <c:v>21.4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Mid-market</c:v>
                </c:pt>
              </c:strCache>
            </c:strRef>
          </c:tx>
          <c:spPr>
            <a:solidFill>
              <a:srgbClr val="4F7FA0"/>
            </a:solidFill>
          </c:spPr>
          <c:cat>
            <c:strRef>
              <c:f>Sheet1!$A$2:$A$13</c:f>
              <c:strCache>
                <c:ptCount val="12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2026E</c:v>
                </c:pt>
                <c:pt idx="8">
                  <c:v>2027E</c:v>
                </c:pt>
                <c:pt idx="9">
                  <c:v>2028E</c:v>
                </c:pt>
                <c:pt idx="10">
                  <c:v>2029E</c:v>
                </c:pt>
                <c:pt idx="11">
                  <c:v>2030E</c:v>
                </c:pt>
              </c:strCache>
            </c:strRef>
          </c:cat>
          <c:val>
            <c:numRef>
              <c:f>Sheet1!$C$2:$C$13</c:f>
              <c:numCache>
                <c:formatCode>0</c:formatCode>
                <c:ptCount val="12"/>
                <c:pt idx="0">
                  <c:v>8.7</c:v>
                </c:pt>
                <c:pt idx="1">
                  <c:v>7.9</c:v>
                </c:pt>
                <c:pt idx="2">
                  <c:v>8.7</c:v>
                </c:pt>
                <c:pt idx="3">
                  <c:v>9.7</c:v>
                </c:pt>
                <c:pt idx="4">
                  <c:v>10.8</c:v>
                </c:pt>
                <c:pt idx="5">
                  <c:v>11.3</c:v>
                </c:pt>
                <c:pt idx="6">
                  <c:v>11.8</c:v>
                </c:pt>
                <c:pt idx="7">
                  <c:v>12.3</c:v>
                </c:pt>
                <c:pt idx="8">
                  <c:v>12.7</c:v>
                </c:pt>
                <c:pt idx="9">
                  <c:v>13.2</c:v>
                </c:pt>
                <c:pt idx="10">
                  <c:v>13.7</c:v>
                </c:pt>
                <c:pt idx="11">
                  <c:v>14.2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Low-cost</c:v>
                </c:pt>
              </c:strCache>
            </c:strRef>
          </c:tx>
          <c:spPr>
            <a:solidFill>
              <a:srgbClr val="81B0C0"/>
            </a:solidFill>
          </c:spPr>
          <c:cat>
            <c:strRef>
              <c:f>Sheet1!$A$2:$A$13</c:f>
              <c:strCache>
                <c:ptCount val="12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2026E</c:v>
                </c:pt>
                <c:pt idx="8">
                  <c:v>2027E</c:v>
                </c:pt>
                <c:pt idx="9">
                  <c:v>2028E</c:v>
                </c:pt>
                <c:pt idx="10">
                  <c:v>2029E</c:v>
                </c:pt>
                <c:pt idx="11">
                  <c:v>2030E</c:v>
                </c:pt>
              </c:strCache>
            </c:strRef>
          </c:cat>
          <c:val>
            <c:numRef>
              <c:f>Sheet1!$D$2:$D$13</c:f>
              <c:numCache>
                <c:formatCode>0</c:formatCode>
                <c:ptCount val="12"/>
                <c:pt idx="0">
                  <c:v>2.3</c:v>
                </c:pt>
                <c:pt idx="1">
                  <c:v>2.7</c:v>
                </c:pt>
                <c:pt idx="2">
                  <c:v>3.1</c:v>
                </c:pt>
                <c:pt idx="3">
                  <c:v>3.8</c:v>
                </c:pt>
                <c:pt idx="4">
                  <c:v>4.4</c:v>
                </c:pt>
                <c:pt idx="5">
                  <c:v>4.9</c:v>
                </c:pt>
                <c:pt idx="6">
                  <c:v>5.5</c:v>
                </c:pt>
                <c:pt idx="7">
                  <c:v>6.1</c:v>
                </c:pt>
                <c:pt idx="8">
                  <c:v>6.8</c:v>
                </c:pt>
                <c:pt idx="9">
                  <c:v>7.5</c:v>
                </c:pt>
                <c:pt idx="10">
                  <c:v>8.2</c:v>
                </c:pt>
                <c:pt idx="11">
                  <c:v>8.9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101159928"/>
        <c:crosses val="autoZero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zero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12m fwd P/E</c:v>
                </c:pt>
              </c:strCache>
            </c:strRef>
          </c:tx>
          <c:spPr>
            <a:ln w="25400">
              <a:solidFill>
                <a:srgbClr val="003255"/>
              </a:solidFill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Oct-21</c:v>
                </c:pt>
                <c:pt idx="1">
                  <c:v>Nov-21</c:v>
                </c:pt>
                <c:pt idx="2">
                  <c:v>Dec-21</c:v>
                </c:pt>
                <c:pt idx="3">
                  <c:v>Jan-22</c:v>
                </c:pt>
                <c:pt idx="4">
                  <c:v>Feb-22</c:v>
                </c:pt>
                <c:pt idx="5">
                  <c:v>Mar-22</c:v>
                </c:pt>
                <c:pt idx="6">
                  <c:v>Apr-22</c:v>
                </c:pt>
                <c:pt idx="7">
                  <c:v>May-22</c:v>
                </c:pt>
                <c:pt idx="8">
                  <c:v>Jun-22</c:v>
                </c:pt>
                <c:pt idx="9">
                  <c:v>Jul-22</c:v>
                </c:pt>
                <c:pt idx="10">
                  <c:v>Aug-22</c:v>
                </c:pt>
                <c:pt idx="11">
                  <c:v>Sep-22</c:v>
                </c:pt>
                <c:pt idx="12">
                  <c:v>Oct-22</c:v>
                </c:pt>
                <c:pt idx="13">
                  <c:v>Nov-22</c:v>
                </c:pt>
                <c:pt idx="14">
                  <c:v>Dec-22</c:v>
                </c:pt>
                <c:pt idx="15">
                  <c:v>Jan-23</c:v>
                </c:pt>
                <c:pt idx="16">
                  <c:v>Feb-23</c:v>
                </c:pt>
                <c:pt idx="17">
                  <c:v>Mar-23</c:v>
                </c:pt>
                <c:pt idx="18">
                  <c:v>Apr-23</c:v>
                </c:pt>
                <c:pt idx="19">
                  <c:v>May-23</c:v>
                </c:pt>
                <c:pt idx="20">
                  <c:v>Jun-23</c:v>
                </c:pt>
                <c:pt idx="21">
                  <c:v>Jul-23</c:v>
                </c:pt>
                <c:pt idx="22">
                  <c:v>Aug-23</c:v>
                </c:pt>
                <c:pt idx="23">
                  <c:v>Sep-23</c:v>
                </c:pt>
                <c:pt idx="24">
                  <c:v>Oct-23</c:v>
                </c:pt>
                <c:pt idx="25">
                  <c:v>Nov-23</c:v>
                </c:pt>
                <c:pt idx="26">
                  <c:v>Dec-23</c:v>
                </c:pt>
                <c:pt idx="27">
                  <c:v>Jan-24</c:v>
                </c:pt>
                <c:pt idx="28">
                  <c:v>Feb-24</c:v>
                </c:pt>
                <c:pt idx="29">
                  <c:v>Mar-24</c:v>
                </c:pt>
                <c:pt idx="30">
                  <c:v>Apr-24</c:v>
                </c:pt>
                <c:pt idx="31">
                  <c:v>May-24</c:v>
                </c:pt>
                <c:pt idx="32">
                  <c:v>Jun-24</c:v>
                </c:pt>
                <c:pt idx="33">
                  <c:v>Jul-24</c:v>
                </c:pt>
                <c:pt idx="34">
                  <c:v>Aug-24</c:v>
                </c:pt>
                <c:pt idx="35">
                  <c:v>Sep-24</c:v>
                </c:pt>
                <c:pt idx="36">
                  <c:v>Oct-24</c:v>
                </c:pt>
                <c:pt idx="37">
                  <c:v>Nov-24</c:v>
                </c:pt>
                <c:pt idx="38">
                  <c:v>Dec-24</c:v>
                </c:pt>
                <c:pt idx="39">
                  <c:v>Jan-25</c:v>
                </c:pt>
                <c:pt idx="40">
                  <c:v>Feb-25</c:v>
                </c:pt>
                <c:pt idx="41">
                  <c:v>Mar-25</c:v>
                </c:pt>
                <c:pt idx="42">
                  <c:v>Apr-25</c:v>
                </c:pt>
                <c:pt idx="43">
                  <c:v>May-25</c:v>
                </c:pt>
                <c:pt idx="44">
                  <c:v>Jun-25</c:v>
                </c:pt>
                <c:pt idx="45">
                  <c:v>Jul-25</c:v>
                </c:pt>
                <c:pt idx="46">
                  <c:v>Aug-25</c:v>
                </c:pt>
                <c:pt idx="47">
                  <c:v>Sep-25</c:v>
                </c:pt>
                <c:pt idx="48">
                  <c:v>Oct-25</c:v>
                </c:pt>
                <c:pt idx="49">
                  <c:v>Nov-25</c:v>
                </c:pt>
                <c:pt idx="50">
                  <c:v>Dec-25</c:v>
                </c:pt>
                <c:pt idx="51">
                  <c:v>Jan-26</c:v>
                </c:pt>
                <c:pt idx="52">
                  <c:v>Feb-26</c:v>
                </c:pt>
                <c:pt idx="53">
                  <c:v>Mar-26</c:v>
                </c:pt>
                <c:pt idx="54">
                  <c:v>Apr-26</c:v>
                </c:pt>
                <c:pt idx="55">
                  <c:v>May-26</c:v>
                </c:pt>
                <c:pt idx="56">
                  <c:v>Jun-26</c:v>
                </c:pt>
                <c:pt idx="57">
                  <c:v>Jul-26</c:v>
                </c:pt>
                <c:pt idx="58">
                  <c:v>Aug-26</c:v>
                </c:pt>
                <c:pt idx="59">
                  <c:v>Sep-26</c:v>
                </c:pt>
              </c:strCache>
            </c:strRef>
          </c:cat>
          <c:val>
            <c:numRef>
              <c:f>Sheet1!$B$2:$B$61</c:f>
              <c:numCache>
                <c:formatCode>0"x"</c:formatCode>
                <c:ptCount val="60"/>
                <c:pt idx="0">
                  <c:v>15.4</c:v>
                </c:pt>
                <c:pt idx="1">
                  <c:v>15.4</c:v>
                </c:pt>
                <c:pt idx="2">
                  <c:v>16.0</c:v>
                </c:pt>
                <c:pt idx="3">
                  <c:v>15.8</c:v>
                </c:pt>
                <c:pt idx="4">
                  <c:v>15.8</c:v>
                </c:pt>
                <c:pt idx="5">
                  <c:v>15.8</c:v>
                </c:pt>
                <c:pt idx="6">
                  <c:v>15.3</c:v>
                </c:pt>
                <c:pt idx="7">
                  <c:v>15.3</c:v>
                </c:pt>
                <c:pt idx="8">
                  <c:v>15.5</c:v>
                </c:pt>
                <c:pt idx="9">
                  <c:v>15.8</c:v>
                </c:pt>
                <c:pt idx="10">
                  <c:v>15.2</c:v>
                </c:pt>
                <c:pt idx="11">
                  <c:v>14.9</c:v>
                </c:pt>
                <c:pt idx="12">
                  <c:v>14.3</c:v>
                </c:pt>
                <c:pt idx="13">
                  <c:v>14.8</c:v>
                </c:pt>
                <c:pt idx="14">
                  <c:v>15.0</c:v>
                </c:pt>
                <c:pt idx="15">
                  <c:v>14.4</c:v>
                </c:pt>
                <c:pt idx="16">
                  <c:v>15.1</c:v>
                </c:pt>
                <c:pt idx="17">
                  <c:v>15.7</c:v>
                </c:pt>
                <c:pt idx="18">
                  <c:v>15.9</c:v>
                </c:pt>
                <c:pt idx="19">
                  <c:v>16.0</c:v>
                </c:pt>
                <c:pt idx="20">
                  <c:v>15.4</c:v>
                </c:pt>
                <c:pt idx="21">
                  <c:v>14.7</c:v>
                </c:pt>
                <c:pt idx="22">
                  <c:v>14.7</c:v>
                </c:pt>
                <c:pt idx="23">
                  <c:v>14.1</c:v>
                </c:pt>
                <c:pt idx="24">
                  <c:v>13.7</c:v>
                </c:pt>
                <c:pt idx="25">
                  <c:v>13.4</c:v>
                </c:pt>
                <c:pt idx="26">
                  <c:v>12.9</c:v>
                </c:pt>
                <c:pt idx="27">
                  <c:v>13.0</c:v>
                </c:pt>
                <c:pt idx="28">
                  <c:v>13.0</c:v>
                </c:pt>
                <c:pt idx="29">
                  <c:v>13.6</c:v>
                </c:pt>
                <c:pt idx="30">
                  <c:v>13.7</c:v>
                </c:pt>
                <c:pt idx="31">
                  <c:v>14.0</c:v>
                </c:pt>
                <c:pt idx="32">
                  <c:v>14.0</c:v>
                </c:pt>
                <c:pt idx="33">
                  <c:v>14.3</c:v>
                </c:pt>
                <c:pt idx="34">
                  <c:v>14.3</c:v>
                </c:pt>
                <c:pt idx="35">
                  <c:v>14.0</c:v>
                </c:pt>
                <c:pt idx="36">
                  <c:v>14.8</c:v>
                </c:pt>
                <c:pt idx="37">
                  <c:v>15.5</c:v>
                </c:pt>
                <c:pt idx="38">
                  <c:v>15.9</c:v>
                </c:pt>
                <c:pt idx="39">
                  <c:v>16.1</c:v>
                </c:pt>
                <c:pt idx="40">
                  <c:v>15.8</c:v>
                </c:pt>
                <c:pt idx="41">
                  <c:v>15.3</c:v>
                </c:pt>
                <c:pt idx="42">
                  <c:v>15.0</c:v>
                </c:pt>
                <c:pt idx="43">
                  <c:v>14.4</c:v>
                </c:pt>
                <c:pt idx="44">
                  <c:v>14.8</c:v>
                </c:pt>
                <c:pt idx="45">
                  <c:v>14.6</c:v>
                </c:pt>
                <c:pt idx="46">
                  <c:v>15.1</c:v>
                </c:pt>
                <c:pt idx="47">
                  <c:v>15.0</c:v>
                </c:pt>
                <c:pt idx="48">
                  <c:v>15.6</c:v>
                </c:pt>
                <c:pt idx="49">
                  <c:v>16.0</c:v>
                </c:pt>
                <c:pt idx="50">
                  <c:v>15.2</c:v>
                </c:pt>
                <c:pt idx="51">
                  <c:v>14.8</c:v>
                </c:pt>
                <c:pt idx="52">
                  <c:v>15.4</c:v>
                </c:pt>
                <c:pt idx="53">
                  <c:v>15.3</c:v>
                </c:pt>
                <c:pt idx="54">
                  <c:v>15.9</c:v>
                </c:pt>
                <c:pt idx="55">
                  <c:v>15.7</c:v>
                </c:pt>
                <c:pt idx="56">
                  <c:v>15.0</c:v>
                </c:pt>
                <c:pt idx="57">
                  <c:v>15.2</c:v>
                </c:pt>
                <c:pt idx="58">
                  <c:v>15.6</c:v>
                </c:pt>
                <c:pt idx="59">
                  <c:v>15.2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Average</c:v>
                </c:pt>
              </c:strCache>
            </c:strRef>
          </c:tx>
          <c:spPr>
            <a:ln w="12700">
              <a:solidFill>
                <a:srgbClr val="1F1F1F"/>
              </a:solidFill>
              <a:prstDash val="dash"/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Oct-21</c:v>
                </c:pt>
                <c:pt idx="1">
                  <c:v>Nov-21</c:v>
                </c:pt>
                <c:pt idx="2">
                  <c:v>Dec-21</c:v>
                </c:pt>
                <c:pt idx="3">
                  <c:v>Jan-22</c:v>
                </c:pt>
                <c:pt idx="4">
                  <c:v>Feb-22</c:v>
                </c:pt>
                <c:pt idx="5">
                  <c:v>Mar-22</c:v>
                </c:pt>
                <c:pt idx="6">
                  <c:v>Apr-22</c:v>
                </c:pt>
                <c:pt idx="7">
                  <c:v>May-22</c:v>
                </c:pt>
                <c:pt idx="8">
                  <c:v>Jun-22</c:v>
                </c:pt>
                <c:pt idx="9">
                  <c:v>Jul-22</c:v>
                </c:pt>
                <c:pt idx="10">
                  <c:v>Aug-22</c:v>
                </c:pt>
                <c:pt idx="11">
                  <c:v>Sep-22</c:v>
                </c:pt>
                <c:pt idx="12">
                  <c:v>Oct-22</c:v>
                </c:pt>
                <c:pt idx="13">
                  <c:v>Nov-22</c:v>
                </c:pt>
                <c:pt idx="14">
                  <c:v>Dec-22</c:v>
                </c:pt>
                <c:pt idx="15">
                  <c:v>Jan-23</c:v>
                </c:pt>
                <c:pt idx="16">
                  <c:v>Feb-23</c:v>
                </c:pt>
                <c:pt idx="17">
                  <c:v>Mar-23</c:v>
                </c:pt>
                <c:pt idx="18">
                  <c:v>Apr-23</c:v>
                </c:pt>
                <c:pt idx="19">
                  <c:v>May-23</c:v>
                </c:pt>
                <c:pt idx="20">
                  <c:v>Jun-23</c:v>
                </c:pt>
                <c:pt idx="21">
                  <c:v>Jul-23</c:v>
                </c:pt>
                <c:pt idx="22">
                  <c:v>Aug-23</c:v>
                </c:pt>
                <c:pt idx="23">
                  <c:v>Sep-23</c:v>
                </c:pt>
                <c:pt idx="24">
                  <c:v>Oct-23</c:v>
                </c:pt>
                <c:pt idx="25">
                  <c:v>Nov-23</c:v>
                </c:pt>
                <c:pt idx="26">
                  <c:v>Dec-23</c:v>
                </c:pt>
                <c:pt idx="27">
                  <c:v>Jan-24</c:v>
                </c:pt>
                <c:pt idx="28">
                  <c:v>Feb-24</c:v>
                </c:pt>
                <c:pt idx="29">
                  <c:v>Mar-24</c:v>
                </c:pt>
                <c:pt idx="30">
                  <c:v>Apr-24</c:v>
                </c:pt>
                <c:pt idx="31">
                  <c:v>May-24</c:v>
                </c:pt>
                <c:pt idx="32">
                  <c:v>Jun-24</c:v>
                </c:pt>
                <c:pt idx="33">
                  <c:v>Jul-24</c:v>
                </c:pt>
                <c:pt idx="34">
                  <c:v>Aug-24</c:v>
                </c:pt>
                <c:pt idx="35">
                  <c:v>Sep-24</c:v>
                </c:pt>
                <c:pt idx="36">
                  <c:v>Oct-24</c:v>
                </c:pt>
                <c:pt idx="37">
                  <c:v>Nov-24</c:v>
                </c:pt>
                <c:pt idx="38">
                  <c:v>Dec-24</c:v>
                </c:pt>
                <c:pt idx="39">
                  <c:v>Jan-25</c:v>
                </c:pt>
                <c:pt idx="40">
                  <c:v>Feb-25</c:v>
                </c:pt>
                <c:pt idx="41">
                  <c:v>Mar-25</c:v>
                </c:pt>
                <c:pt idx="42">
                  <c:v>Apr-25</c:v>
                </c:pt>
                <c:pt idx="43">
                  <c:v>May-25</c:v>
                </c:pt>
                <c:pt idx="44">
                  <c:v>Jun-25</c:v>
                </c:pt>
                <c:pt idx="45">
                  <c:v>Jul-25</c:v>
                </c:pt>
                <c:pt idx="46">
                  <c:v>Aug-25</c:v>
                </c:pt>
                <c:pt idx="47">
                  <c:v>Sep-25</c:v>
                </c:pt>
                <c:pt idx="48">
                  <c:v>Oct-25</c:v>
                </c:pt>
                <c:pt idx="49">
                  <c:v>Nov-25</c:v>
                </c:pt>
                <c:pt idx="50">
                  <c:v>Dec-25</c:v>
                </c:pt>
                <c:pt idx="51">
                  <c:v>Jan-26</c:v>
                </c:pt>
                <c:pt idx="52">
                  <c:v>Feb-26</c:v>
                </c:pt>
                <c:pt idx="53">
                  <c:v>Mar-26</c:v>
                </c:pt>
                <c:pt idx="54">
                  <c:v>Apr-26</c:v>
                </c:pt>
                <c:pt idx="55">
                  <c:v>May-26</c:v>
                </c:pt>
                <c:pt idx="56">
                  <c:v>Jun-26</c:v>
                </c:pt>
                <c:pt idx="57">
                  <c:v>Jul-26</c:v>
                </c:pt>
                <c:pt idx="58">
                  <c:v>Aug-26</c:v>
                </c:pt>
                <c:pt idx="59">
                  <c:v>Sep-26</c:v>
                </c:pt>
              </c:strCache>
            </c:strRef>
          </c:cat>
          <c:val>
            <c:numRef>
              <c:f>Sheet1!$C$2:$C$61</c:f>
              <c:numCache>
                <c:formatCode>0"x"</c:formatCode>
                <c:ptCount val="60"/>
                <c:pt idx="0">
                  <c:v>15.0</c:v>
                </c:pt>
                <c:pt idx="1">
                  <c:v>15.0</c:v>
                </c:pt>
                <c:pt idx="2">
                  <c:v>15.0</c:v>
                </c:pt>
                <c:pt idx="3">
                  <c:v>15.0</c:v>
                </c:pt>
                <c:pt idx="4">
                  <c:v>15.0</c:v>
                </c:pt>
                <c:pt idx="5">
                  <c:v>15.0</c:v>
                </c:pt>
                <c:pt idx="6">
                  <c:v>15.0</c:v>
                </c:pt>
                <c:pt idx="7">
                  <c:v>15.0</c:v>
                </c:pt>
                <c:pt idx="8">
                  <c:v>15.0</c:v>
                </c:pt>
                <c:pt idx="9">
                  <c:v>15.0</c:v>
                </c:pt>
                <c:pt idx="10">
                  <c:v>15.0</c:v>
                </c:pt>
                <c:pt idx="11">
                  <c:v>15.0</c:v>
                </c:pt>
                <c:pt idx="12">
                  <c:v>15.0</c:v>
                </c:pt>
                <c:pt idx="13">
                  <c:v>15.0</c:v>
                </c:pt>
                <c:pt idx="14">
                  <c:v>15.0</c:v>
                </c:pt>
                <c:pt idx="15">
                  <c:v>15.0</c:v>
                </c:pt>
                <c:pt idx="16">
                  <c:v>15.0</c:v>
                </c:pt>
                <c:pt idx="17">
                  <c:v>15.0</c:v>
                </c:pt>
                <c:pt idx="18">
                  <c:v>15.0</c:v>
                </c:pt>
                <c:pt idx="19">
                  <c:v>15.0</c:v>
                </c:pt>
                <c:pt idx="20">
                  <c:v>15.0</c:v>
                </c:pt>
                <c:pt idx="21">
                  <c:v>15.0</c:v>
                </c:pt>
                <c:pt idx="22">
                  <c:v>15.0</c:v>
                </c:pt>
                <c:pt idx="23">
                  <c:v>15.0</c:v>
                </c:pt>
                <c:pt idx="24">
                  <c:v>15.0</c:v>
                </c:pt>
                <c:pt idx="25">
                  <c:v>15.0</c:v>
                </c:pt>
                <c:pt idx="26">
                  <c:v>15.0</c:v>
                </c:pt>
                <c:pt idx="27">
                  <c:v>15.0</c:v>
                </c:pt>
                <c:pt idx="28">
                  <c:v>15.0</c:v>
                </c:pt>
                <c:pt idx="29">
                  <c:v>15.0</c:v>
                </c:pt>
                <c:pt idx="30">
                  <c:v>15.0</c:v>
                </c:pt>
                <c:pt idx="31">
                  <c:v>15.0</c:v>
                </c:pt>
                <c:pt idx="32">
                  <c:v>15.0</c:v>
                </c:pt>
                <c:pt idx="33">
                  <c:v>15.0</c:v>
                </c:pt>
                <c:pt idx="34">
                  <c:v>15.0</c:v>
                </c:pt>
                <c:pt idx="35">
                  <c:v>15.0</c:v>
                </c:pt>
                <c:pt idx="36">
                  <c:v>15.0</c:v>
                </c:pt>
                <c:pt idx="37">
                  <c:v>15.0</c:v>
                </c:pt>
                <c:pt idx="38">
                  <c:v>15.0</c:v>
                </c:pt>
                <c:pt idx="39">
                  <c:v>15.0</c:v>
                </c:pt>
                <c:pt idx="40">
                  <c:v>15.0</c:v>
                </c:pt>
                <c:pt idx="41">
                  <c:v>15.0</c:v>
                </c:pt>
                <c:pt idx="42">
                  <c:v>15.0</c:v>
                </c:pt>
                <c:pt idx="43">
                  <c:v>15.0</c:v>
                </c:pt>
                <c:pt idx="44">
                  <c:v>15.0</c:v>
                </c:pt>
                <c:pt idx="45">
                  <c:v>15.0</c:v>
                </c:pt>
                <c:pt idx="46">
                  <c:v>15.0</c:v>
                </c:pt>
                <c:pt idx="47">
                  <c:v>15.0</c:v>
                </c:pt>
                <c:pt idx="48">
                  <c:v>15.0</c:v>
                </c:pt>
                <c:pt idx="49">
                  <c:v>15.0</c:v>
                </c:pt>
                <c:pt idx="50">
                  <c:v>15.0</c:v>
                </c:pt>
                <c:pt idx="51">
                  <c:v>15.0</c:v>
                </c:pt>
                <c:pt idx="52">
                  <c:v>15.0</c:v>
                </c:pt>
                <c:pt idx="53">
                  <c:v>15.0</c:v>
                </c:pt>
                <c:pt idx="54">
                  <c:v>15.0</c:v>
                </c:pt>
                <c:pt idx="55">
                  <c:v>15.0</c:v>
                </c:pt>
                <c:pt idx="56">
                  <c:v>15.0</c:v>
                </c:pt>
                <c:pt idx="57">
                  <c:v>15.0</c:v>
                </c:pt>
                <c:pt idx="58">
                  <c:v>15.0</c:v>
                </c:pt>
                <c:pt idx="59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+1 std</c:v>
                </c:pt>
              </c:strCache>
            </c:strRef>
          </c:tx>
          <c:spPr>
            <a:ln w="12700">
              <a:solidFill>
                <a:srgbClr val="6B7480"/>
              </a:solidFill>
              <a:prstDash val="sysDash"/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Oct-21</c:v>
                </c:pt>
                <c:pt idx="1">
                  <c:v>Nov-21</c:v>
                </c:pt>
                <c:pt idx="2">
                  <c:v>Dec-21</c:v>
                </c:pt>
                <c:pt idx="3">
                  <c:v>Jan-22</c:v>
                </c:pt>
                <c:pt idx="4">
                  <c:v>Feb-22</c:v>
                </c:pt>
                <c:pt idx="5">
                  <c:v>Mar-22</c:v>
                </c:pt>
                <c:pt idx="6">
                  <c:v>Apr-22</c:v>
                </c:pt>
                <c:pt idx="7">
                  <c:v>May-22</c:v>
                </c:pt>
                <c:pt idx="8">
                  <c:v>Jun-22</c:v>
                </c:pt>
                <c:pt idx="9">
                  <c:v>Jul-22</c:v>
                </c:pt>
                <c:pt idx="10">
                  <c:v>Aug-22</c:v>
                </c:pt>
                <c:pt idx="11">
                  <c:v>Sep-22</c:v>
                </c:pt>
                <c:pt idx="12">
                  <c:v>Oct-22</c:v>
                </c:pt>
                <c:pt idx="13">
                  <c:v>Nov-22</c:v>
                </c:pt>
                <c:pt idx="14">
                  <c:v>Dec-22</c:v>
                </c:pt>
                <c:pt idx="15">
                  <c:v>Jan-23</c:v>
                </c:pt>
                <c:pt idx="16">
                  <c:v>Feb-23</c:v>
                </c:pt>
                <c:pt idx="17">
                  <c:v>Mar-23</c:v>
                </c:pt>
                <c:pt idx="18">
                  <c:v>Apr-23</c:v>
                </c:pt>
                <c:pt idx="19">
                  <c:v>May-23</c:v>
                </c:pt>
                <c:pt idx="20">
                  <c:v>Jun-23</c:v>
                </c:pt>
                <c:pt idx="21">
                  <c:v>Jul-23</c:v>
                </c:pt>
                <c:pt idx="22">
                  <c:v>Aug-23</c:v>
                </c:pt>
                <c:pt idx="23">
                  <c:v>Sep-23</c:v>
                </c:pt>
                <c:pt idx="24">
                  <c:v>Oct-23</c:v>
                </c:pt>
                <c:pt idx="25">
                  <c:v>Nov-23</c:v>
                </c:pt>
                <c:pt idx="26">
                  <c:v>Dec-23</c:v>
                </c:pt>
                <c:pt idx="27">
                  <c:v>Jan-24</c:v>
                </c:pt>
                <c:pt idx="28">
                  <c:v>Feb-24</c:v>
                </c:pt>
                <c:pt idx="29">
                  <c:v>Mar-24</c:v>
                </c:pt>
                <c:pt idx="30">
                  <c:v>Apr-24</c:v>
                </c:pt>
                <c:pt idx="31">
                  <c:v>May-24</c:v>
                </c:pt>
                <c:pt idx="32">
                  <c:v>Jun-24</c:v>
                </c:pt>
                <c:pt idx="33">
                  <c:v>Jul-24</c:v>
                </c:pt>
                <c:pt idx="34">
                  <c:v>Aug-24</c:v>
                </c:pt>
                <c:pt idx="35">
                  <c:v>Sep-24</c:v>
                </c:pt>
                <c:pt idx="36">
                  <c:v>Oct-24</c:v>
                </c:pt>
                <c:pt idx="37">
                  <c:v>Nov-24</c:v>
                </c:pt>
                <c:pt idx="38">
                  <c:v>Dec-24</c:v>
                </c:pt>
                <c:pt idx="39">
                  <c:v>Jan-25</c:v>
                </c:pt>
                <c:pt idx="40">
                  <c:v>Feb-25</c:v>
                </c:pt>
                <c:pt idx="41">
                  <c:v>Mar-25</c:v>
                </c:pt>
                <c:pt idx="42">
                  <c:v>Apr-25</c:v>
                </c:pt>
                <c:pt idx="43">
                  <c:v>May-25</c:v>
                </c:pt>
                <c:pt idx="44">
                  <c:v>Jun-25</c:v>
                </c:pt>
                <c:pt idx="45">
                  <c:v>Jul-25</c:v>
                </c:pt>
                <c:pt idx="46">
                  <c:v>Aug-25</c:v>
                </c:pt>
                <c:pt idx="47">
                  <c:v>Sep-25</c:v>
                </c:pt>
                <c:pt idx="48">
                  <c:v>Oct-25</c:v>
                </c:pt>
                <c:pt idx="49">
                  <c:v>Nov-25</c:v>
                </c:pt>
                <c:pt idx="50">
                  <c:v>Dec-25</c:v>
                </c:pt>
                <c:pt idx="51">
                  <c:v>Jan-26</c:v>
                </c:pt>
                <c:pt idx="52">
                  <c:v>Feb-26</c:v>
                </c:pt>
                <c:pt idx="53">
                  <c:v>Mar-26</c:v>
                </c:pt>
                <c:pt idx="54">
                  <c:v>Apr-26</c:v>
                </c:pt>
                <c:pt idx="55">
                  <c:v>May-26</c:v>
                </c:pt>
                <c:pt idx="56">
                  <c:v>Jun-26</c:v>
                </c:pt>
                <c:pt idx="57">
                  <c:v>Jul-26</c:v>
                </c:pt>
                <c:pt idx="58">
                  <c:v>Aug-26</c:v>
                </c:pt>
                <c:pt idx="59">
                  <c:v>Sep-26</c:v>
                </c:pt>
              </c:strCache>
            </c:strRef>
          </c:cat>
          <c:val>
            <c:numRef>
              <c:f>Sheet1!$D$2:$D$61</c:f>
              <c:numCache>
                <c:formatCode>0"x"</c:formatCode>
                <c:ptCount val="60"/>
                <c:pt idx="0">
                  <c:v>15.8</c:v>
                </c:pt>
                <c:pt idx="1">
                  <c:v>15.8</c:v>
                </c:pt>
                <c:pt idx="2">
                  <c:v>15.8</c:v>
                </c:pt>
                <c:pt idx="3">
                  <c:v>15.8</c:v>
                </c:pt>
                <c:pt idx="4">
                  <c:v>15.8</c:v>
                </c:pt>
                <c:pt idx="5">
                  <c:v>15.8</c:v>
                </c:pt>
                <c:pt idx="6">
                  <c:v>15.8</c:v>
                </c:pt>
                <c:pt idx="7">
                  <c:v>15.8</c:v>
                </c:pt>
                <c:pt idx="8">
                  <c:v>15.8</c:v>
                </c:pt>
                <c:pt idx="9">
                  <c:v>15.8</c:v>
                </c:pt>
                <c:pt idx="10">
                  <c:v>15.8</c:v>
                </c:pt>
                <c:pt idx="11">
                  <c:v>15.8</c:v>
                </c:pt>
                <c:pt idx="12">
                  <c:v>15.8</c:v>
                </c:pt>
                <c:pt idx="13">
                  <c:v>15.8</c:v>
                </c:pt>
                <c:pt idx="14">
                  <c:v>15.8</c:v>
                </c:pt>
                <c:pt idx="15">
                  <c:v>15.8</c:v>
                </c:pt>
                <c:pt idx="16">
                  <c:v>15.8</c:v>
                </c:pt>
                <c:pt idx="17">
                  <c:v>15.8</c:v>
                </c:pt>
                <c:pt idx="18">
                  <c:v>15.8</c:v>
                </c:pt>
                <c:pt idx="19">
                  <c:v>15.8</c:v>
                </c:pt>
                <c:pt idx="20">
                  <c:v>15.8</c:v>
                </c:pt>
                <c:pt idx="21">
                  <c:v>15.8</c:v>
                </c:pt>
                <c:pt idx="22">
                  <c:v>15.8</c:v>
                </c:pt>
                <c:pt idx="23">
                  <c:v>15.8</c:v>
                </c:pt>
                <c:pt idx="24">
                  <c:v>15.8</c:v>
                </c:pt>
                <c:pt idx="25">
                  <c:v>15.8</c:v>
                </c:pt>
                <c:pt idx="26">
                  <c:v>15.8</c:v>
                </c:pt>
                <c:pt idx="27">
                  <c:v>15.8</c:v>
                </c:pt>
                <c:pt idx="28">
                  <c:v>15.8</c:v>
                </c:pt>
                <c:pt idx="29">
                  <c:v>15.8</c:v>
                </c:pt>
                <c:pt idx="30">
                  <c:v>15.8</c:v>
                </c:pt>
                <c:pt idx="31">
                  <c:v>15.8</c:v>
                </c:pt>
                <c:pt idx="32">
                  <c:v>15.8</c:v>
                </c:pt>
                <c:pt idx="33">
                  <c:v>15.8</c:v>
                </c:pt>
                <c:pt idx="34">
                  <c:v>15.8</c:v>
                </c:pt>
                <c:pt idx="35">
                  <c:v>15.8</c:v>
                </c:pt>
                <c:pt idx="36">
                  <c:v>15.8</c:v>
                </c:pt>
                <c:pt idx="37">
                  <c:v>15.8</c:v>
                </c:pt>
                <c:pt idx="38">
                  <c:v>15.8</c:v>
                </c:pt>
                <c:pt idx="39">
                  <c:v>15.8</c:v>
                </c:pt>
                <c:pt idx="40">
                  <c:v>15.8</c:v>
                </c:pt>
                <c:pt idx="41">
                  <c:v>15.8</c:v>
                </c:pt>
                <c:pt idx="42">
                  <c:v>15.8</c:v>
                </c:pt>
                <c:pt idx="43">
                  <c:v>15.8</c:v>
                </c:pt>
                <c:pt idx="44">
                  <c:v>15.8</c:v>
                </c:pt>
                <c:pt idx="45">
                  <c:v>15.8</c:v>
                </c:pt>
                <c:pt idx="46">
                  <c:v>15.8</c:v>
                </c:pt>
                <c:pt idx="47">
                  <c:v>15.8</c:v>
                </c:pt>
                <c:pt idx="48">
                  <c:v>15.8</c:v>
                </c:pt>
                <c:pt idx="49">
                  <c:v>15.8</c:v>
                </c:pt>
                <c:pt idx="50">
                  <c:v>15.8</c:v>
                </c:pt>
                <c:pt idx="51">
                  <c:v>15.8</c:v>
                </c:pt>
                <c:pt idx="52">
                  <c:v>15.8</c:v>
                </c:pt>
                <c:pt idx="53">
                  <c:v>15.8</c:v>
                </c:pt>
                <c:pt idx="54">
                  <c:v>15.8</c:v>
                </c:pt>
                <c:pt idx="55">
                  <c:v>15.8</c:v>
                </c:pt>
                <c:pt idx="56">
                  <c:v>15.8</c:v>
                </c:pt>
                <c:pt idx="57">
                  <c:v>15.8</c:v>
                </c:pt>
                <c:pt idx="58">
                  <c:v>15.8</c:v>
                </c:pt>
                <c:pt idx="59">
                  <c:v>15.8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−1 std</c:v>
                </c:pt>
              </c:strCache>
            </c:strRef>
          </c:tx>
          <c:spPr>
            <a:ln w="12700">
              <a:solidFill>
                <a:srgbClr val="6B7480"/>
              </a:solidFill>
              <a:prstDash val="sysDash"/>
            </a:ln>
          </c:spPr>
          <c:marker>
            <c:symbol val="none"/>
          </c:marker>
          <c:cat>
            <c:strRef>
              <c:f>Sheet1!$A$2:$A$61</c:f>
              <c:strCache>
                <c:ptCount val="60"/>
                <c:pt idx="0">
                  <c:v>Oct-21</c:v>
                </c:pt>
                <c:pt idx="1">
                  <c:v>Nov-21</c:v>
                </c:pt>
                <c:pt idx="2">
                  <c:v>Dec-21</c:v>
                </c:pt>
                <c:pt idx="3">
                  <c:v>Jan-22</c:v>
                </c:pt>
                <c:pt idx="4">
                  <c:v>Feb-22</c:v>
                </c:pt>
                <c:pt idx="5">
                  <c:v>Mar-22</c:v>
                </c:pt>
                <c:pt idx="6">
                  <c:v>Apr-22</c:v>
                </c:pt>
                <c:pt idx="7">
                  <c:v>May-22</c:v>
                </c:pt>
                <c:pt idx="8">
                  <c:v>Jun-22</c:v>
                </c:pt>
                <c:pt idx="9">
                  <c:v>Jul-22</c:v>
                </c:pt>
                <c:pt idx="10">
                  <c:v>Aug-22</c:v>
                </c:pt>
                <c:pt idx="11">
                  <c:v>Sep-22</c:v>
                </c:pt>
                <c:pt idx="12">
                  <c:v>Oct-22</c:v>
                </c:pt>
                <c:pt idx="13">
                  <c:v>Nov-22</c:v>
                </c:pt>
                <c:pt idx="14">
                  <c:v>Dec-22</c:v>
                </c:pt>
                <c:pt idx="15">
                  <c:v>Jan-23</c:v>
                </c:pt>
                <c:pt idx="16">
                  <c:v>Feb-23</c:v>
                </c:pt>
                <c:pt idx="17">
                  <c:v>Mar-23</c:v>
                </c:pt>
                <c:pt idx="18">
                  <c:v>Apr-23</c:v>
                </c:pt>
                <c:pt idx="19">
                  <c:v>May-23</c:v>
                </c:pt>
                <c:pt idx="20">
                  <c:v>Jun-23</c:v>
                </c:pt>
                <c:pt idx="21">
                  <c:v>Jul-23</c:v>
                </c:pt>
                <c:pt idx="22">
                  <c:v>Aug-23</c:v>
                </c:pt>
                <c:pt idx="23">
                  <c:v>Sep-23</c:v>
                </c:pt>
                <c:pt idx="24">
                  <c:v>Oct-23</c:v>
                </c:pt>
                <c:pt idx="25">
                  <c:v>Nov-23</c:v>
                </c:pt>
                <c:pt idx="26">
                  <c:v>Dec-23</c:v>
                </c:pt>
                <c:pt idx="27">
                  <c:v>Jan-24</c:v>
                </c:pt>
                <c:pt idx="28">
                  <c:v>Feb-24</c:v>
                </c:pt>
                <c:pt idx="29">
                  <c:v>Mar-24</c:v>
                </c:pt>
                <c:pt idx="30">
                  <c:v>Apr-24</c:v>
                </c:pt>
                <c:pt idx="31">
                  <c:v>May-24</c:v>
                </c:pt>
                <c:pt idx="32">
                  <c:v>Jun-24</c:v>
                </c:pt>
                <c:pt idx="33">
                  <c:v>Jul-24</c:v>
                </c:pt>
                <c:pt idx="34">
                  <c:v>Aug-24</c:v>
                </c:pt>
                <c:pt idx="35">
                  <c:v>Sep-24</c:v>
                </c:pt>
                <c:pt idx="36">
                  <c:v>Oct-24</c:v>
                </c:pt>
                <c:pt idx="37">
                  <c:v>Nov-24</c:v>
                </c:pt>
                <c:pt idx="38">
                  <c:v>Dec-24</c:v>
                </c:pt>
                <c:pt idx="39">
                  <c:v>Jan-25</c:v>
                </c:pt>
                <c:pt idx="40">
                  <c:v>Feb-25</c:v>
                </c:pt>
                <c:pt idx="41">
                  <c:v>Mar-25</c:v>
                </c:pt>
                <c:pt idx="42">
                  <c:v>Apr-25</c:v>
                </c:pt>
                <c:pt idx="43">
                  <c:v>May-25</c:v>
                </c:pt>
                <c:pt idx="44">
                  <c:v>Jun-25</c:v>
                </c:pt>
                <c:pt idx="45">
                  <c:v>Jul-25</c:v>
                </c:pt>
                <c:pt idx="46">
                  <c:v>Aug-25</c:v>
                </c:pt>
                <c:pt idx="47">
                  <c:v>Sep-25</c:v>
                </c:pt>
                <c:pt idx="48">
                  <c:v>Oct-25</c:v>
                </c:pt>
                <c:pt idx="49">
                  <c:v>Nov-25</c:v>
                </c:pt>
                <c:pt idx="50">
                  <c:v>Dec-25</c:v>
                </c:pt>
                <c:pt idx="51">
                  <c:v>Jan-26</c:v>
                </c:pt>
                <c:pt idx="52">
                  <c:v>Feb-26</c:v>
                </c:pt>
                <c:pt idx="53">
                  <c:v>Mar-26</c:v>
                </c:pt>
                <c:pt idx="54">
                  <c:v>Apr-26</c:v>
                </c:pt>
                <c:pt idx="55">
                  <c:v>May-26</c:v>
                </c:pt>
                <c:pt idx="56">
                  <c:v>Jun-26</c:v>
                </c:pt>
                <c:pt idx="57">
                  <c:v>Jul-26</c:v>
                </c:pt>
                <c:pt idx="58">
                  <c:v>Aug-26</c:v>
                </c:pt>
                <c:pt idx="59">
                  <c:v>Sep-26</c:v>
                </c:pt>
              </c:strCache>
            </c:strRef>
          </c:cat>
          <c:val>
            <c:numRef>
              <c:f>Sheet1!$E$2:$E$61</c:f>
              <c:numCache>
                <c:formatCode>0"x"</c:formatCode>
                <c:ptCount val="60"/>
                <c:pt idx="0">
                  <c:v>14.1</c:v>
                </c:pt>
                <c:pt idx="1">
                  <c:v>14.1</c:v>
                </c:pt>
                <c:pt idx="2">
                  <c:v>14.1</c:v>
                </c:pt>
                <c:pt idx="3">
                  <c:v>14.1</c:v>
                </c:pt>
                <c:pt idx="4">
                  <c:v>14.1</c:v>
                </c:pt>
                <c:pt idx="5">
                  <c:v>14.1</c:v>
                </c:pt>
                <c:pt idx="6">
                  <c:v>14.1</c:v>
                </c:pt>
                <c:pt idx="7">
                  <c:v>14.1</c:v>
                </c:pt>
                <c:pt idx="8">
                  <c:v>14.1</c:v>
                </c:pt>
                <c:pt idx="9">
                  <c:v>14.1</c:v>
                </c:pt>
                <c:pt idx="10">
                  <c:v>14.1</c:v>
                </c:pt>
                <c:pt idx="11">
                  <c:v>14.1</c:v>
                </c:pt>
                <c:pt idx="12">
                  <c:v>14.1</c:v>
                </c:pt>
                <c:pt idx="13">
                  <c:v>14.1</c:v>
                </c:pt>
                <c:pt idx="14">
                  <c:v>14.1</c:v>
                </c:pt>
                <c:pt idx="15">
                  <c:v>14.1</c:v>
                </c:pt>
                <c:pt idx="16">
                  <c:v>14.1</c:v>
                </c:pt>
                <c:pt idx="17">
                  <c:v>14.1</c:v>
                </c:pt>
                <c:pt idx="18">
                  <c:v>14.1</c:v>
                </c:pt>
                <c:pt idx="19">
                  <c:v>14.1</c:v>
                </c:pt>
                <c:pt idx="20">
                  <c:v>14.1</c:v>
                </c:pt>
                <c:pt idx="21">
                  <c:v>14.1</c:v>
                </c:pt>
                <c:pt idx="22">
                  <c:v>14.1</c:v>
                </c:pt>
                <c:pt idx="23">
                  <c:v>14.1</c:v>
                </c:pt>
                <c:pt idx="24">
                  <c:v>14.1</c:v>
                </c:pt>
                <c:pt idx="25">
                  <c:v>14.1</c:v>
                </c:pt>
                <c:pt idx="26">
                  <c:v>14.1</c:v>
                </c:pt>
                <c:pt idx="27">
                  <c:v>14.1</c:v>
                </c:pt>
                <c:pt idx="28">
                  <c:v>14.1</c:v>
                </c:pt>
                <c:pt idx="29">
                  <c:v>14.1</c:v>
                </c:pt>
                <c:pt idx="30">
                  <c:v>14.1</c:v>
                </c:pt>
                <c:pt idx="31">
                  <c:v>14.1</c:v>
                </c:pt>
                <c:pt idx="32">
                  <c:v>14.1</c:v>
                </c:pt>
                <c:pt idx="33">
                  <c:v>14.1</c:v>
                </c:pt>
                <c:pt idx="34">
                  <c:v>14.1</c:v>
                </c:pt>
                <c:pt idx="35">
                  <c:v>14.1</c:v>
                </c:pt>
                <c:pt idx="36">
                  <c:v>14.1</c:v>
                </c:pt>
                <c:pt idx="37">
                  <c:v>14.1</c:v>
                </c:pt>
                <c:pt idx="38">
                  <c:v>14.1</c:v>
                </c:pt>
                <c:pt idx="39">
                  <c:v>14.1</c:v>
                </c:pt>
                <c:pt idx="40">
                  <c:v>14.1</c:v>
                </c:pt>
                <c:pt idx="41">
                  <c:v>14.1</c:v>
                </c:pt>
                <c:pt idx="42">
                  <c:v>14.1</c:v>
                </c:pt>
                <c:pt idx="43">
                  <c:v>14.1</c:v>
                </c:pt>
                <c:pt idx="44">
                  <c:v>14.1</c:v>
                </c:pt>
                <c:pt idx="45">
                  <c:v>14.1</c:v>
                </c:pt>
                <c:pt idx="46">
                  <c:v>14.1</c:v>
                </c:pt>
                <c:pt idx="47">
                  <c:v>14.1</c:v>
                </c:pt>
                <c:pt idx="48">
                  <c:v>14.1</c:v>
                </c:pt>
                <c:pt idx="49">
                  <c:v>14.1</c:v>
                </c:pt>
                <c:pt idx="50">
                  <c:v>14.1</c:v>
                </c:pt>
                <c:pt idx="51">
                  <c:v>14.1</c:v>
                </c:pt>
                <c:pt idx="52">
                  <c:v>14.1</c:v>
                </c:pt>
                <c:pt idx="53">
                  <c:v>14.1</c:v>
                </c:pt>
                <c:pt idx="54">
                  <c:v>14.1</c:v>
                </c:pt>
                <c:pt idx="55">
                  <c:v>14.1</c:v>
                </c:pt>
                <c:pt idx="56">
                  <c:v>14.1</c:v>
                </c:pt>
                <c:pt idx="57">
                  <c:v>14.1</c:v>
                </c:pt>
                <c:pt idx="58">
                  <c:v>14.1</c:v>
                </c:pt>
                <c:pt idx="59">
                  <c:v>14.1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>
          <c:max val="19.0"/>
          <c:min val="10.0"/>
        </c:scaling>
        <c:delete val="0"/>
        <c:axPos val="l"/>
        <c:numFmt formatCode="0&quot;x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4F7FA0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81B0C0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9C8D3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C9D1D9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Founder family</c:v>
                </c:pt>
                <c:pt idx="1">
                  <c:v>Folketrygdfondet</c:v>
                </c:pt>
                <c:pt idx="2">
                  <c:v>Nordic funds</c:v>
                </c:pt>
                <c:pt idx="3">
                  <c:v>International funds</c:v>
                </c:pt>
                <c:pt idx="4">
                  <c:v>Retail &amp; other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0.28</c:v>
                </c:pt>
                <c:pt idx="1">
                  <c:v>0.09</c:v>
                </c:pt>
                <c:pt idx="2">
                  <c:v>0.21</c:v>
                </c:pt>
                <c:pt idx="3">
                  <c:v>0.27</c:v>
                </c:pt>
                <c:pt idx="4">
                  <c:v>0.15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4F7FA0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81B0C0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8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Norway</c:v>
                </c:pt>
                <c:pt idx="1">
                  <c:v>Sweden</c:v>
                </c:pt>
                <c:pt idx="2">
                  <c:v>Denmark &amp; Finland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0.4951224001472483</c:v>
                </c:pt>
                <c:pt idx="1">
                  <c:v>0.3285477636664826</c:v>
                </c:pt>
                <c:pt idx="2">
                  <c:v>0.1763298361862691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2"/>
      </c:doughnutChart>
    </c:plotArea>
    <c:plotVisOnly val="1"/>
    <c:dispBlanksAs val="gap"/>
    <c:showDLblsOverMax val="0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4F7FA0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81B0C0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A9C8D3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C9D1D9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8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8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8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03255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sz="800" b="1">
                      <a:solidFill>
                        <a:srgbClr val="003255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Example Company</c:v>
                </c:pt>
                <c:pt idx="1">
                  <c:v>Competitor A</c:v>
                </c:pt>
                <c:pt idx="2">
                  <c:v>Competitor B</c:v>
                </c:pt>
                <c:pt idx="3">
                  <c:v>Competitor C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0.15</c:v>
                </c:pt>
                <c:pt idx="1">
                  <c:v>0.12</c:v>
                </c:pt>
                <c:pt idx="2">
                  <c:v>0.09</c:v>
                </c:pt>
                <c:pt idx="3">
                  <c:v>0.06</c:v>
                </c:pt>
                <c:pt idx="4">
                  <c:v>0.58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8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4F7FA0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81B0C0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75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75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75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Norway</c:v>
                </c:pt>
                <c:pt idx="1">
                  <c:v>Sweden</c:v>
                </c:pt>
                <c:pt idx="2">
                  <c:v>Denmark &amp; Finland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0.4951224001472483</c:v>
                </c:pt>
                <c:pt idx="1">
                  <c:v>0.3285477636664826</c:v>
                </c:pt>
                <c:pt idx="2">
                  <c:v>0.1763298361862691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5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75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4F7FA0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81B0C0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75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75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75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Norway</c:v>
                </c:pt>
                <c:pt idx="1">
                  <c:v>Sweden</c:v>
                </c:pt>
                <c:pt idx="2">
                  <c:v>Denmark &amp; Finland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0.58</c:v>
                </c:pt>
                <c:pt idx="1">
                  <c:v>0.31</c:v>
                </c:pt>
                <c:pt idx="2">
                  <c:v>0.11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5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75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3E8EC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Value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0.9</c:v>
                </c:pt>
                <c:pt idx="1">
                  <c:v>0.09999999999999998</c:v>
                </c:pt>
              </c:numCache>
            </c:numRef>
          </c:val>
        </c:ser>
        <c:firstSliceAng val="0"/>
        <c:holeSize val="68"/>
      </c:doughnutChart>
    </c:plotArea>
    <c:plotVisOnly val="1"/>
    <c:dispBlanksAs val="gap"/>
    <c:showDLblsOverMax val="0"/>
  </c:chart>
  <c:txPr>
    <a:bodyPr/>
    <a:lstStyle/>
    <a:p>
      <a:pPr>
        <a:defRPr sz="9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3E8EC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Value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0.62</c:v>
                </c:pt>
                <c:pt idx="1">
                  <c:v>0.38</c:v>
                </c:pt>
              </c:numCache>
            </c:numRef>
          </c:val>
        </c:ser>
        <c:firstSliceAng val="0"/>
        <c:holeSize val="68"/>
      </c:doughnutChart>
    </c:plotArea>
    <c:plotVisOnly val="1"/>
    <c:dispBlanksAs val="gap"/>
    <c:showDLblsOverMax val="0"/>
  </c:chart>
  <c:txPr>
    <a:bodyPr/>
    <a:lstStyle/>
    <a:p>
      <a:pPr>
        <a:defRPr sz="9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003255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3E8EC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Value</c:v>
                </c:pt>
                <c:pt idx="1">
                  <c:v>Rest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0.68</c:v>
                </c:pt>
                <c:pt idx="1">
                  <c:v>0.31999999999999995</c:v>
                </c:pt>
              </c:numCache>
            </c:numRef>
          </c:val>
        </c:ser>
        <c:firstSliceAng val="0"/>
        <c:holeSize val="68"/>
      </c:doughnutChart>
    </c:plotArea>
    <c:plotVisOnly val="1"/>
    <c:dispBlanksAs val="gap"/>
    <c:showDLblsOverMax val="0"/>
  </c:chart>
  <c:txPr>
    <a:bodyPr/>
    <a:lstStyle/>
    <a:p>
      <a:pPr>
        <a:defRPr sz="9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COGS</c:v>
                </c:pt>
              </c:strCache>
            </c:strRef>
          </c:tx>
          <c:spPr>
            <a:solidFill>
              <a:srgbClr val="C9D1D9"/>
            </a:solidFill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750" b="1">
                    <a:solidFill>
                      <a:srgbClr val="003255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% of revenue 2025</c:v>
                </c:pt>
              </c:strCache>
            </c:strRef>
          </c:cat>
          <c:val>
            <c:numRef>
              <c:f>Sheet1!$B$2:$B$2</c:f>
              <c:numCache>
                <c:formatCode>0%</c:formatCode>
                <c:ptCount val="1"/>
                <c:pt idx="0">
                  <c:v>0.366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Personnel</c:v>
                </c:pt>
              </c:strCache>
            </c:strRef>
          </c:tx>
          <c:spPr>
            <a:solidFill>
              <a:srgbClr val="A9C8D3"/>
            </a:solidFill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750" b="1">
                    <a:solidFill>
                      <a:srgbClr val="003255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% of revenue 2025</c:v>
                </c:pt>
              </c:strCache>
            </c:strRef>
          </c:cat>
          <c:val>
            <c:numRef>
              <c:f>Sheet1!$C$2:$C$2</c:f>
              <c:numCache>
                <c:formatCode>0%</c:formatCode>
                <c:ptCount val="1"/>
                <c:pt idx="0">
                  <c:v>0.218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 opex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750" b="1">
                    <a:solidFill>
                      <a:srgbClr val="003255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% of revenue 2025</c:v>
                </c:pt>
              </c:strCache>
            </c:strRef>
          </c:cat>
          <c:val>
            <c:numRef>
              <c:f>Sheet1!$D$2:$D$2</c:f>
              <c:numCache>
                <c:formatCode>0%</c:formatCode>
                <c:ptCount val="1"/>
                <c:pt idx="0">
                  <c:v>0.119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Leases</c:v>
                </c:pt>
              </c:strCache>
            </c:strRef>
          </c:tx>
          <c:spPr>
            <a:solidFill>
              <a:srgbClr val="4F7FA0"/>
            </a:solidFill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75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% of revenue 2025</c:v>
                </c:pt>
              </c:strCache>
            </c:strRef>
          </c:cat>
          <c:val>
            <c:numRef>
              <c:f>Sheet1!$E$2:$E$2</c:f>
              <c:numCache>
                <c:formatCode>0%</c:formatCode>
                <c:ptCount val="1"/>
                <c:pt idx="0">
                  <c:v>0.078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D&amp;A</c:v>
                </c:pt>
              </c:strCache>
            </c:strRef>
          </c:tx>
          <c:spPr>
            <a:solidFill>
              <a:srgbClr val="6B7480"/>
            </a:solidFill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75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% of revenue 2025</c:v>
                </c:pt>
              </c:strCache>
            </c:strRef>
          </c:cat>
          <c:val>
            <c:numRef>
              <c:f>Sheet1!$F$2:$F$2</c:f>
              <c:numCache>
                <c:formatCode>0%</c:formatCode>
                <c:ptCount val="1"/>
                <c:pt idx="0">
                  <c:v>0.044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EBIT adj.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sz="75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% of revenue 2025</c:v>
                </c:pt>
              </c:strCache>
            </c:strRef>
          </c:cat>
          <c:val>
            <c:numRef>
              <c:f>Sheet1!$G$2:$G$2</c:f>
              <c:numCache>
                <c:formatCode>0%</c:formatCode>
                <c:ptCount val="1"/>
                <c:pt idx="0">
                  <c:v>0.175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5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0"/>
        <c:overlap val="100"/>
        <c:axId val="-2068027336"/>
        <c:axId val="-2113994440"/>
      </c:barChart>
      <c:catAx>
        <c:axId val="-2068027336"/>
        <c:scaling>
          <c:orientation val="minMax"/>
        </c:scaling>
        <c:delete/>
        <c:axPos val="l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5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300"/>
          <c:y val="0.0600"/>
          <c:w val="0.9400"/>
          <c:h val="0.7800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Revenue 2025A</c:v>
                </c:pt>
                <c:pt idx="1">
                  <c:v>New locations</c:v>
                </c:pt>
                <c:pt idx="2">
                  <c:v>Like-for-like</c:v>
                </c:pt>
                <c:pt idx="3">
                  <c:v>Price / mix</c:v>
                </c:pt>
                <c:pt idx="4">
                  <c:v>Revenue 2030E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0</c:v>
                </c:pt>
                <c:pt idx="1">
                  <c:v>5433</c:v>
                </c:pt>
                <c:pt idx="2">
                  <c:v>6136.148992393445</c:v>
                </c:pt>
                <c:pt idx="3">
                  <c:v>6375.350375876391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Revenue 2025A</c:v>
                </c:pt>
                <c:pt idx="1">
                  <c:v>New locations</c:v>
                </c:pt>
                <c:pt idx="2">
                  <c:v>Like-for-like</c:v>
                </c:pt>
                <c:pt idx="3">
                  <c:v>Price / mix</c:v>
                </c:pt>
                <c:pt idx="4">
                  <c:v>Revenue 2030E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5433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7257.939122327278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7D32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Revenue 2025A</c:v>
                </c:pt>
                <c:pt idx="1">
                  <c:v>New locations</c:v>
                </c:pt>
                <c:pt idx="2">
                  <c:v>Like-for-like</c:v>
                </c:pt>
                <c:pt idx="3">
                  <c:v>Price / mix</c:v>
                </c:pt>
                <c:pt idx="4">
                  <c:v>Revenue 2030E</c:v>
                </c:pt>
              </c:strCache>
            </c:strRef>
          </c:cat>
          <c:val>
            <c:numRef>
              <c:f>Sheet1!$D$2:$D$6</c:f>
              <c:numCache>
                <c:formatCode>#,##0</c:formatCode>
                <c:ptCount val="5"/>
                <c:pt idx="0">
                  <c:v>0</c:v>
                </c:pt>
                <c:pt idx="1">
                  <c:v>703.1489923934453</c:v>
                </c:pt>
                <c:pt idx="2">
                  <c:v>239.20138348294586</c:v>
                </c:pt>
                <c:pt idx="3">
                  <c:v>882.5887464508863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Revenue 2025A</c:v>
                </c:pt>
                <c:pt idx="1">
                  <c:v>New locations</c:v>
                </c:pt>
                <c:pt idx="2">
                  <c:v>Like-for-like</c:v>
                </c:pt>
                <c:pt idx="3">
                  <c:v>Price / mix</c:v>
                </c:pt>
                <c:pt idx="4">
                  <c:v>Revenue 2030E</c:v>
                </c:pt>
              </c:strCache>
            </c:strRef>
          </c:cat>
          <c:val>
            <c:numRef>
              <c:f>Sheet1!$E$2:$E$6</c:f>
              <c:numCache>
                <c:formatCode>#,##0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709.526946792734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300"/>
          <c:y val="0.0600"/>
          <c:w val="0.9400"/>
          <c:h val="0.7800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Sheet1!$A$2:$A$8</c:f>
              <c:strCache>
                <c:ptCount val="7"/>
                <c:pt idx="0">
                  <c:v>EBIT adj. 2022A</c:v>
                </c:pt>
                <c:pt idx="1">
                  <c:v>Revenue growth</c:v>
                </c:pt>
                <c:pt idx="2">
                  <c:v>COGS ratio</c:v>
                </c:pt>
                <c:pt idx="3">
                  <c:v>Personnel ratio</c:v>
                </c:pt>
                <c:pt idx="4">
                  <c:v>Other opex ratio</c:v>
                </c:pt>
                <c:pt idx="5">
                  <c:v>Leases and D&amp;A</c:v>
                </c:pt>
                <c:pt idx="6">
                  <c:v>EBIT adj. 2025A</c:v>
                </c:pt>
              </c:strCache>
            </c:strRef>
          </c:cat>
          <c:val>
            <c:numRef>
              <c:f>Sheet1!$B$2:$B$8</c:f>
              <c:numCache>
                <c:formatCode>#,##0</c:formatCode>
                <c:ptCount val="7"/>
                <c:pt idx="0">
                  <c:v>0</c:v>
                </c:pt>
                <c:pt idx="1">
                  <c:v>579.5999999999998</c:v>
                </c:pt>
                <c:pt idx="2">
                  <c:v>738.8472078836224</c:v>
                </c:pt>
                <c:pt idx="3">
                  <c:v>820.292163303613</c:v>
                </c:pt>
                <c:pt idx="4">
                  <c:v>880.0517128108864</c:v>
                </c:pt>
                <c:pt idx="5">
                  <c:v>918.094415767245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EBIT adj. 2022A</c:v>
                </c:pt>
                <c:pt idx="1">
                  <c:v>Revenue growth</c:v>
                </c:pt>
                <c:pt idx="2">
                  <c:v>COGS ratio</c:v>
                </c:pt>
                <c:pt idx="3">
                  <c:v>Personnel ratio</c:v>
                </c:pt>
                <c:pt idx="4">
                  <c:v>Other opex ratio</c:v>
                </c:pt>
                <c:pt idx="5">
                  <c:v>Leases and D&amp;A</c:v>
                </c:pt>
                <c:pt idx="6">
                  <c:v>EBIT adj. 2025A</c:v>
                </c:pt>
              </c:strCache>
            </c:strRef>
          </c:cat>
          <c:val>
            <c:numRef>
              <c:f>Sheet1!$C$2:$C$8</c:f>
              <c:numCache>
                <c:formatCode>#,##0</c:formatCode>
                <c:ptCount val="7"/>
                <c:pt idx="0">
                  <c:v>579.5999999999998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950.6999999999999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7D32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EBIT adj. 2022A</c:v>
                </c:pt>
                <c:pt idx="1">
                  <c:v>Revenue growth</c:v>
                </c:pt>
                <c:pt idx="2">
                  <c:v>COGS ratio</c:v>
                </c:pt>
                <c:pt idx="3">
                  <c:v>Personnel ratio</c:v>
                </c:pt>
                <c:pt idx="4">
                  <c:v>Other opex ratio</c:v>
                </c:pt>
                <c:pt idx="5">
                  <c:v>Leases and D&amp;A</c:v>
                </c:pt>
                <c:pt idx="6">
                  <c:v>EBIT adj. 2025A</c:v>
                </c:pt>
              </c:strCache>
            </c:strRef>
          </c:cat>
          <c:val>
            <c:numRef>
              <c:f>Sheet1!$D$2:$D$8</c:f>
              <c:numCache>
                <c:formatCode>#,##0</c:formatCode>
                <c:ptCount val="7"/>
                <c:pt idx="0">
                  <c:v>0</c:v>
                </c:pt>
                <c:pt idx="1">
                  <c:v>159.24720788362265</c:v>
                </c:pt>
                <c:pt idx="2">
                  <c:v>81.4449554199906</c:v>
                </c:pt>
                <c:pt idx="3">
                  <c:v>59.759549507273434</c:v>
                </c:pt>
                <c:pt idx="4">
                  <c:v>38.042702956358525</c:v>
                </c:pt>
                <c:pt idx="5">
                  <c:v>32.60558423275459</c:v>
                </c:pt>
                <c:pt idx="6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Sheet1!$A$2:$A$8</c:f>
              <c:strCache>
                <c:ptCount val="7"/>
                <c:pt idx="0">
                  <c:v>EBIT adj. 2022A</c:v>
                </c:pt>
                <c:pt idx="1">
                  <c:v>Revenue growth</c:v>
                </c:pt>
                <c:pt idx="2">
                  <c:v>COGS ratio</c:v>
                </c:pt>
                <c:pt idx="3">
                  <c:v>Personnel ratio</c:v>
                </c:pt>
                <c:pt idx="4">
                  <c:v>Other opex ratio</c:v>
                </c:pt>
                <c:pt idx="5">
                  <c:v>Leases and D&amp;A</c:v>
                </c:pt>
                <c:pt idx="6">
                  <c:v>EBIT adj. 2025A</c:v>
                </c:pt>
              </c:strCache>
            </c:strRef>
          </c:cat>
          <c:val>
            <c:numRef>
              <c:f>Sheet1!$E$2:$E$8</c:f>
              <c:numCache>
                <c:formatCode>#,##0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8.375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5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300"/>
          <c:y val="0.0600"/>
          <c:w val="0.9400"/>
          <c:h val="0.7800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Enterprise value</c:v>
                </c:pt>
                <c:pt idx="1">
                  <c:v>Net debt</c:v>
                </c:pt>
                <c:pt idx="2">
                  <c:v>Minorities</c:v>
                </c:pt>
                <c:pt idx="3">
                  <c:v>Associates</c:v>
                </c:pt>
                <c:pt idx="4">
                  <c:v>Pensions</c:v>
                </c:pt>
                <c:pt idx="5">
                  <c:v>Equity value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0</c:v>
                </c:pt>
                <c:pt idx="1">
                  <c:v>11957.859255649695</c:v>
                </c:pt>
                <c:pt idx="2">
                  <c:v>11887.859255649695</c:v>
                </c:pt>
                <c:pt idx="3">
                  <c:v>11887.859255649695</c:v>
                </c:pt>
                <c:pt idx="4">
                  <c:v>11907.859255649695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Enterprise value</c:v>
                </c:pt>
                <c:pt idx="1">
                  <c:v>Net debt</c:v>
                </c:pt>
                <c:pt idx="2">
                  <c:v>Minorities</c:v>
                </c:pt>
                <c:pt idx="3">
                  <c:v>Associates</c:v>
                </c:pt>
                <c:pt idx="4">
                  <c:v>Pensions</c:v>
                </c:pt>
                <c:pt idx="5">
                  <c:v>Equity value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12982.859255649695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11907.859255649695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7D32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Enterprise value</c:v>
                </c:pt>
                <c:pt idx="1">
                  <c:v>Net debt</c:v>
                </c:pt>
                <c:pt idx="2">
                  <c:v>Minorities</c:v>
                </c:pt>
                <c:pt idx="3">
                  <c:v>Associates</c:v>
                </c:pt>
                <c:pt idx="4">
                  <c:v>Pensions</c:v>
                </c:pt>
                <c:pt idx="5">
                  <c:v>Equity value</c:v>
                </c:pt>
              </c:strCache>
            </c:strRef>
          </c:cat>
          <c:val>
            <c:numRef>
              <c:f>Sheet1!$D$2:$D$7</c:f>
              <c:numCache>
                <c:formatCode>#,##0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40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Enterprise value</c:v>
                </c:pt>
                <c:pt idx="1">
                  <c:v>Net debt</c:v>
                </c:pt>
                <c:pt idx="2">
                  <c:v>Minorities</c:v>
                </c:pt>
                <c:pt idx="3">
                  <c:v>Associates</c:v>
                </c:pt>
                <c:pt idx="4">
                  <c:v>Pensions</c:v>
                </c:pt>
                <c:pt idx="5">
                  <c:v>Equity value</c:v>
                </c:pt>
              </c:strCache>
            </c:strRef>
          </c:cat>
          <c:val>
            <c:numRef>
              <c:f>Sheet1!$E$2:$E$7</c:f>
              <c:numCache>
                <c:formatCode>#,##0</c:formatCode>
                <c:ptCount val="6"/>
                <c:pt idx="0">
                  <c:v>0</c:v>
                </c:pt>
                <c:pt idx="1">
                  <c:v>1025</c:v>
                </c:pt>
                <c:pt idx="2">
                  <c:v>70</c:v>
                </c:pt>
                <c:pt idx="3">
                  <c:v>0</c:v>
                </c:pt>
                <c:pt idx="4">
                  <c:v>20</c:v>
                </c:pt>
                <c:pt idx="5">
                  <c:v>0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579.431106779633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300"/>
          <c:y val="0.0600"/>
          <c:w val="0.9400"/>
          <c:h val="0.7800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DCF value</c:v>
                </c:pt>
                <c:pt idx="1">
                  <c:v>Peer blend</c:v>
                </c:pt>
                <c:pt idx="2">
                  <c:v>12m roll-forward</c:v>
                </c:pt>
                <c:pt idx="3">
                  <c:v>Dividend</c:v>
                </c:pt>
                <c:pt idx="4">
                  <c:v>Target price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0</c:v>
                </c:pt>
                <c:pt idx="1">
                  <c:v>138.1469113703337</c:v>
                </c:pt>
                <c:pt idx="2">
                  <c:v>138.1469113703337</c:v>
                </c:pt>
                <c:pt idx="3">
                  <c:v>145.65250647007178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DCF value</c:v>
                </c:pt>
                <c:pt idx="1">
                  <c:v>Peer blend</c:v>
                </c:pt>
                <c:pt idx="2">
                  <c:v>12m roll-forward</c:v>
                </c:pt>
                <c:pt idx="3">
                  <c:v>Dividend</c:v>
                </c:pt>
                <c:pt idx="4">
                  <c:v>Target price</c:v>
                </c:pt>
              </c:strCache>
            </c:strRef>
          </c:cat>
          <c:val>
            <c:numRef>
              <c:f>Sheet1!$C$2:$C$6</c:f>
              <c:numCache>
                <c:formatCode>#,##0</c:formatCode>
                <c:ptCount val="5"/>
                <c:pt idx="0">
                  <c:v>139.11050532301047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145.65250647007178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2E7D32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DCF value</c:v>
                </c:pt>
                <c:pt idx="1">
                  <c:v>Peer blend</c:v>
                </c:pt>
                <c:pt idx="2">
                  <c:v>12m roll-forward</c:v>
                </c:pt>
                <c:pt idx="3">
                  <c:v>Dividend</c:v>
                </c:pt>
                <c:pt idx="4">
                  <c:v>Target price</c:v>
                </c:pt>
              </c:strCache>
            </c:strRef>
          </c:cat>
          <c:val>
            <c:numRef>
              <c:f>Sheet1!$D$2:$D$6</c:f>
              <c:numCache>
                <c:formatCode>#,##0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13.077267399492175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DCF value</c:v>
                </c:pt>
                <c:pt idx="1">
                  <c:v>Peer blend</c:v>
                </c:pt>
                <c:pt idx="2">
                  <c:v>12m roll-forward</c:v>
                </c:pt>
                <c:pt idx="3">
                  <c:v>Dividend</c:v>
                </c:pt>
                <c:pt idx="4">
                  <c:v>Target price</c:v>
                </c:pt>
              </c:strCache>
            </c:strRef>
          </c:cat>
          <c:val>
            <c:numRef>
              <c:f>Sheet1!$E$2:$E$6</c:f>
              <c:numCache>
                <c:formatCode>#,##0</c:formatCode>
                <c:ptCount val="5"/>
                <c:pt idx="0">
                  <c:v>0</c:v>
                </c:pt>
                <c:pt idx="1">
                  <c:v>0.9635939526767743</c:v>
                </c:pt>
                <c:pt idx="2">
                  <c:v>0</c:v>
                </c:pt>
                <c:pt idx="3">
                  <c:v>5.571672299754073</c:v>
                </c:pt>
                <c:pt idx="4">
                  <c:v>0</c:v>
                </c:pt>
              </c:numCache>
            </c:numRef>
          </c:val>
        </c:ser>
        <c:gapWidth val="3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2.06563308758973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4200"/>
          <c:y val="0.1000"/>
          <c:w val="0.5000"/>
          <c:h val="0.8600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Offset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52-week range</c:v>
                </c:pt>
                <c:pt idx="1">
                  <c:v>DCF (WACC ±0.5pp, g ±0.25pp)</c:v>
                </c:pt>
                <c:pt idx="2">
                  <c:v>DCF (bear – bull)</c:v>
                </c:pt>
                <c:pt idx="3">
                  <c:v>EV/EBITDA (peers 25-75th pct)</c:v>
                </c:pt>
                <c:pt idx="4">
                  <c:v>EV/EBIT (peers 25-75th pct)</c:v>
                </c:pt>
                <c:pt idx="5">
                  <c:v>P/E (peers 25-75th pct)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51.2</c:v>
                </c:pt>
                <c:pt idx="1">
                  <c:v>78.02245063583874</c:v>
                </c:pt>
                <c:pt idx="2">
                  <c:v>12.143148555295909</c:v>
                </c:pt>
                <c:pt idx="3">
                  <c:v>57.70265507126233</c:v>
                </c:pt>
                <c:pt idx="4">
                  <c:v>73.94837470984311</c:v>
                </c:pt>
                <c:pt idx="5">
                  <c:v>78.72240332927612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52-week range</c:v>
                </c:pt>
                <c:pt idx="1">
                  <c:v>DCF (WACC ±0.5pp, g ±0.25pp)</c:v>
                </c:pt>
                <c:pt idx="2">
                  <c:v>DCF (bear – bull)</c:v>
                </c:pt>
                <c:pt idx="3">
                  <c:v>EV/EBITDA (peers 25-75th pct)</c:v>
                </c:pt>
                <c:pt idx="4">
                  <c:v>EV/EBIT (peers 25-75th pct)</c:v>
                </c:pt>
                <c:pt idx="5">
                  <c:v>P/E (peers 25-75th pct)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33.39999999999999</c:v>
                </c:pt>
                <c:pt idx="1">
                  <c:v>24.60427072386753</c:v>
                </c:pt>
                <c:pt idx="2">
                  <c:v>139.34750844043876</c:v>
                </c:pt>
                <c:pt idx="3">
                  <c:v>35.60256953853839</c:v>
                </c:pt>
                <c:pt idx="4">
                  <c:v>31.4502767377642</c:v>
                </c:pt>
                <c:pt idx="5">
                  <c:v>29.395171294346625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6.63972269530814"/>
          <c:min val="0.0"/>
        </c:scaling>
        <c:delete val="0"/>
        <c:axPos val="b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max"/>
      </c:valAx>
    </c:plotArea>
    <c:dispBlanksAs val="gap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300"/>
          <c:y val="0.0600"/>
          <c:w val="0.9400"/>
          <c:h val="0.7800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DCF value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dPt>
            <c:idx val="0"/>
            <c:invertIfNegative val="0"/>
            <c:spPr>
              <a:solidFill>
                <a:srgbClr val="C00000"/>
              </a:solidFill>
            </c:spPr>
          </c:dPt>
          <c:dPt>
            <c:idx val="1"/>
            <c:invertIfNegative val="0"/>
            <c:spPr>
              <a:solidFill>
                <a:srgbClr val="003255"/>
              </a:solidFill>
            </c:spPr>
          </c:dPt>
          <c:dPt>
            <c:idx val="2"/>
            <c:invertIfNegative val="0"/>
            <c:spPr>
              <a:solidFill>
                <a:srgbClr val="2E7D32"/>
              </a:solidFill>
            </c:spPr>
          </c:dPt>
          <c:cat>
            <c:strRef>
              <c:f>Sheet1!$A$2:$A$4</c:f>
              <c:strCache>
                <c:ptCount val="3"/>
                <c:pt idx="0">
                  <c:v>Bear</c:v>
                </c:pt>
                <c:pt idx="1">
                  <c:v>Base</c:v>
                </c:pt>
                <c:pt idx="2">
                  <c:v>Bull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62.14314855529591</c:v>
                </c:pt>
                <c:pt idx="1">
                  <c:v>139.11050532301047</c:v>
                </c:pt>
                <c:pt idx="2">
                  <c:v>201.49065699573467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1.9378540944551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003255"/>
            </a:solidFill>
          </c:spPr>
          <c:dPt>
            <c:idx val="0"/>
            <c:spPr>
              <a:solidFill>
                <a:srgbClr val="81B0C0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003255"/>
              </a:solidFill>
              <a:ln>
                <a:solidFill>
                  <a:srgbClr val="FFFFFF"/>
                </a:solidFill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900" b="1">
                      <a:solidFill>
                        <a:srgbClr val="003255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900" b="1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Forecast period</c:v>
                </c:pt>
                <c:pt idx="1">
                  <c:v>Terminal value</c:v>
                </c:pt>
              </c:strCache>
            </c:strRef>
          </c:cat>
          <c:val>
            <c:numRef>
              <c:f>Sheet1!$B$2:$B$3</c:f>
              <c:numCache>
                <c:formatCode>0%</c:formatCode>
                <c:ptCount val="2"/>
                <c:pt idx="0">
                  <c:v>0.35986513627741773</c:v>
                </c:pt>
                <c:pt idx="1">
                  <c:v>0.6401348637225822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9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5"/>
      </c:doughnutChart>
    </c:plotArea>
    <c:plotVisOnly val="1"/>
    <c:dispBlanksAs val="gap"/>
    <c:showDLblsOverMax val="0"/>
  </c:chart>
  <c:txPr>
    <a:bodyPr/>
    <a:lstStyle/>
    <a:p>
      <a:pPr>
        <a:defRPr sz="900">
          <a:solidFill>
            <a:srgbClr val="1F1F1F"/>
          </a:solidFill>
          <a:latin typeface="Arial"/>
        </a:defRPr>
      </a:pPr>
      <a:endParaRPr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Present value (NOKm)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dPt>
            <c:idx val="0"/>
            <c:invertIfNegative val="0"/>
            <c:spPr>
              <a:solidFill>
                <a:srgbClr val="81B0C0"/>
              </a:solidFill>
            </c:spPr>
          </c:dPt>
          <c:dPt>
            <c:idx val="1"/>
            <c:invertIfNegative val="0"/>
            <c:spPr>
              <a:solidFill>
                <a:srgbClr val="81B0C0"/>
              </a:solidFill>
            </c:spPr>
          </c:dPt>
          <c:dPt>
            <c:idx val="2"/>
            <c:invertIfNegative val="0"/>
            <c:spPr>
              <a:solidFill>
                <a:srgbClr val="81B0C0"/>
              </a:solidFill>
            </c:spPr>
          </c:dPt>
          <c:dPt>
            <c:idx val="3"/>
            <c:invertIfNegative val="0"/>
            <c:spPr>
              <a:solidFill>
                <a:srgbClr val="81B0C0"/>
              </a:solidFill>
            </c:spPr>
          </c:dPt>
          <c:dPt>
            <c:idx val="4"/>
            <c:invertIfNegative val="0"/>
            <c:spPr>
              <a:solidFill>
                <a:srgbClr val="81B0C0"/>
              </a:solidFill>
            </c:spPr>
          </c:dPt>
          <c:dPt>
            <c:idx val="5"/>
            <c:invertIfNegative val="0"/>
            <c:spPr>
              <a:solidFill>
                <a:srgbClr val="81B0C0"/>
              </a:solidFill>
            </c:spPr>
          </c:dPt>
          <c:dPt>
            <c:idx val="6"/>
            <c:invertIfNegative val="0"/>
            <c:spPr>
              <a:solidFill>
                <a:srgbClr val="81B0C0"/>
              </a:solidFill>
            </c:spPr>
          </c:dPt>
          <c:dPt>
            <c:idx val="7"/>
            <c:invertIfNegative val="0"/>
            <c:spPr>
              <a:solidFill>
                <a:srgbClr val="81B0C0"/>
              </a:solidFill>
            </c:spPr>
          </c:dPt>
          <c:dPt>
            <c:idx val="8"/>
            <c:invertIfNegative val="0"/>
            <c:spPr>
              <a:solidFill>
                <a:srgbClr val="003255"/>
              </a:solidFill>
            </c:spPr>
          </c:dPt>
          <c:cat>
            <c:strRef>
              <c:f>Sheet1!$A$2:$A$10</c:f>
              <c:strCache>
                <c:ptCount val="9"/>
                <c:pt idx="0">
                  <c:v>2026E</c:v>
                </c:pt>
                <c:pt idx="1">
                  <c:v>2027E</c:v>
                </c:pt>
                <c:pt idx="2">
                  <c:v>2028E</c:v>
                </c:pt>
                <c:pt idx="3">
                  <c:v>2029E</c:v>
                </c:pt>
                <c:pt idx="4">
                  <c:v>2030E</c:v>
                </c:pt>
                <c:pt idx="5">
                  <c:v>2031E</c:v>
                </c:pt>
                <c:pt idx="6">
                  <c:v>2032E</c:v>
                </c:pt>
                <c:pt idx="7">
                  <c:v>2033E</c:v>
                </c:pt>
                <c:pt idx="8">
                  <c:v>TV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175.07836080648602</c:v>
                </c:pt>
                <c:pt idx="1">
                  <c:v>623.293491335935</c:v>
                </c:pt>
                <c:pt idx="2">
                  <c:v>630.8282473906514</c:v>
                </c:pt>
                <c:pt idx="3">
                  <c:v>649.6675554110203</c:v>
                </c:pt>
                <c:pt idx="4">
                  <c:v>659.4764927566624</c:v>
                </c:pt>
                <c:pt idx="5">
                  <c:v>659.4325215927441</c:v>
                </c:pt>
                <c:pt idx="6">
                  <c:v>651.255436293736</c:v>
                </c:pt>
                <c:pt idx="7">
                  <c:v>623.0463097176757</c:v>
                </c:pt>
                <c:pt idx="8">
                  <c:v>8310.780840344783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3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>
        <c:manualLayout>
          <c:layoutTarget val="inner"/>
          <c:xMode val="edge"/>
          <c:yMode val="edge"/>
          <c:x val="0.1000"/>
          <c:y val="0.0500"/>
          <c:w val="0.8600"/>
          <c:h val="0.7400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Peers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9"/>
            <c:spPr>
              <a:solidFill>
                <a:srgbClr val="81B0C0"/>
              </a:solidFill>
              <a:ln>
                <a:noFill/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B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C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D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F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G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H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Sheet1!$A$2:$A$9</c:f>
              <c:numCache>
                <c:formatCode>General</c:formatCode>
                <c:ptCount val="8"/>
                <c:pt idx="0">
                  <c:v>0.152</c:v>
                </c:pt>
                <c:pt idx="1">
                  <c:v>0.146</c:v>
                </c:pt>
                <c:pt idx="2">
                  <c:v>0.128</c:v>
                </c:pt>
                <c:pt idx="3">
                  <c:v>0.112</c:v>
                </c:pt>
                <c:pt idx="4">
                  <c:v>0.171</c:v>
                </c:pt>
                <c:pt idx="5">
                  <c:v>0.158</c:v>
                </c:pt>
                <c:pt idx="6">
                  <c:v>0.137</c:v>
                </c:pt>
                <c:pt idx="7">
                  <c:v>0.121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13.6</c:v>
                </c:pt>
                <c:pt idx="1">
                  <c:v>12.9</c:v>
                </c:pt>
                <c:pt idx="2">
                  <c:v>11.6</c:v>
                </c:pt>
                <c:pt idx="3">
                  <c:v>10.6</c:v>
                </c:pt>
                <c:pt idx="4">
                  <c:v>15.6</c:v>
                </c:pt>
                <c:pt idx="5">
                  <c:v>14.5</c:v>
                </c:pt>
                <c:pt idx="6">
                  <c:v>12.4</c:v>
                </c:pt>
                <c:pt idx="7">
                  <c:v>11.3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Company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11"/>
            <c:spPr>
              <a:solidFill>
                <a:srgbClr val="003255"/>
              </a:solidFill>
              <a:ln>
                <a:noFill/>
              </a:ln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sz="750" b="1">
                        <a:solidFill>
                          <a:srgbClr val="003255"/>
                        </a:solidFill>
                        <a:latin typeface="Arial"/>
                      </a:rPr>
                      <a:t>Example Company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Sheet1!$A$12:$A$12</c:f>
              <c:numCache>
                <c:formatCode>General</c:formatCode>
                <c:ptCount val="1"/>
                <c:pt idx="0">
                  <c:v>0.1923943977081214</c:v>
                </c:pt>
              </c:numCache>
            </c:numRef>
          </c:xVal>
          <c:yVal>
            <c:numRef>
              <c:f>Sheet1!$B$12:$B$12</c:f>
              <c:numCache>
                <c:formatCode>General</c:formatCode>
                <c:ptCount val="1"/>
                <c:pt idx="0">
                  <c:v>11.319975277441578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0.22"/>
          <c:min val="0.08"/>
        </c:scaling>
        <c:delete val="0"/>
        <c:axPos val="b"/>
        <c:title>
          <c:tx>
            <c:rich>
              <a:bodyPr/>
              <a:lstStyle/>
              <a:p>
                <a:r>
                  <a:rPr sz="800" b="0">
                    <a:latin typeface="Arial"/>
                  </a:rPr>
                  <a:t>EBIT margin 2027E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nextTo"/>
        <c:spPr>
          <a:ln>
            <a:solidFill>
              <a:srgbClr val="BFC5C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8.0"/>
          <c:min val="8.0"/>
        </c:scaling>
        <c:delete val="0"/>
        <c:axPos val="l"/>
        <c:title>
          <c:tx>
            <c:rich>
              <a:bodyPr/>
              <a:lstStyle/>
              <a:p>
                <a:r>
                  <a:rPr sz="800" b="0">
                    <a:latin typeface="Arial"/>
                  </a:rPr>
                  <a:t>EV/EBIT 2027E</a:t>
                </a:r>
              </a:p>
            </c:rich>
          </c:tx>
          <c:layout/>
          <c:overlay val="0"/>
        </c:title>
        <c:numFmt formatCode="0&quot;x&quot;" sourceLinked="0"/>
        <c:majorTickMark val="none"/>
        <c:minorTickMark val="none"/>
        <c:tickLblPos val="nextTo"/>
        <c:spPr>
          <a:ln>
            <a:solidFill>
              <a:srgbClr val="BFC5C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289408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800">
          <a:latin typeface="Arial"/>
        </a:defRPr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layout>
        <c:manualLayout>
          <c:layoutTarget val="inner"/>
          <c:xMode val="edge"/>
          <c:yMode val="edge"/>
          <c:x val="0.1000"/>
          <c:y val="0.0500"/>
          <c:w val="0.8600"/>
          <c:h val="0.7400"/>
        </c:manualLayout>
      </c:layout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Peers</c:v>
                </c:pt>
              </c:strCache>
            </c:strRef>
          </c:tx>
          <c:spPr>
            <a:solidFill>
              <a:srgbClr val="81B0C0"/>
            </a:solidFill>
            <a:ln>
              <a:solidFill>
                <a:srgbClr val="FFFF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A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B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C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D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F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G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rPr sz="750" b="0">
                        <a:solidFill>
                          <a:srgbClr val="1F1F1F"/>
                        </a:solidFill>
                        <a:latin typeface="Arial"/>
                      </a:rPr>
                      <a:t>Peer H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Sheet1!$A$2:$A$9</c:f>
              <c:numCache>
                <c:formatCode>General</c:formatCode>
                <c:ptCount val="8"/>
                <c:pt idx="0">
                  <c:v>0.071</c:v>
                </c:pt>
                <c:pt idx="1">
                  <c:v>0.058</c:v>
                </c:pt>
                <c:pt idx="2">
                  <c:v>0.049</c:v>
                </c:pt>
                <c:pt idx="3">
                  <c:v>0.041</c:v>
                </c:pt>
                <c:pt idx="4">
                  <c:v>0.083</c:v>
                </c:pt>
                <c:pt idx="5">
                  <c:v>0.064</c:v>
                </c:pt>
                <c:pt idx="6">
                  <c:v>0.052</c:v>
                </c:pt>
                <c:pt idx="7">
                  <c:v>0.046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0.152</c:v>
                </c:pt>
                <c:pt idx="1">
                  <c:v>0.146</c:v>
                </c:pt>
                <c:pt idx="2">
                  <c:v>0.128</c:v>
                </c:pt>
                <c:pt idx="3">
                  <c:v>0.112</c:v>
                </c:pt>
                <c:pt idx="4">
                  <c:v>0.171</c:v>
                </c:pt>
                <c:pt idx="5">
                  <c:v>0.158</c:v>
                </c:pt>
                <c:pt idx="6">
                  <c:v>0.137</c:v>
                </c:pt>
                <c:pt idx="7">
                  <c:v>0.121</c:v>
                </c:pt>
              </c:numCache>
            </c:numRef>
          </c:yVal>
          <c:bubbleSize>
            <c:numRef>
              <c:f>Sheet1!$C$2:$C$9</c:f>
              <c:numCache>
                <c:formatCode>General</c:formatCode>
                <c:ptCount val="8"/>
                <c:pt idx="0">
                  <c:v>18500</c:v>
                </c:pt>
                <c:pt idx="1">
                  <c:v>24300</c:v>
                </c:pt>
                <c:pt idx="2">
                  <c:v>9800</c:v>
                </c:pt>
                <c:pt idx="3">
                  <c:v>6400</c:v>
                </c:pt>
                <c:pt idx="4">
                  <c:v>31200</c:v>
                </c:pt>
                <c:pt idx="5">
                  <c:v>42000</c:v>
                </c:pt>
                <c:pt idx="6">
                  <c:v>27700</c:v>
                </c:pt>
                <c:pt idx="7">
                  <c:v>15100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Company</c:v>
                </c:pt>
              </c:strCache>
            </c:strRef>
          </c:tx>
          <c:spPr>
            <a:solidFill>
              <a:srgbClr val="003255"/>
            </a:solidFill>
            <a:ln>
              <a:solidFill>
                <a:srgbClr val="FFFF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750" b="1">
                        <a:solidFill>
                          <a:srgbClr val="003255"/>
                        </a:solidFill>
                        <a:latin typeface="Arial"/>
                      </a:rPr>
                      <a:t>Example Company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Sheet1!$A$12:$A$12</c:f>
              <c:numCache>
                <c:formatCode>General</c:formatCode>
                <c:ptCount val="1"/>
                <c:pt idx="0">
                  <c:v>0.062411247599599706</c:v>
                </c:pt>
              </c:numCache>
            </c:numRef>
          </c:xVal>
          <c:yVal>
            <c:numRef>
              <c:f>Sheet1!$B$12:$B$12</c:f>
              <c:numCache>
                <c:formatCode>General</c:formatCode>
                <c:ptCount val="1"/>
                <c:pt idx="0">
                  <c:v>0.1923943977081214</c:v>
                </c:pt>
              </c:numCache>
            </c:numRef>
          </c:yVal>
          <c:bubbleSize>
            <c:numRef>
              <c:f>Sheet1!$C$12:$C$12</c:f>
              <c:numCache>
                <c:formatCode>General</c:formatCode>
                <c:ptCount val="1"/>
                <c:pt idx="0">
                  <c:v>10370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70"/>
        <c:showNegBubbles val="0"/>
        <c:axId val="-2115720072"/>
        <c:axId val="-2115723560"/>
      </c:bubbleChart>
      <c:valAx>
        <c:axId val="-2115720072"/>
        <c:scaling>
          <c:orientation val="minMax"/>
          <c:max val="0.1"/>
          <c:min val="0.03"/>
        </c:scaling>
        <c:delete val="0"/>
        <c:axPos val="b"/>
        <c:title>
          <c:tx>
            <c:rich>
              <a:bodyPr/>
              <a:lstStyle/>
              <a:p>
                <a:r>
                  <a:rPr sz="800" b="0">
                    <a:latin typeface="Arial"/>
                  </a:rPr>
                  <a:t>Revenue growth 2027E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nextTo"/>
        <c:spPr>
          <a:ln>
            <a:solidFill>
              <a:srgbClr val="BFC5C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0.23"/>
          <c:min val="0.08"/>
        </c:scaling>
        <c:delete val="0"/>
        <c:axPos val="l"/>
        <c:title>
          <c:tx>
            <c:rich>
              <a:bodyPr/>
              <a:lstStyle/>
              <a:p>
                <a:r>
                  <a:rPr sz="800" b="0">
                    <a:latin typeface="Arial"/>
                  </a:rPr>
                  <a:t>EBIT margin 2027E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nextTo"/>
        <c:spPr>
          <a:ln>
            <a:solidFill>
              <a:srgbClr val="BFC5C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57200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800">
          <a:latin typeface="Arial"/>
        </a:defRPr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Premium / (discount)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dPt>
            <c:idx val="0"/>
            <c:invertIfNegative val="0"/>
            <c:spPr>
              <a:solidFill>
                <a:srgbClr val="C00000"/>
              </a:solidFill>
            </c:spPr>
          </c:dPt>
          <c:dPt>
            <c:idx val="1"/>
            <c:invertIfNegative val="0"/>
            <c:spPr>
              <a:solidFill>
                <a:srgbClr val="C00000"/>
              </a:solidFill>
            </c:spPr>
          </c:dPt>
          <c:dPt>
            <c:idx val="2"/>
            <c:invertIfNegative val="0"/>
            <c:spPr>
              <a:solidFill>
                <a:srgbClr val="C00000"/>
              </a:solidFill>
            </c:spPr>
          </c:dPt>
          <c:dPt>
            <c:idx val="3"/>
            <c:invertIfNegative val="0"/>
            <c:spPr>
              <a:solidFill>
                <a:srgbClr val="C00000"/>
              </a:solidFill>
            </c:spPr>
          </c:dPt>
          <c:dPt>
            <c:idx val="4"/>
            <c:invertIfNegative val="0"/>
            <c:spPr>
              <a:solidFill>
                <a:srgbClr val="C00000"/>
              </a:solidFill>
            </c:spPr>
          </c:dPt>
          <c:dPt>
            <c:idx val="5"/>
            <c:invertIfNegative val="0"/>
            <c:spPr>
              <a:solidFill>
                <a:srgbClr val="C00000"/>
              </a:solidFill>
            </c:spPr>
          </c:dPt>
          <c:cat>
            <c:strRef>
              <c:f>Sheet1!$A$2:$A$7</c:f>
              <c:strCache>
                <c:ptCount val="6"/>
                <c:pt idx="0">
                  <c:v>EV/EBITDA 2026E</c:v>
                </c:pt>
                <c:pt idx="1">
                  <c:v>EV/EBITDA 2027E</c:v>
                </c:pt>
                <c:pt idx="2">
                  <c:v>EV/EBIT 2026E</c:v>
                </c:pt>
                <c:pt idx="3">
                  <c:v>EV/EBIT 2027E</c:v>
                </c:pt>
                <c:pt idx="4">
                  <c:v>P/E 2026E</c:v>
                </c:pt>
                <c:pt idx="5">
                  <c:v>P/E 2027E</c:v>
                </c:pt>
              </c:strCache>
            </c:strRef>
          </c:cat>
          <c:val>
            <c:numRef>
              <c:f>Sheet1!$B$2:$B$7</c:f>
              <c:numCache>
                <c:formatCode>0%;-0%</c:formatCode>
                <c:ptCount val="6"/>
                <c:pt idx="0">
                  <c:v>-0.02037564836959782</c:v>
                </c:pt>
                <c:pt idx="1">
                  <c:v>-0.02249427674738813</c:v>
                </c:pt>
                <c:pt idx="2">
                  <c:v>-0.12510957461273853</c:v>
                </c:pt>
                <c:pt idx="3">
                  <c:v>-0.105140294273393</c:v>
                </c:pt>
                <c:pt idx="4">
                  <c:v>-0.1451825400835245</c:v>
                </c:pt>
                <c:pt idx="5">
                  <c:v>-0.1507551999046174</c:v>
                </c:pt>
              </c:numCache>
            </c:numRef>
          </c:val>
        </c:ser>
        <c:dLbls>
          <c:numFmt formatCode="0%;-0%" sourceLinked="0"/>
          <c:txPr>
            <a:bodyPr/>
            <a:lstStyle/>
            <a:p>
              <a:pPr>
                <a:defRPr sz="7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high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"/>
          <c:min val="-0.25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5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Company</c:v>
                </c:pt>
              </c:strCache>
            </c:strRef>
          </c:tx>
          <c:spPr>
            <a:ln w="25400">
              <a:solidFill>
                <a:srgbClr val="003255"/>
              </a:solidFill>
            </a:ln>
          </c:spPr>
          <c:marker>
            <c:symbol val="circle"/>
            <c:size val="5"/>
            <c:spPr>
              <a:solidFill>
                <a:srgbClr val="003255"/>
              </a:solidFill>
              <a:ln>
                <a:noFill/>
              </a:ln>
            </c:spPr>
          </c:marker>
          <c:cat>
            <c:strRef>
              <c:f>Sheet1!$A$2:$A$7</c:f>
              <c:strCache>
                <c:ptCount val="6"/>
                <c:pt idx="0">
                  <c:v>Growth</c:v>
                </c:pt>
                <c:pt idx="1">
                  <c:v>EBIT margin</c:v>
                </c:pt>
                <c:pt idx="2">
                  <c:v>ROIC</c:v>
                </c:pt>
                <c:pt idx="3">
                  <c:v>Cash conversion</c:v>
                </c:pt>
                <c:pt idx="4">
                  <c:v>Balance sheet</c:v>
                </c:pt>
                <c:pt idx="5">
                  <c:v>Valuation (cheapness)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113</c:v>
                </c:pt>
                <c:pt idx="1">
                  <c:v>136</c:v>
                </c:pt>
                <c:pt idx="2">
                  <c:v>136</c:v>
                </c:pt>
                <c:pt idx="3">
                  <c:v>90</c:v>
                </c:pt>
                <c:pt idx="4">
                  <c:v>125</c:v>
                </c:pt>
                <c:pt idx="5">
                  <c:v>112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ln w="19050">
              <a:solidFill>
                <a:srgbClr val="81B0C0"/>
              </a:solidFill>
            </a:ln>
          </c:spPr>
          <c:marker>
            <c:symbol val="circle"/>
            <c:size val="5"/>
            <c:spPr>
              <a:solidFill>
                <a:srgbClr val="81B0C0"/>
              </a:solidFill>
              <a:ln>
                <a:noFill/>
              </a:ln>
            </c:spPr>
          </c:marker>
          <c:cat>
            <c:strRef>
              <c:f>Sheet1!$A$2:$A$7</c:f>
              <c:strCache>
                <c:ptCount val="6"/>
                <c:pt idx="0">
                  <c:v>Growth</c:v>
                </c:pt>
                <c:pt idx="1">
                  <c:v>EBIT margin</c:v>
                </c:pt>
                <c:pt idx="2">
                  <c:v>ROIC</c:v>
                </c:pt>
                <c:pt idx="3">
                  <c:v>Cash conversion</c:v>
                </c:pt>
                <c:pt idx="4">
                  <c:v>Balance sheet</c:v>
                </c:pt>
                <c:pt idx="5">
                  <c:v>Valuation (cheapness)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  <c:max val="160.0"/>
          <c:min val="0.0"/>
        </c:scaling>
        <c:delete val="0"/>
        <c:axPos val="l"/>
        <c:majorGridlines>
          <c:spPr>
            <a:ln>
              <a:solidFill>
                <a:srgbClr val="D5DADF"/>
              </a:solidFill>
            </a:ln>
          </c:spPr>
        </c:majorGridlines>
        <c:numFmt formatCode="General" sourceLinked="1"/>
        <c:majorTickMark val="cross"/>
        <c:minorTickMark val="none"/>
        <c:tickLblPos val="none"/>
        <c:spPr>
          <a:ln>
            <a:noFill/>
          </a:ln>
        </c:spPr>
        <c:crossAx val="2073612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750">
          <a:latin typeface="Arial"/>
        </a:defRPr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600"/>
          <c:y val="0.0400"/>
          <c:w val="0.8000"/>
          <c:h val="0.8400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EXMPL</c:v>
                </c:pt>
              </c:strCache>
            </c:strRef>
          </c:tx>
          <c:spPr>
            <a:ln w="25400">
              <a:solidFill>
                <a:srgbClr val="003255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Sep-24</c:v>
                </c:pt>
                <c:pt idx="1">
                  <c:v>Sep-24</c:v>
                </c:pt>
                <c:pt idx="2">
                  <c:v>Sep-24</c:v>
                </c:pt>
                <c:pt idx="3">
                  <c:v>Sep-24</c:v>
                </c:pt>
                <c:pt idx="4">
                  <c:v>Sep-24</c:v>
                </c:pt>
                <c:pt idx="5">
                  <c:v>Oct-24</c:v>
                </c:pt>
                <c:pt idx="6">
                  <c:v>Oct-24</c:v>
                </c:pt>
                <c:pt idx="7">
                  <c:v>Oct-24</c:v>
                </c:pt>
                <c:pt idx="8">
                  <c:v>Oct-24</c:v>
                </c:pt>
                <c:pt idx="9">
                  <c:v>Nov-24</c:v>
                </c:pt>
                <c:pt idx="10">
                  <c:v>Nov-24</c:v>
                </c:pt>
                <c:pt idx="11">
                  <c:v>Nov-24</c:v>
                </c:pt>
                <c:pt idx="12">
                  <c:v>Nov-24</c:v>
                </c:pt>
                <c:pt idx="13">
                  <c:v>Dec-24</c:v>
                </c:pt>
                <c:pt idx="14">
                  <c:v>Dec-24</c:v>
                </c:pt>
                <c:pt idx="15">
                  <c:v>Dec-24</c:v>
                </c:pt>
                <c:pt idx="16">
                  <c:v>Dec-24</c:v>
                </c:pt>
                <c:pt idx="17">
                  <c:v>Dec-24</c:v>
                </c:pt>
                <c:pt idx="18">
                  <c:v>Jan-25</c:v>
                </c:pt>
                <c:pt idx="19">
                  <c:v>Jan-25</c:v>
                </c:pt>
                <c:pt idx="20">
                  <c:v>Jan-25</c:v>
                </c:pt>
                <c:pt idx="21">
                  <c:v>Jan-25</c:v>
                </c:pt>
                <c:pt idx="22">
                  <c:v>Feb-25</c:v>
                </c:pt>
                <c:pt idx="23">
                  <c:v>Feb-25</c:v>
                </c:pt>
                <c:pt idx="24">
                  <c:v>Feb-25</c:v>
                </c:pt>
                <c:pt idx="25">
                  <c:v>Feb-25</c:v>
                </c:pt>
                <c:pt idx="26">
                  <c:v>Mar-25</c:v>
                </c:pt>
                <c:pt idx="27">
                  <c:v>Mar-25</c:v>
                </c:pt>
                <c:pt idx="28">
                  <c:v>Mar-25</c:v>
                </c:pt>
                <c:pt idx="29">
                  <c:v>Mar-25</c:v>
                </c:pt>
                <c:pt idx="30">
                  <c:v>Mar-25</c:v>
                </c:pt>
                <c:pt idx="31">
                  <c:v>Apr-25</c:v>
                </c:pt>
                <c:pt idx="32">
                  <c:v>Apr-25</c:v>
                </c:pt>
                <c:pt idx="33">
                  <c:v>Apr-25</c:v>
                </c:pt>
                <c:pt idx="34">
                  <c:v>Apr-25</c:v>
                </c:pt>
                <c:pt idx="35">
                  <c:v>May-25</c:v>
                </c:pt>
                <c:pt idx="36">
                  <c:v>May-25</c:v>
                </c:pt>
                <c:pt idx="37">
                  <c:v>May-25</c:v>
                </c:pt>
                <c:pt idx="38">
                  <c:v>May-25</c:v>
                </c:pt>
                <c:pt idx="39">
                  <c:v>Jun-25</c:v>
                </c:pt>
                <c:pt idx="40">
                  <c:v>Jun-25</c:v>
                </c:pt>
                <c:pt idx="41">
                  <c:v>Jun-25</c:v>
                </c:pt>
                <c:pt idx="42">
                  <c:v>Jun-25</c:v>
                </c:pt>
                <c:pt idx="43">
                  <c:v>Jun-25</c:v>
                </c:pt>
                <c:pt idx="44">
                  <c:v>Jul-25</c:v>
                </c:pt>
                <c:pt idx="45">
                  <c:v>Jul-25</c:v>
                </c:pt>
                <c:pt idx="46">
                  <c:v>Jul-25</c:v>
                </c:pt>
                <c:pt idx="47">
                  <c:v>Jul-25</c:v>
                </c:pt>
                <c:pt idx="48">
                  <c:v>Aug-25</c:v>
                </c:pt>
                <c:pt idx="49">
                  <c:v>Aug-25</c:v>
                </c:pt>
                <c:pt idx="50">
                  <c:v>Aug-25</c:v>
                </c:pt>
                <c:pt idx="51">
                  <c:v>Aug-25</c:v>
                </c:pt>
                <c:pt idx="52">
                  <c:v>Sep-25</c:v>
                </c:pt>
                <c:pt idx="53">
                  <c:v>Sep-25</c:v>
                </c:pt>
                <c:pt idx="54">
                  <c:v>Sep-25</c:v>
                </c:pt>
                <c:pt idx="55">
                  <c:v>Sep-25</c:v>
                </c:pt>
                <c:pt idx="56">
                  <c:v>Sep-25</c:v>
                </c:pt>
                <c:pt idx="57">
                  <c:v>Oct-25</c:v>
                </c:pt>
                <c:pt idx="58">
                  <c:v>Oct-25</c:v>
                </c:pt>
                <c:pt idx="59">
                  <c:v>Oct-25</c:v>
                </c:pt>
                <c:pt idx="60">
                  <c:v>Oct-25</c:v>
                </c:pt>
                <c:pt idx="61">
                  <c:v>Nov-25</c:v>
                </c:pt>
                <c:pt idx="62">
                  <c:v>Nov-25</c:v>
                </c:pt>
                <c:pt idx="63">
                  <c:v>Nov-25</c:v>
                </c:pt>
                <c:pt idx="64">
                  <c:v>Nov-25</c:v>
                </c:pt>
                <c:pt idx="65">
                  <c:v>Dec-25</c:v>
                </c:pt>
                <c:pt idx="66">
                  <c:v>Dec-25</c:v>
                </c:pt>
                <c:pt idx="67">
                  <c:v>Dec-25</c:v>
                </c:pt>
                <c:pt idx="68">
                  <c:v>Dec-25</c:v>
                </c:pt>
                <c:pt idx="69">
                  <c:v>Dec-25</c:v>
                </c:pt>
                <c:pt idx="70">
                  <c:v>Jan-26</c:v>
                </c:pt>
                <c:pt idx="71">
                  <c:v>Jan-26</c:v>
                </c:pt>
                <c:pt idx="72">
                  <c:v>Jan-26</c:v>
                </c:pt>
                <c:pt idx="73">
                  <c:v>Jan-26</c:v>
                </c:pt>
                <c:pt idx="74">
                  <c:v>Feb-26</c:v>
                </c:pt>
                <c:pt idx="75">
                  <c:v>Feb-26</c:v>
                </c:pt>
                <c:pt idx="76">
                  <c:v>Feb-26</c:v>
                </c:pt>
                <c:pt idx="77">
                  <c:v>Feb-26</c:v>
                </c:pt>
                <c:pt idx="78">
                  <c:v>Mar-26</c:v>
                </c:pt>
                <c:pt idx="79">
                  <c:v>Mar-26</c:v>
                </c:pt>
                <c:pt idx="80">
                  <c:v>Mar-26</c:v>
                </c:pt>
                <c:pt idx="81">
                  <c:v>Mar-26</c:v>
                </c:pt>
                <c:pt idx="82">
                  <c:v>Mar-26</c:v>
                </c:pt>
                <c:pt idx="83">
                  <c:v>Apr-26</c:v>
                </c:pt>
                <c:pt idx="84">
                  <c:v>Apr-26</c:v>
                </c:pt>
                <c:pt idx="85">
                  <c:v>Apr-26</c:v>
                </c:pt>
                <c:pt idx="86">
                  <c:v>Apr-26</c:v>
                </c:pt>
                <c:pt idx="87">
                  <c:v>May-26</c:v>
                </c:pt>
                <c:pt idx="88">
                  <c:v>May-26</c:v>
                </c:pt>
                <c:pt idx="89">
                  <c:v>May-26</c:v>
                </c:pt>
                <c:pt idx="90">
                  <c:v>May-26</c:v>
                </c:pt>
                <c:pt idx="91">
                  <c:v>Jun-26</c:v>
                </c:pt>
                <c:pt idx="92">
                  <c:v>Jun-26</c:v>
                </c:pt>
                <c:pt idx="93">
                  <c:v>Jun-26</c:v>
                </c:pt>
                <c:pt idx="94">
                  <c:v>Jun-26</c:v>
                </c:pt>
                <c:pt idx="95">
                  <c:v>Jun-26</c:v>
                </c:pt>
                <c:pt idx="96">
                  <c:v>Jul-26</c:v>
                </c:pt>
                <c:pt idx="97">
                  <c:v>Jul-26</c:v>
                </c:pt>
                <c:pt idx="98">
                  <c:v>Jul-26</c:v>
                </c:pt>
                <c:pt idx="99">
                  <c:v>Jul-26</c:v>
                </c:pt>
                <c:pt idx="100">
                  <c:v>Aug-26</c:v>
                </c:pt>
                <c:pt idx="101">
                  <c:v>Aug-26</c:v>
                </c:pt>
                <c:pt idx="102">
                  <c:v>Aug-26</c:v>
                </c:pt>
                <c:pt idx="103">
                  <c:v>Aug-26</c:v>
                </c:pt>
                <c:pt idx="104">
                  <c:v>Sep-26</c:v>
                </c:pt>
              </c:strCache>
            </c:strRef>
          </c:cat>
          <c:val>
            <c:numRef>
              <c:f>Sheet1!$B$2:$B$106</c:f>
              <c:numCache>
                <c:formatCode>0</c:formatCode>
                <c:ptCount val="105"/>
                <c:pt idx="0">
                  <c:v>96.5</c:v>
                </c:pt>
                <c:pt idx="1">
                  <c:v>98.2</c:v>
                </c:pt>
                <c:pt idx="2">
                  <c:v>98.1</c:v>
                </c:pt>
                <c:pt idx="3">
                  <c:v>100.7</c:v>
                </c:pt>
                <c:pt idx="4">
                  <c:v>103.9</c:v>
                </c:pt>
                <c:pt idx="5">
                  <c:v>105.1</c:v>
                </c:pt>
                <c:pt idx="6">
                  <c:v>103.6</c:v>
                </c:pt>
                <c:pt idx="7">
                  <c:v>101.0</c:v>
                </c:pt>
                <c:pt idx="8">
                  <c:v>102.8</c:v>
                </c:pt>
                <c:pt idx="9">
                  <c:v>102.1</c:v>
                </c:pt>
                <c:pt idx="10">
                  <c:v>102.4</c:v>
                </c:pt>
                <c:pt idx="11">
                  <c:v>103.0</c:v>
                </c:pt>
                <c:pt idx="12">
                  <c:v>102.4</c:v>
                </c:pt>
                <c:pt idx="13">
                  <c:v>107.2</c:v>
                </c:pt>
                <c:pt idx="14">
                  <c:v>107.9</c:v>
                </c:pt>
                <c:pt idx="15">
                  <c:v>112.9</c:v>
                </c:pt>
                <c:pt idx="16">
                  <c:v>111.6</c:v>
                </c:pt>
                <c:pt idx="17">
                  <c:v>108.3</c:v>
                </c:pt>
                <c:pt idx="18">
                  <c:v>110.1</c:v>
                </c:pt>
                <c:pt idx="19">
                  <c:v>108.1</c:v>
                </c:pt>
                <c:pt idx="20">
                  <c:v>109.9</c:v>
                </c:pt>
                <c:pt idx="21">
                  <c:v>109.2</c:v>
                </c:pt>
                <c:pt idx="22">
                  <c:v>110.0</c:v>
                </c:pt>
                <c:pt idx="23">
                  <c:v>109.2</c:v>
                </c:pt>
                <c:pt idx="24">
                  <c:v>113.1</c:v>
                </c:pt>
                <c:pt idx="25">
                  <c:v>112.2</c:v>
                </c:pt>
                <c:pt idx="26">
                  <c:v>113.6</c:v>
                </c:pt>
                <c:pt idx="27">
                  <c:v>112.8</c:v>
                </c:pt>
                <c:pt idx="28">
                  <c:v>112.8</c:v>
                </c:pt>
                <c:pt idx="29">
                  <c:v>113.6</c:v>
                </c:pt>
                <c:pt idx="30">
                  <c:v>113.8</c:v>
                </c:pt>
                <c:pt idx="31">
                  <c:v>118.5</c:v>
                </c:pt>
                <c:pt idx="32">
                  <c:v>116.4</c:v>
                </c:pt>
                <c:pt idx="33">
                  <c:v>117.5</c:v>
                </c:pt>
                <c:pt idx="34">
                  <c:v>120.5</c:v>
                </c:pt>
                <c:pt idx="35">
                  <c:v>122.2</c:v>
                </c:pt>
                <c:pt idx="36">
                  <c:v>128.3</c:v>
                </c:pt>
                <c:pt idx="37">
                  <c:v>127.1</c:v>
                </c:pt>
                <c:pt idx="38">
                  <c:v>122.6</c:v>
                </c:pt>
                <c:pt idx="39">
                  <c:v>126.4</c:v>
                </c:pt>
                <c:pt idx="40">
                  <c:v>128.3</c:v>
                </c:pt>
                <c:pt idx="41">
                  <c:v>135.2</c:v>
                </c:pt>
                <c:pt idx="42">
                  <c:v>137.8</c:v>
                </c:pt>
                <c:pt idx="43">
                  <c:v>133.0</c:v>
                </c:pt>
                <c:pt idx="44">
                  <c:v>129.7</c:v>
                </c:pt>
                <c:pt idx="45">
                  <c:v>127.6</c:v>
                </c:pt>
                <c:pt idx="46">
                  <c:v>127.2</c:v>
                </c:pt>
                <c:pt idx="47">
                  <c:v>128.9</c:v>
                </c:pt>
                <c:pt idx="48">
                  <c:v>125.6</c:v>
                </c:pt>
                <c:pt idx="49">
                  <c:v>126.4</c:v>
                </c:pt>
                <c:pt idx="50">
                  <c:v>130.1</c:v>
                </c:pt>
                <c:pt idx="51">
                  <c:v>128.6</c:v>
                </c:pt>
                <c:pt idx="52">
                  <c:v>124.5</c:v>
                </c:pt>
                <c:pt idx="53">
                  <c:v>122.1</c:v>
                </c:pt>
                <c:pt idx="54">
                  <c:v>128.0</c:v>
                </c:pt>
                <c:pt idx="55">
                  <c:v>131.5</c:v>
                </c:pt>
                <c:pt idx="56">
                  <c:v>132.6</c:v>
                </c:pt>
                <c:pt idx="57">
                  <c:v>132.1</c:v>
                </c:pt>
                <c:pt idx="58">
                  <c:v>128.9</c:v>
                </c:pt>
                <c:pt idx="59">
                  <c:v>131.5</c:v>
                </c:pt>
                <c:pt idx="60">
                  <c:v>135.1</c:v>
                </c:pt>
                <c:pt idx="61">
                  <c:v>134.5</c:v>
                </c:pt>
                <c:pt idx="62">
                  <c:v>140.6</c:v>
                </c:pt>
                <c:pt idx="63">
                  <c:v>144.3</c:v>
                </c:pt>
                <c:pt idx="64">
                  <c:v>139.5</c:v>
                </c:pt>
                <c:pt idx="65">
                  <c:v>137.3</c:v>
                </c:pt>
                <c:pt idx="66">
                  <c:v>136.3</c:v>
                </c:pt>
                <c:pt idx="67">
                  <c:v>130.2</c:v>
                </c:pt>
                <c:pt idx="68">
                  <c:v>134.4</c:v>
                </c:pt>
                <c:pt idx="69">
                  <c:v>132.0</c:v>
                </c:pt>
                <c:pt idx="70">
                  <c:v>134.2</c:v>
                </c:pt>
                <c:pt idx="71">
                  <c:v>135.7</c:v>
                </c:pt>
                <c:pt idx="72">
                  <c:v>132.7</c:v>
                </c:pt>
                <c:pt idx="73">
                  <c:v>133.7</c:v>
                </c:pt>
                <c:pt idx="74">
                  <c:v>131.4</c:v>
                </c:pt>
                <c:pt idx="75">
                  <c:v>128.8</c:v>
                </c:pt>
                <c:pt idx="76">
                  <c:v>128.4</c:v>
                </c:pt>
                <c:pt idx="77">
                  <c:v>129.3</c:v>
                </c:pt>
                <c:pt idx="78">
                  <c:v>127.7</c:v>
                </c:pt>
                <c:pt idx="79">
                  <c:v>125.8</c:v>
                </c:pt>
                <c:pt idx="80">
                  <c:v>129.6</c:v>
                </c:pt>
                <c:pt idx="81">
                  <c:v>129.9</c:v>
                </c:pt>
                <c:pt idx="82">
                  <c:v>125.0</c:v>
                </c:pt>
                <c:pt idx="83">
                  <c:v>122.4</c:v>
                </c:pt>
                <c:pt idx="84">
                  <c:v>120.4</c:v>
                </c:pt>
                <c:pt idx="85">
                  <c:v>120.3</c:v>
                </c:pt>
                <c:pt idx="86">
                  <c:v>117.6</c:v>
                </c:pt>
                <c:pt idx="87">
                  <c:v>120.6</c:v>
                </c:pt>
                <c:pt idx="88">
                  <c:v>127.4</c:v>
                </c:pt>
                <c:pt idx="89">
                  <c:v>124.3</c:v>
                </c:pt>
                <c:pt idx="90">
                  <c:v>127.2</c:v>
                </c:pt>
                <c:pt idx="91">
                  <c:v>130.4</c:v>
                </c:pt>
                <c:pt idx="92">
                  <c:v>129.1</c:v>
                </c:pt>
                <c:pt idx="93">
                  <c:v>129.2</c:v>
                </c:pt>
                <c:pt idx="94">
                  <c:v>130.2</c:v>
                </c:pt>
                <c:pt idx="95">
                  <c:v>129.0</c:v>
                </c:pt>
                <c:pt idx="96">
                  <c:v>125.8</c:v>
                </c:pt>
                <c:pt idx="97">
                  <c:v>123.2</c:v>
                </c:pt>
                <c:pt idx="98">
                  <c:v>125.0</c:v>
                </c:pt>
                <c:pt idx="99">
                  <c:v>121.6</c:v>
                </c:pt>
                <c:pt idx="100">
                  <c:v>122.7</c:v>
                </c:pt>
                <c:pt idx="101">
                  <c:v>122.4</c:v>
                </c:pt>
                <c:pt idx="102">
                  <c:v>120.8</c:v>
                </c:pt>
                <c:pt idx="103">
                  <c:v>122.4</c:v>
                </c:pt>
                <c:pt idx="104">
                  <c:v>122.0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OSEBX (rebased)</c:v>
                </c:pt>
              </c:strCache>
            </c:strRef>
          </c:tx>
          <c:spPr>
            <a:ln w="15875">
              <a:solidFill>
                <a:srgbClr val="81B0C0"/>
              </a:solidFill>
            </a:ln>
          </c:spPr>
          <c:marker>
            <c:symbol val="none"/>
          </c:marker>
          <c:cat>
            <c:strRef>
              <c:f>Sheet1!$A$2:$A$106</c:f>
              <c:strCache>
                <c:ptCount val="105"/>
                <c:pt idx="0">
                  <c:v>Sep-24</c:v>
                </c:pt>
                <c:pt idx="1">
                  <c:v>Sep-24</c:v>
                </c:pt>
                <c:pt idx="2">
                  <c:v>Sep-24</c:v>
                </c:pt>
                <c:pt idx="3">
                  <c:v>Sep-24</c:v>
                </c:pt>
                <c:pt idx="4">
                  <c:v>Sep-24</c:v>
                </c:pt>
                <c:pt idx="5">
                  <c:v>Oct-24</c:v>
                </c:pt>
                <c:pt idx="6">
                  <c:v>Oct-24</c:v>
                </c:pt>
                <c:pt idx="7">
                  <c:v>Oct-24</c:v>
                </c:pt>
                <c:pt idx="8">
                  <c:v>Oct-24</c:v>
                </c:pt>
                <c:pt idx="9">
                  <c:v>Nov-24</c:v>
                </c:pt>
                <c:pt idx="10">
                  <c:v>Nov-24</c:v>
                </c:pt>
                <c:pt idx="11">
                  <c:v>Nov-24</c:v>
                </c:pt>
                <c:pt idx="12">
                  <c:v>Nov-24</c:v>
                </c:pt>
                <c:pt idx="13">
                  <c:v>Dec-24</c:v>
                </c:pt>
                <c:pt idx="14">
                  <c:v>Dec-24</c:v>
                </c:pt>
                <c:pt idx="15">
                  <c:v>Dec-24</c:v>
                </c:pt>
                <c:pt idx="16">
                  <c:v>Dec-24</c:v>
                </c:pt>
                <c:pt idx="17">
                  <c:v>Dec-24</c:v>
                </c:pt>
                <c:pt idx="18">
                  <c:v>Jan-25</c:v>
                </c:pt>
                <c:pt idx="19">
                  <c:v>Jan-25</c:v>
                </c:pt>
                <c:pt idx="20">
                  <c:v>Jan-25</c:v>
                </c:pt>
                <c:pt idx="21">
                  <c:v>Jan-25</c:v>
                </c:pt>
                <c:pt idx="22">
                  <c:v>Feb-25</c:v>
                </c:pt>
                <c:pt idx="23">
                  <c:v>Feb-25</c:v>
                </c:pt>
                <c:pt idx="24">
                  <c:v>Feb-25</c:v>
                </c:pt>
                <c:pt idx="25">
                  <c:v>Feb-25</c:v>
                </c:pt>
                <c:pt idx="26">
                  <c:v>Mar-25</c:v>
                </c:pt>
                <c:pt idx="27">
                  <c:v>Mar-25</c:v>
                </c:pt>
                <c:pt idx="28">
                  <c:v>Mar-25</c:v>
                </c:pt>
                <c:pt idx="29">
                  <c:v>Mar-25</c:v>
                </c:pt>
                <c:pt idx="30">
                  <c:v>Mar-25</c:v>
                </c:pt>
                <c:pt idx="31">
                  <c:v>Apr-25</c:v>
                </c:pt>
                <c:pt idx="32">
                  <c:v>Apr-25</c:v>
                </c:pt>
                <c:pt idx="33">
                  <c:v>Apr-25</c:v>
                </c:pt>
                <c:pt idx="34">
                  <c:v>Apr-25</c:v>
                </c:pt>
                <c:pt idx="35">
                  <c:v>May-25</c:v>
                </c:pt>
                <c:pt idx="36">
                  <c:v>May-25</c:v>
                </c:pt>
                <c:pt idx="37">
                  <c:v>May-25</c:v>
                </c:pt>
                <c:pt idx="38">
                  <c:v>May-25</c:v>
                </c:pt>
                <c:pt idx="39">
                  <c:v>Jun-25</c:v>
                </c:pt>
                <c:pt idx="40">
                  <c:v>Jun-25</c:v>
                </c:pt>
                <c:pt idx="41">
                  <c:v>Jun-25</c:v>
                </c:pt>
                <c:pt idx="42">
                  <c:v>Jun-25</c:v>
                </c:pt>
                <c:pt idx="43">
                  <c:v>Jun-25</c:v>
                </c:pt>
                <c:pt idx="44">
                  <c:v>Jul-25</c:v>
                </c:pt>
                <c:pt idx="45">
                  <c:v>Jul-25</c:v>
                </c:pt>
                <c:pt idx="46">
                  <c:v>Jul-25</c:v>
                </c:pt>
                <c:pt idx="47">
                  <c:v>Jul-25</c:v>
                </c:pt>
                <c:pt idx="48">
                  <c:v>Aug-25</c:v>
                </c:pt>
                <c:pt idx="49">
                  <c:v>Aug-25</c:v>
                </c:pt>
                <c:pt idx="50">
                  <c:v>Aug-25</c:v>
                </c:pt>
                <c:pt idx="51">
                  <c:v>Aug-25</c:v>
                </c:pt>
                <c:pt idx="52">
                  <c:v>Sep-25</c:v>
                </c:pt>
                <c:pt idx="53">
                  <c:v>Sep-25</c:v>
                </c:pt>
                <c:pt idx="54">
                  <c:v>Sep-25</c:v>
                </c:pt>
                <c:pt idx="55">
                  <c:v>Sep-25</c:v>
                </c:pt>
                <c:pt idx="56">
                  <c:v>Sep-25</c:v>
                </c:pt>
                <c:pt idx="57">
                  <c:v>Oct-25</c:v>
                </c:pt>
                <c:pt idx="58">
                  <c:v>Oct-25</c:v>
                </c:pt>
                <c:pt idx="59">
                  <c:v>Oct-25</c:v>
                </c:pt>
                <c:pt idx="60">
                  <c:v>Oct-25</c:v>
                </c:pt>
                <c:pt idx="61">
                  <c:v>Nov-25</c:v>
                </c:pt>
                <c:pt idx="62">
                  <c:v>Nov-25</c:v>
                </c:pt>
                <c:pt idx="63">
                  <c:v>Nov-25</c:v>
                </c:pt>
                <c:pt idx="64">
                  <c:v>Nov-25</c:v>
                </c:pt>
                <c:pt idx="65">
                  <c:v>Dec-25</c:v>
                </c:pt>
                <c:pt idx="66">
                  <c:v>Dec-25</c:v>
                </c:pt>
                <c:pt idx="67">
                  <c:v>Dec-25</c:v>
                </c:pt>
                <c:pt idx="68">
                  <c:v>Dec-25</c:v>
                </c:pt>
                <c:pt idx="69">
                  <c:v>Dec-25</c:v>
                </c:pt>
                <c:pt idx="70">
                  <c:v>Jan-26</c:v>
                </c:pt>
                <c:pt idx="71">
                  <c:v>Jan-26</c:v>
                </c:pt>
                <c:pt idx="72">
                  <c:v>Jan-26</c:v>
                </c:pt>
                <c:pt idx="73">
                  <c:v>Jan-26</c:v>
                </c:pt>
                <c:pt idx="74">
                  <c:v>Feb-26</c:v>
                </c:pt>
                <c:pt idx="75">
                  <c:v>Feb-26</c:v>
                </c:pt>
                <c:pt idx="76">
                  <c:v>Feb-26</c:v>
                </c:pt>
                <c:pt idx="77">
                  <c:v>Feb-26</c:v>
                </c:pt>
                <c:pt idx="78">
                  <c:v>Mar-26</c:v>
                </c:pt>
                <c:pt idx="79">
                  <c:v>Mar-26</c:v>
                </c:pt>
                <c:pt idx="80">
                  <c:v>Mar-26</c:v>
                </c:pt>
                <c:pt idx="81">
                  <c:v>Mar-26</c:v>
                </c:pt>
                <c:pt idx="82">
                  <c:v>Mar-26</c:v>
                </c:pt>
                <c:pt idx="83">
                  <c:v>Apr-26</c:v>
                </c:pt>
                <c:pt idx="84">
                  <c:v>Apr-26</c:v>
                </c:pt>
                <c:pt idx="85">
                  <c:v>Apr-26</c:v>
                </c:pt>
                <c:pt idx="86">
                  <c:v>Apr-26</c:v>
                </c:pt>
                <c:pt idx="87">
                  <c:v>May-26</c:v>
                </c:pt>
                <c:pt idx="88">
                  <c:v>May-26</c:v>
                </c:pt>
                <c:pt idx="89">
                  <c:v>May-26</c:v>
                </c:pt>
                <c:pt idx="90">
                  <c:v>May-26</c:v>
                </c:pt>
                <c:pt idx="91">
                  <c:v>Jun-26</c:v>
                </c:pt>
                <c:pt idx="92">
                  <c:v>Jun-26</c:v>
                </c:pt>
                <c:pt idx="93">
                  <c:v>Jun-26</c:v>
                </c:pt>
                <c:pt idx="94">
                  <c:v>Jun-26</c:v>
                </c:pt>
                <c:pt idx="95">
                  <c:v>Jun-26</c:v>
                </c:pt>
                <c:pt idx="96">
                  <c:v>Jul-26</c:v>
                </c:pt>
                <c:pt idx="97">
                  <c:v>Jul-26</c:v>
                </c:pt>
                <c:pt idx="98">
                  <c:v>Jul-26</c:v>
                </c:pt>
                <c:pt idx="99">
                  <c:v>Jul-26</c:v>
                </c:pt>
                <c:pt idx="100">
                  <c:v>Aug-26</c:v>
                </c:pt>
                <c:pt idx="101">
                  <c:v>Aug-26</c:v>
                </c:pt>
                <c:pt idx="102">
                  <c:v>Aug-26</c:v>
                </c:pt>
                <c:pt idx="103">
                  <c:v>Aug-26</c:v>
                </c:pt>
                <c:pt idx="104">
                  <c:v>Sep-26</c:v>
                </c:pt>
              </c:strCache>
            </c:strRef>
          </c:cat>
          <c:val>
            <c:numRef>
              <c:f>Sheet1!$C$2:$C$106</c:f>
              <c:numCache>
                <c:formatCode>0</c:formatCode>
                <c:ptCount val="105"/>
                <c:pt idx="0">
                  <c:v>96.5</c:v>
                </c:pt>
                <c:pt idx="1">
                  <c:v>94.0</c:v>
                </c:pt>
                <c:pt idx="2">
                  <c:v>91.6</c:v>
                </c:pt>
                <c:pt idx="3">
                  <c:v>91.9</c:v>
                </c:pt>
                <c:pt idx="4">
                  <c:v>91.4</c:v>
                </c:pt>
                <c:pt idx="5">
                  <c:v>91.2</c:v>
                </c:pt>
                <c:pt idx="6">
                  <c:v>91.5</c:v>
                </c:pt>
                <c:pt idx="7">
                  <c:v>91.2</c:v>
                </c:pt>
                <c:pt idx="8">
                  <c:v>91.4</c:v>
                </c:pt>
                <c:pt idx="9">
                  <c:v>93.9</c:v>
                </c:pt>
                <c:pt idx="10">
                  <c:v>93.4</c:v>
                </c:pt>
                <c:pt idx="11">
                  <c:v>92.9</c:v>
                </c:pt>
                <c:pt idx="12">
                  <c:v>92.6</c:v>
                </c:pt>
                <c:pt idx="13">
                  <c:v>92.7</c:v>
                </c:pt>
                <c:pt idx="14">
                  <c:v>93.6</c:v>
                </c:pt>
                <c:pt idx="15">
                  <c:v>93.5</c:v>
                </c:pt>
                <c:pt idx="16">
                  <c:v>96.4</c:v>
                </c:pt>
                <c:pt idx="17">
                  <c:v>96.0</c:v>
                </c:pt>
                <c:pt idx="18">
                  <c:v>98.8</c:v>
                </c:pt>
                <c:pt idx="19">
                  <c:v>96.0</c:v>
                </c:pt>
                <c:pt idx="20">
                  <c:v>95.6</c:v>
                </c:pt>
                <c:pt idx="21">
                  <c:v>96.2</c:v>
                </c:pt>
                <c:pt idx="22">
                  <c:v>96.6</c:v>
                </c:pt>
                <c:pt idx="23">
                  <c:v>98.3</c:v>
                </c:pt>
                <c:pt idx="24">
                  <c:v>98.4</c:v>
                </c:pt>
                <c:pt idx="25">
                  <c:v>99.4</c:v>
                </c:pt>
                <c:pt idx="26">
                  <c:v>98.3</c:v>
                </c:pt>
                <c:pt idx="27">
                  <c:v>99.6</c:v>
                </c:pt>
                <c:pt idx="28">
                  <c:v>99.4</c:v>
                </c:pt>
                <c:pt idx="29">
                  <c:v>99.4</c:v>
                </c:pt>
                <c:pt idx="30">
                  <c:v>97.3</c:v>
                </c:pt>
                <c:pt idx="31">
                  <c:v>97.6</c:v>
                </c:pt>
                <c:pt idx="32">
                  <c:v>98.9</c:v>
                </c:pt>
                <c:pt idx="33">
                  <c:v>99.0</c:v>
                </c:pt>
                <c:pt idx="34">
                  <c:v>101.8</c:v>
                </c:pt>
                <c:pt idx="35">
                  <c:v>103.9</c:v>
                </c:pt>
                <c:pt idx="36">
                  <c:v>102.7</c:v>
                </c:pt>
                <c:pt idx="37">
                  <c:v>103.8</c:v>
                </c:pt>
                <c:pt idx="38">
                  <c:v>103.6</c:v>
                </c:pt>
                <c:pt idx="39">
                  <c:v>105.0</c:v>
                </c:pt>
                <c:pt idx="40">
                  <c:v>102.8</c:v>
                </c:pt>
                <c:pt idx="41">
                  <c:v>103.6</c:v>
                </c:pt>
                <c:pt idx="42">
                  <c:v>104.3</c:v>
                </c:pt>
                <c:pt idx="43">
                  <c:v>102.6</c:v>
                </c:pt>
                <c:pt idx="44">
                  <c:v>105.1</c:v>
                </c:pt>
                <c:pt idx="45">
                  <c:v>104.9</c:v>
                </c:pt>
                <c:pt idx="46">
                  <c:v>105.8</c:v>
                </c:pt>
                <c:pt idx="47">
                  <c:v>106.2</c:v>
                </c:pt>
                <c:pt idx="48">
                  <c:v>102.4</c:v>
                </c:pt>
                <c:pt idx="49">
                  <c:v>102.8</c:v>
                </c:pt>
                <c:pt idx="50">
                  <c:v>102.8</c:v>
                </c:pt>
                <c:pt idx="51">
                  <c:v>103.4</c:v>
                </c:pt>
                <c:pt idx="52">
                  <c:v>102.3</c:v>
                </c:pt>
                <c:pt idx="53">
                  <c:v>102.8</c:v>
                </c:pt>
                <c:pt idx="54">
                  <c:v>103.8</c:v>
                </c:pt>
                <c:pt idx="55">
                  <c:v>104.2</c:v>
                </c:pt>
                <c:pt idx="56">
                  <c:v>103.8</c:v>
                </c:pt>
                <c:pt idx="57">
                  <c:v>100.9</c:v>
                </c:pt>
                <c:pt idx="58">
                  <c:v>99.5</c:v>
                </c:pt>
                <c:pt idx="59">
                  <c:v>100.4</c:v>
                </c:pt>
                <c:pt idx="60">
                  <c:v>102.4</c:v>
                </c:pt>
                <c:pt idx="61">
                  <c:v>103.8</c:v>
                </c:pt>
                <c:pt idx="62">
                  <c:v>103.9</c:v>
                </c:pt>
                <c:pt idx="63">
                  <c:v>103.8</c:v>
                </c:pt>
                <c:pt idx="64">
                  <c:v>104.1</c:v>
                </c:pt>
                <c:pt idx="65">
                  <c:v>104.4</c:v>
                </c:pt>
                <c:pt idx="66">
                  <c:v>104.9</c:v>
                </c:pt>
                <c:pt idx="67">
                  <c:v>107.6</c:v>
                </c:pt>
                <c:pt idx="68">
                  <c:v>107.3</c:v>
                </c:pt>
                <c:pt idx="69">
                  <c:v>107.4</c:v>
                </c:pt>
                <c:pt idx="70">
                  <c:v>108.1</c:v>
                </c:pt>
                <c:pt idx="71">
                  <c:v>105.7</c:v>
                </c:pt>
                <c:pt idx="72">
                  <c:v>107.5</c:v>
                </c:pt>
                <c:pt idx="73">
                  <c:v>105.7</c:v>
                </c:pt>
                <c:pt idx="74">
                  <c:v>104.0</c:v>
                </c:pt>
                <c:pt idx="75">
                  <c:v>105.6</c:v>
                </c:pt>
                <c:pt idx="76">
                  <c:v>107.1</c:v>
                </c:pt>
                <c:pt idx="77">
                  <c:v>105.3</c:v>
                </c:pt>
                <c:pt idx="78">
                  <c:v>108.4</c:v>
                </c:pt>
                <c:pt idx="79">
                  <c:v>107.1</c:v>
                </c:pt>
                <c:pt idx="80">
                  <c:v>107.4</c:v>
                </c:pt>
                <c:pt idx="81">
                  <c:v>109.4</c:v>
                </c:pt>
                <c:pt idx="82">
                  <c:v>110.1</c:v>
                </c:pt>
                <c:pt idx="83">
                  <c:v>108.3</c:v>
                </c:pt>
                <c:pt idx="84">
                  <c:v>110.0</c:v>
                </c:pt>
                <c:pt idx="85">
                  <c:v>107.7</c:v>
                </c:pt>
                <c:pt idx="86">
                  <c:v>109.8</c:v>
                </c:pt>
                <c:pt idx="87">
                  <c:v>108.5</c:v>
                </c:pt>
                <c:pt idx="88">
                  <c:v>108.1</c:v>
                </c:pt>
                <c:pt idx="89">
                  <c:v>108.1</c:v>
                </c:pt>
                <c:pt idx="90">
                  <c:v>110.3</c:v>
                </c:pt>
                <c:pt idx="91">
                  <c:v>109.9</c:v>
                </c:pt>
                <c:pt idx="92">
                  <c:v>108.0</c:v>
                </c:pt>
                <c:pt idx="93">
                  <c:v>107.4</c:v>
                </c:pt>
                <c:pt idx="94">
                  <c:v>105.8</c:v>
                </c:pt>
                <c:pt idx="95">
                  <c:v>104.8</c:v>
                </c:pt>
                <c:pt idx="96">
                  <c:v>103.4</c:v>
                </c:pt>
                <c:pt idx="97">
                  <c:v>102.1</c:v>
                </c:pt>
                <c:pt idx="98">
                  <c:v>102.3</c:v>
                </c:pt>
                <c:pt idx="99">
                  <c:v>103.1</c:v>
                </c:pt>
                <c:pt idx="100">
                  <c:v>105.0</c:v>
                </c:pt>
                <c:pt idx="101">
                  <c:v>104.9</c:v>
                </c:pt>
                <c:pt idx="102">
                  <c:v>105.2</c:v>
                </c:pt>
                <c:pt idx="103">
                  <c:v>105.5</c:v>
                </c:pt>
                <c:pt idx="104">
                  <c:v>106.4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tickLblSkip val="13"/>
        <c:tickMarkSkip val="13"/>
        <c:noMultiLvlLbl val="0"/>
      </c:catAx>
      <c:valAx>
        <c:axId val="2140495176"/>
        <c:scaling>
          <c:max val="160.0"/>
          <c:min val="80.0"/>
        </c:scaling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DCF value per share</c:v>
                </c:pt>
              </c:strCache>
            </c:strRef>
          </c:tx>
          <c:spPr>
            <a:ln w="25400">
              <a:solidFill>
                <a:srgbClr val="003255"/>
              </a:solidFill>
            </a:ln>
          </c:spPr>
          <c:marker>
            <c:symbol val="none"/>
            <c:size val="6"/>
            <c:spPr>
              <a:solidFill>
                <a:srgbClr val="003255"/>
              </a:solidFill>
              <a:ln>
                <a:noFill/>
              </a:ln>
            </c:spPr>
          </c:marker>
          <c:cat>
            <c:strRef>
              <c:f>Sheet1!$A$2:$A$10</c:f>
              <c:strCache>
                <c:ptCount val="9"/>
                <c:pt idx="0">
                  <c:v>14.1%</c:v>
                </c:pt>
                <c:pt idx="1">
                  <c:v>15.1%</c:v>
                </c:pt>
                <c:pt idx="2">
                  <c:v>16.1%</c:v>
                </c:pt>
                <c:pt idx="3">
                  <c:v>17.1%</c:v>
                </c:pt>
                <c:pt idx="4">
                  <c:v>18.1%</c:v>
                </c:pt>
                <c:pt idx="5">
                  <c:v>19.1%</c:v>
                </c:pt>
                <c:pt idx="6">
                  <c:v>20.1%</c:v>
                </c:pt>
                <c:pt idx="7">
                  <c:v>21.1%</c:v>
                </c:pt>
                <c:pt idx="8">
                  <c:v>22.1%</c:v>
                </c:pt>
              </c:strCache>
            </c:strRef>
          </c:cat>
          <c:val>
            <c:numRef>
              <c:f>Sheet1!$B$2:$B$10</c:f>
              <c:numCache>
                <c:formatCode>0</c:formatCode>
                <c:ptCount val="9"/>
                <c:pt idx="0">
                  <c:v>96.33437080094569</c:v>
                </c:pt>
                <c:pt idx="1">
                  <c:v>104.88959770535864</c:v>
                </c:pt>
                <c:pt idx="2">
                  <c:v>113.4448246097716</c:v>
                </c:pt>
                <c:pt idx="3">
                  <c:v>122.0</c:v>
                </c:pt>
                <c:pt idx="4">
                  <c:v>130.5552784185975</c:v>
                </c:pt>
                <c:pt idx="5">
                  <c:v>139.11050532301047</c:v>
                </c:pt>
                <c:pt idx="6">
                  <c:v>147.66573222742343</c:v>
                </c:pt>
                <c:pt idx="7">
                  <c:v>156.22095913183637</c:v>
                </c:pt>
                <c:pt idx="8">
                  <c:v>164.77618603624933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price</c:v>
                </c:pt>
              </c:strCache>
            </c:strRef>
          </c:tx>
          <c:spPr>
            <a:ln w="15875">
              <a:solidFill>
                <a:srgbClr val="C00000"/>
              </a:solidFill>
              <a:prstDash val="dash"/>
            </a:ln>
          </c:spPr>
          <c:marker>
            <c:symbol val="none"/>
            <c:size val="6"/>
            <c:spPr>
              <a:solidFill>
                <a:srgbClr val="C00000"/>
              </a:solidFill>
              <a:ln>
                <a:noFill/>
              </a:ln>
            </c:spPr>
          </c:marker>
          <c:cat>
            <c:strRef>
              <c:f>Sheet1!$A$2:$A$10</c:f>
              <c:strCache>
                <c:ptCount val="9"/>
                <c:pt idx="0">
                  <c:v>14.1%</c:v>
                </c:pt>
                <c:pt idx="1">
                  <c:v>15.1%</c:v>
                </c:pt>
                <c:pt idx="2">
                  <c:v>16.1%</c:v>
                </c:pt>
                <c:pt idx="3">
                  <c:v>17.1%</c:v>
                </c:pt>
                <c:pt idx="4">
                  <c:v>18.1%</c:v>
                </c:pt>
                <c:pt idx="5">
                  <c:v>19.1%</c:v>
                </c:pt>
                <c:pt idx="6">
                  <c:v>20.1%</c:v>
                </c:pt>
                <c:pt idx="7">
                  <c:v>21.1%</c:v>
                </c:pt>
                <c:pt idx="8">
                  <c:v>22.1%</c:v>
                </c:pt>
              </c:strCache>
            </c:strRef>
          </c:cat>
          <c:val>
            <c:numRef>
              <c:f>Sheet1!$C$2:$C$10</c:f>
              <c:numCache>
                <c:formatCode>0</c:formatCode>
                <c:ptCount val="9"/>
                <c:pt idx="0">
                  <c:v>122</c:v>
                </c:pt>
                <c:pt idx="1">
                  <c:v>122</c:v>
                </c:pt>
                <c:pt idx="2">
                  <c:v>122</c:v>
                </c:pt>
                <c:pt idx="3">
                  <c:v>122</c:v>
                </c:pt>
                <c:pt idx="4">
                  <c:v>122</c:v>
                </c:pt>
                <c:pt idx="5">
                  <c:v>122</c:v>
                </c:pt>
                <c:pt idx="6">
                  <c:v>122</c:v>
                </c:pt>
                <c:pt idx="7">
                  <c:v>122</c:v>
                </c:pt>
                <c:pt idx="8">
                  <c:v>122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Market-implied</c:v>
                </c:pt>
              </c:strCache>
            </c:strRef>
          </c:tx>
          <c:spPr>
            <a:ln w="25400">
              <a:noFill/>
            </a:ln>
          </c:spPr>
          <c:marker>
            <c:symbol val="circle"/>
            <c:size val="10"/>
            <c:spPr>
              <a:solidFill>
                <a:srgbClr val="C00000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14.1%</c:v>
                </c:pt>
                <c:pt idx="1">
                  <c:v>15.1%</c:v>
                </c:pt>
                <c:pt idx="2">
                  <c:v>16.1%</c:v>
                </c:pt>
                <c:pt idx="3">
                  <c:v>17.1%</c:v>
                </c:pt>
                <c:pt idx="4">
                  <c:v>18.1%</c:v>
                </c:pt>
                <c:pt idx="5">
                  <c:v>19.1%</c:v>
                </c:pt>
                <c:pt idx="6">
                  <c:v>20.1%</c:v>
                </c:pt>
                <c:pt idx="7">
                  <c:v>21.1%</c:v>
                </c:pt>
                <c:pt idx="8">
                  <c:v>22.1%</c:v>
                </c:pt>
              </c:strCache>
            </c:strRef>
          </c:cat>
          <c:val>
            <c:numRef>
              <c:f>Sheet1!$D$2:$D$10</c:f>
              <c:numCache>
                <c:formatCode>0</c:formatCode>
                <c:ptCount val="9"/>
                <c:pt idx="3">
                  <c:v>122.0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Our base case</c:v>
                </c:pt>
              </c:strCache>
            </c:strRef>
          </c:tx>
          <c:spPr>
            <a:ln w="25400">
              <a:noFill/>
            </a:ln>
          </c:spPr>
          <c:marker>
            <c:symbol val="circle"/>
            <c:size val="10"/>
            <c:spPr>
              <a:solidFill>
                <a:srgbClr val="003255"/>
              </a:solidFill>
              <a:ln>
                <a:solidFill>
                  <a:srgbClr val="FFFFFF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14.1%</c:v>
                </c:pt>
                <c:pt idx="1">
                  <c:v>15.1%</c:v>
                </c:pt>
                <c:pt idx="2">
                  <c:v>16.1%</c:v>
                </c:pt>
                <c:pt idx="3">
                  <c:v>17.1%</c:v>
                </c:pt>
                <c:pt idx="4">
                  <c:v>18.1%</c:v>
                </c:pt>
                <c:pt idx="5">
                  <c:v>19.1%</c:v>
                </c:pt>
                <c:pt idx="6">
                  <c:v>20.1%</c:v>
                </c:pt>
                <c:pt idx="7">
                  <c:v>21.1%</c:v>
                </c:pt>
                <c:pt idx="8">
                  <c:v>22.1%</c:v>
                </c:pt>
              </c:strCache>
            </c:strRef>
          </c:cat>
          <c:val>
            <c:numRef>
              <c:f>Sheet1!$E$2:$E$10</c:f>
              <c:numCache>
                <c:formatCode>0</c:formatCode>
                <c:ptCount val="9"/>
                <c:pt idx="5">
                  <c:v>139.11050532301047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3E6EA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700"/>
          </a:pPr>
        </a:p>
      </c:txPr>
    </c:legend>
    <c:plotVisOnly val="1"/>
    <c:dispBlanksAs val="gap"/>
    <c:showDLblsOverMax val="0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New locations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Sheet1!$A$2:$A$10</c:f>
              <c:strCache>
                <c:ptCount val="9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  <c:pt idx="7">
                  <c:v>2029E</c:v>
                </c:pt>
                <c:pt idx="8">
                  <c:v>2030E</c:v>
                </c:pt>
              </c:strCache>
            </c:strRef>
          </c:cat>
          <c:val>
            <c:numRef>
              <c:f>Sheet1!$B$2:$B$10</c:f>
              <c:numCache>
                <c:formatCode>0%</c:formatCode>
                <c:ptCount val="9"/>
                <c:pt idx="0">
                  <c:v>0.06657617939611661</c:v>
                </c:pt>
                <c:pt idx="1">
                  <c:v>0.02308493255874712</c:v>
                </c:pt>
                <c:pt idx="2">
                  <c:v>0.02376248044663918</c:v>
                </c:pt>
                <c:pt idx="3">
                  <c:v>0.028595250662435498</c:v>
                </c:pt>
                <c:pt idx="4">
                  <c:v>0.01069879972855466</c:v>
                </c:pt>
                <c:pt idx="5">
                  <c:v>0.022696934188118734</c:v>
                </c:pt>
                <c:pt idx="6">
                  <c:v>0.02813588864578872</c:v>
                </c:pt>
                <c:pt idx="7">
                  <c:v>0.027556368273978376</c:v>
                </c:pt>
                <c:pt idx="8">
                  <c:v>0.024045892554278712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Like-for-like</c:v>
                </c:pt>
              </c:strCache>
            </c:strRef>
          </c:tx>
          <c:spPr>
            <a:solidFill>
              <a:srgbClr val="4F7FA0"/>
            </a:solidFill>
          </c:spPr>
          <c:invertIfNegative val="0"/>
          <c:dLbls>
            <c:delete val="1"/>
          </c:dLbls>
          <c:cat>
            <c:strRef>
              <c:f>Sheet1!$A$2:$A$10</c:f>
              <c:strCache>
                <c:ptCount val="9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  <c:pt idx="7">
                  <c:v>2029E</c:v>
                </c:pt>
                <c:pt idx="8">
                  <c:v>2030E</c:v>
                </c:pt>
              </c:strCache>
            </c:strRef>
          </c:cat>
          <c:val>
            <c:numRef>
              <c:f>Sheet1!$C$2:$C$10</c:f>
              <c:numCache>
                <c:formatCode>0%</c:formatCode>
                <c:ptCount val="9"/>
                <c:pt idx="0">
                  <c:v>0.0436890670042194</c:v>
                </c:pt>
                <c:pt idx="1">
                  <c:v>0.02754831351209397</c:v>
                </c:pt>
                <c:pt idx="2">
                  <c:v>0.0069352889216947496</c:v>
                </c:pt>
                <c:pt idx="3">
                  <c:v>0.004041160888322626</c:v>
                </c:pt>
                <c:pt idx="4">
                  <c:v>0.010011142815384913</c:v>
                </c:pt>
                <c:pt idx="5">
                  <c:v>0.009139361839639686</c:v>
                </c:pt>
                <c:pt idx="6">
                  <c:v>0.0080055795361181</c:v>
                </c:pt>
                <c:pt idx="7">
                  <c:v>0.006802830274505855</c:v>
                </c:pt>
                <c:pt idx="8">
                  <c:v>0.0057729802779034195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Price/mix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Sheet1!$A$2:$A$10</c:f>
              <c:strCache>
                <c:ptCount val="9"/>
                <c:pt idx="0">
                  <c:v>2022A</c:v>
                </c:pt>
                <c:pt idx="1">
                  <c:v>2023A</c:v>
                </c:pt>
                <c:pt idx="2">
                  <c:v>2024A</c:v>
                </c:pt>
                <c:pt idx="3">
                  <c:v>2025A</c:v>
                </c:pt>
                <c:pt idx="4">
                  <c:v>2026E</c:v>
                </c:pt>
                <c:pt idx="5">
                  <c:v>2027E</c:v>
                </c:pt>
                <c:pt idx="6">
                  <c:v>2028E</c:v>
                </c:pt>
                <c:pt idx="7">
                  <c:v>2029E</c:v>
                </c:pt>
                <c:pt idx="8">
                  <c:v>2030E</c:v>
                </c:pt>
              </c:strCache>
            </c:strRef>
          </c:cat>
          <c:val>
            <c:numRef>
              <c:f>Sheet1!$D$2:$D$10</c:f>
              <c:numCache>
                <c:formatCode>0%</c:formatCode>
                <c:ptCount val="9"/>
                <c:pt idx="0">
                  <c:v>0.05167586592245561</c:v>
                </c:pt>
                <c:pt idx="1">
                  <c:v>0.0490851959751467</c:v>
                </c:pt>
                <c:pt idx="2">
                  <c:v>0.045683711322939774</c:v>
                </c:pt>
                <c:pt idx="3">
                  <c:v>0.04427141798343416</c:v>
                </c:pt>
                <c:pt idx="4">
                  <c:v>0.033302197921405735</c:v>
                </c:pt>
                <c:pt idx="5">
                  <c:v>0.030574951571841286</c:v>
                </c:pt>
                <c:pt idx="6">
                  <c:v>0.028815082351027768</c:v>
                </c:pt>
                <c:pt idx="7">
                  <c:v>0.026893339162260672</c:v>
                </c:pt>
                <c:pt idx="8">
                  <c:v>0.02574547182080441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7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2026E</c:v>
                </c:pt>
                <c:pt idx="1">
                  <c:v>2027E</c:v>
                </c:pt>
                <c:pt idx="2">
                  <c:v>2028E</c:v>
                </c:pt>
              </c:strCache>
            </c:strRef>
          </c:cat>
          <c:val>
            <c:numRef>
              <c:f>Sheet1!$B$2:$B$4</c:f>
              <c:numCache>
                <c:formatCode>+0%;-0%;0%</c:formatCode>
                <c:ptCount val="3"/>
                <c:pt idx="0">
                  <c:v>0.004992621823134646</c:v>
                </c:pt>
                <c:pt idx="1">
                  <c:v>0.014988775541014743</c:v>
                </c:pt>
                <c:pt idx="2">
                  <c:v>0.02500049955821204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</c:v>
                </c:pt>
              </c:strCache>
            </c:strRef>
          </c:tx>
          <c:spPr>
            <a:solidFill>
              <a:srgbClr val="4F7FA0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2026E</c:v>
                </c:pt>
                <c:pt idx="1">
                  <c:v>2027E</c:v>
                </c:pt>
                <c:pt idx="2">
                  <c:v>2028E</c:v>
                </c:pt>
              </c:strCache>
            </c:strRef>
          </c:cat>
          <c:val>
            <c:numRef>
              <c:f>Sheet1!$C$2:$C$4</c:f>
              <c:numCache>
                <c:formatCode>+0%;-0%;0%</c:formatCode>
                <c:ptCount val="3"/>
                <c:pt idx="0">
                  <c:v>0.015424627516732015</c:v>
                </c:pt>
                <c:pt idx="1">
                  <c:v>0.03492241907992821</c:v>
                </c:pt>
                <c:pt idx="2">
                  <c:v>0.059655964825489516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EPS</c:v>
                </c:pt>
              </c:strCache>
            </c:strRef>
          </c:tx>
          <c:spPr>
            <a:solidFill>
              <a:srgbClr val="003255"/>
            </a:solidFill>
          </c:spPr>
          <c:invertIfNegative val="0"/>
          <c:cat>
            <c:strRef>
              <c:f>Sheet1!$A$2:$A$4</c:f>
              <c:strCache>
                <c:ptCount val="3"/>
                <c:pt idx="0">
                  <c:v>2026E</c:v>
                </c:pt>
                <c:pt idx="1">
                  <c:v>2027E</c:v>
                </c:pt>
                <c:pt idx="2">
                  <c:v>2028E</c:v>
                </c:pt>
              </c:strCache>
            </c:strRef>
          </c:cat>
          <c:val>
            <c:numRef>
              <c:f>Sheet1!$D$2:$D$4</c:f>
              <c:numCache>
                <c:formatCode>+0%;-0%;0%</c:formatCode>
                <c:ptCount val="3"/>
                <c:pt idx="0">
                  <c:v>0.020452802152760352</c:v>
                </c:pt>
                <c:pt idx="1">
                  <c:v>0.05009006874385258</c:v>
                </c:pt>
                <c:pt idx="2">
                  <c:v>0.08535552170679828</c:v>
                </c:pt>
              </c:numCache>
            </c:numRef>
          </c:val>
        </c:ser>
        <c:dLbls>
          <c:numFmt formatCode="+0%;-0%;0%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Locations</c:v>
                </c:pt>
              </c:strCache>
            </c:strRef>
          </c:tx>
          <c:spPr>
            <a:solidFill>
              <a:srgbClr val="81B0C0"/>
            </a:solidFill>
          </c:spPr>
          <c:invertIfNegative val="0"/>
          <c:cat>
            <c:strRef>
              <c:f>Sheet1!$A$2:$A$12</c:f>
              <c:strCache>
                <c:ptCount val="11"/>
                <c:pt idx="0">
                  <c:v>2020A</c:v>
                </c:pt>
                <c:pt idx="1">
                  <c:v>2021A</c:v>
                </c:pt>
                <c:pt idx="2">
                  <c:v>2022A</c:v>
                </c:pt>
                <c:pt idx="3">
                  <c:v>2023A</c:v>
                </c:pt>
                <c:pt idx="4">
                  <c:v>2024A</c:v>
                </c:pt>
                <c:pt idx="5">
                  <c:v>2025A</c:v>
                </c:pt>
                <c:pt idx="6">
                  <c:v>2026E</c:v>
                </c:pt>
                <c:pt idx="7">
                  <c:v>2027E</c:v>
                </c:pt>
                <c:pt idx="8">
                  <c:v>2028E</c:v>
                </c:pt>
                <c:pt idx="9">
                  <c:v>2029E</c:v>
                </c:pt>
                <c:pt idx="10">
                  <c:v>2030E</c:v>
                </c:pt>
              </c:strCache>
            </c:strRef>
          </c:cat>
          <c:val>
            <c:numRef>
              <c:f>Sheet1!$B$2:$B$12</c:f>
              <c:numCache>
                <c:formatCode>0</c:formatCode>
                <c:ptCount val="11"/>
                <c:pt idx="0">
                  <c:v>184</c:v>
                </c:pt>
                <c:pt idx="1">
                  <c:v>188</c:v>
                </c:pt>
                <c:pt idx="2">
                  <c:v>201</c:v>
                </c:pt>
                <c:pt idx="3">
                  <c:v>206</c:v>
                </c:pt>
                <c:pt idx="4">
                  <c:v>211</c:v>
                </c:pt>
                <c:pt idx="5">
                  <c:v>217</c:v>
                </c:pt>
                <c:pt idx="6">
                  <c:v>224</c:v>
                </c:pt>
                <c:pt idx="7">
                  <c:v>231</c:v>
                </c:pt>
                <c:pt idx="8">
                  <c:v>238</c:v>
                </c:pt>
                <c:pt idx="9">
                  <c:v>244</c:v>
                </c:pt>
                <c:pt idx="10">
                  <c:v>249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700">
                  <a:solidFill>
                    <a:srgbClr val="003255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Revenue per location (rhs)</c:v>
                </c:pt>
              </c:strCache>
            </c:strRef>
          </c:tx>
          <c:spPr>
            <a:ln w="28575" cap="rnd">
              <a:solidFill>
                <a:srgbClr val="003255"/>
              </a:solidFill>
              <a:round/>
            </a:ln>
          </c:spPr>
          <c:marker>
            <c:symbol val="circle"/>
            <c:size val="5"/>
            <c:spPr>
              <a:solidFill>
                <a:srgbClr val="003255"/>
              </a:solidFill>
              <a:ln>
                <a:noFill/>
              </a:ln>
            </c:spPr>
          </c:marker>
          <c:dLbls>
            <c:numFmt formatCode="0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700" b="1">
                    <a:solidFill>
                      <a:srgbClr val="003255"/>
                    </a:solidFill>
                    <a:latin typeface="Arial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Sheet1!$A$2:$A$12</c:f>
              <c:strCache>
                <c:ptCount val="11"/>
                <c:pt idx="0">
                  <c:v>2020A</c:v>
                </c:pt>
                <c:pt idx="1">
                  <c:v>2021A</c:v>
                </c:pt>
                <c:pt idx="2">
                  <c:v>2022A</c:v>
                </c:pt>
                <c:pt idx="3">
                  <c:v>2023A</c:v>
                </c:pt>
                <c:pt idx="4">
                  <c:v>2024A</c:v>
                </c:pt>
                <c:pt idx="5">
                  <c:v>2025A</c:v>
                </c:pt>
                <c:pt idx="6">
                  <c:v>2026E</c:v>
                </c:pt>
                <c:pt idx="7">
                  <c:v>2027E</c:v>
                </c:pt>
                <c:pt idx="8">
                  <c:v>2028E</c:v>
                </c:pt>
                <c:pt idx="9">
                  <c:v>2029E</c:v>
                </c:pt>
                <c:pt idx="10">
                  <c:v>2030E</c:v>
                </c:pt>
              </c:strCache>
            </c:strRef>
          </c:cat>
          <c:val>
            <c:numRef>
              <c:f>Sheet1!$C$2:$C$12</c:f>
              <c:numCache>
                <c:formatCode>0</c:formatCode>
                <c:ptCount val="11"/>
                <c:pt idx="0">
                  <c:v>18.950819672131146</c:v>
                </c:pt>
                <c:pt idx="1">
                  <c:v>19.72043010752688</c:v>
                </c:pt>
                <c:pt idx="2">
                  <c:v>21.912596401028278</c:v>
                </c:pt>
                <c:pt idx="3">
                  <c:v>23.03194103194103</c:v>
                </c:pt>
                <c:pt idx="4">
                  <c:v>24.19664268585132</c:v>
                </c:pt>
                <c:pt idx="5">
                  <c:v>25.38785046728972</c:v>
                </c:pt>
                <c:pt idx="6">
                  <c:v>25.970285529016877</c:v>
                </c:pt>
                <c:pt idx="7">
                  <c:v>26.742165804803705</c:v>
                </c:pt>
                <c:pt idx="8">
                  <c:v>27.62911794331539</c:v>
                </c:pt>
                <c:pt idx="9">
                  <c:v>28.53064346168636</c:v>
                </c:pt>
                <c:pt idx="10">
                  <c:v>29.443972098690782</c:v>
                </c:pt>
              </c:numCache>
            </c:numRef>
          </c:val>
          <c:smooth val="0"/>
        </c:ser>
        <c:marker val="1"/>
        <c:axId val="900001"/>
        <c:axId val="900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BFC5CC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61.05"/>
          <c:min val="0.0"/>
        </c:scaling>
        <c:delete val="0"/>
        <c:axPos val="l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700"/>
            </a:pPr>
          </a:p>
        </c:txPr>
        <c:crossAx val="-2068027336"/>
        <c:crosses val="autoZero"/>
      </c:valAx>
      <c:catAx>
        <c:axId val="900001"/>
        <c:scaling>
          <c:orientation val="minMax"/>
        </c:scaling>
        <c:delete val="1"/>
        <c:axPos val="b"/>
        <c:majorTickMark val="none"/>
        <c:minorTickMark val="none"/>
        <c:tickLblPos val="nextTo"/>
        <c:crossAx val="900002"/>
        <c:crosses val="autoZero"/>
        <c:auto val="1"/>
        <c:lblAlgn val="ctr"/>
        <c:lblOffset val="100"/>
        <c:noMultiLvlLbl val="0"/>
      </c:catAx>
      <c:valAx>
        <c:axId val="900002"/>
        <c:scaling>
          <c:orientation val="minMax"/>
          <c:max val="35.33276651842894"/>
          <c:min val="0"/>
        </c:scaling>
        <c:delete val="0"/>
        <c:axPos val="r"/>
        <c:numFmt formatCode="0" sourceLinked="0"/>
        <c:majorTickMark val="none"/>
        <c:minorTickMark val="none"/>
        <c:tickLblPos val="none"/>
        <c:spPr>
          <a:ln>
            <a:noFill/>
          </a:ln>
        </c:spPr>
        <c:crossAx val="900001"/>
        <c:crosses val="max"/>
        <c:crossBetween val="between"/>
      </c:valAx>
    </c:plotArea>
    <c:legend>
      <c:legendPos val="t"/>
      <c:overlay val="0"/>
      <c:txPr>
        <a:bodyPr/>
        <a:lstStyle/>
        <a:p>
          <a:pPr>
            <a:defRPr sz="700"/>
          </a:pPr>
        </a:p>
      </c:txPr>
    </c:legend>
    <c:dispBlanksAs val="gap"/>
  </c:chart>
  <c:txPr>
    <a:bodyPr/>
    <a:lstStyle/>
    <a:p>
      <a:pPr>
        <a:defRPr sz="700">
          <a:solidFill>
            <a:srgbClr val="1F1F1F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 what you need into your pitch deck. Delete this 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slide – delete before using the library as a source for your own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Copy a chart: click it, Ctrl+C, paste into your deck with 'Keep source formatting'. Edit Data opens the embedded worksheet. Colours: navy 003255 = company / history, light blue 81B0C0 = peers /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Combination charts: the line sits on a hidden secondary axis – change its scale under Format Axis if your margins are very different. The P/E history is randomly generated example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Doughnut centre labels are text boxes on top of the chart – move them together with the chart (select both, Ctrl+G to group). Ownership and EBIT mix are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Waterfall recipe: series 1 'Base' has no fill and lifts the floating bars; totals, increases and decreases are separate series so each keeps its colour. Value labels are text boxes – retype them if you change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football field and heat map read the Football and Sensitivity sheets of the model. The vertical lines in the football field are drawn shapes placed from the axis scale – rebuild with the deck generator or move them by hand if the ranges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Scatter and bubble labels are custom data labels – after Edit Data, retype the label of any new point. The trend line is a drawn line from an OLS regression on the example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Event markers are shapes positioned from the chart scale. If you replace the price series, drag the numbered circles to the right dates. Keep 5-7 events – only the ones that matter for the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tables are native PowerPoint tables. Consensus comes from the Consensus sheet in the model (reported IFRS 16 basis) – type the latest consensus there and rebuild.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Chart 1: the red point is the EBIT margin at which the DCF equals today's share price (Reverse_DCF sheet); every point shifts the margin by the same amount in all years. Charts 2-4 read the Model and Consensus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four bullets or fewer per box and start each with the point in bold. Finish with a 'so what' in the slide subtitle.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Rate each force Low / Medium / High by changing the chip text and colour. The verdict box should tie back to your margin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Bubbles are ovals – drag to reposition and resize while holding Shift. Replace the axes with what matters in your industry (price vs. quality, growth vs. margin, scale vs. specialisation).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Chevrons are standard shapes. Unit economics tiles are calculated from the model (revenue, EBITDAaL and capex divided by the number of locations).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funnel uses trapezoid shapes. Always show how the numbers are built (population x penetration x spend) – judges will ask. The table multiplies through to the SAM figure.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pillars, one number each. The numbers on this slide come from the model (CAGR, margin, discount, DCF).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 markers and Gantt bars are shapes – duplicate (Ctrl+D) and drag. Keep history to 6-8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Risks are shared with the pitch deck appendix. Link every high-impact risk to a number in the bear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numbers come from the scenario data table in the model (Sensitivity sheet), the probabilities on Drivers and the stories on the Thesis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box reads the model (Model and Analysis sheets). Connectors are straight lines; move boxes and lines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chart" Target="../charts/chart6.xml"/><Relationship Id="rId8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chart" Target="../charts/chart10.xml"/><Relationship Id="rId6" Type="http://schemas.openxmlformats.org/officeDocument/2006/relationships/chart" Target="../charts/chart11.xml"/><Relationship Id="rId7" Type="http://schemas.openxmlformats.org/officeDocument/2006/relationships/chart" Target="../charts/chart12.xml"/><Relationship Id="rId8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Relationship Id="rId10" Type="http://schemas.openxmlformats.org/officeDocument/2006/relationships/chart" Target="../charts/chart21.xml"/><Relationship Id="rId11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Relationship Id="rId3" Type="http://schemas.openxmlformats.org/officeDocument/2006/relationships/chart" Target="../charts/chart23.xml"/><Relationship Id="rId4" Type="http://schemas.openxmlformats.org/officeDocument/2006/relationships/chart" Target="../charts/chart24.xml"/><Relationship Id="rId5" Type="http://schemas.openxmlformats.org/officeDocument/2006/relationships/chart" Target="../charts/chart25.xml"/><Relationship Id="rId6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Relationship Id="rId3" Type="http://schemas.openxmlformats.org/officeDocument/2006/relationships/chart" Target="../charts/chart27.xml"/><Relationship Id="rId4" Type="http://schemas.openxmlformats.org/officeDocument/2006/relationships/chart" Target="../charts/chart28.xml"/><Relationship Id="rId5" Type="http://schemas.openxmlformats.org/officeDocument/2006/relationships/chart" Target="../charts/chart29.xml"/><Relationship Id="rId6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Relationship Id="rId3" Type="http://schemas.openxmlformats.org/officeDocument/2006/relationships/chart" Target="../charts/chart31.xml"/><Relationship Id="rId4" Type="http://schemas.openxmlformats.org/officeDocument/2006/relationships/chart" Target="../charts/chart32.xml"/><Relationship Id="rId5" Type="http://schemas.openxmlformats.org/officeDocument/2006/relationships/chart" Target="../charts/chart33.xml"/><Relationship Id="rId6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Relationship Id="rId3" Type="http://schemas.openxmlformats.org/officeDocument/2006/relationships/chart" Target="../charts/chart36.xml"/><Relationship Id="rId4" Type="http://schemas.openxmlformats.org/officeDocument/2006/relationships/chart" Target="../charts/chart37.xml"/><Relationship Id="rId5" Type="http://schemas.openxmlformats.org/officeDocument/2006/relationships/chart" Target="../charts/chart38.xml"/><Relationship Id="rId6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1221638" y="2492654"/>
            <a:ext cx="1044245" cy="0"/>
          </a:xfrm>
          <a:prstGeom prst="line">
            <a:avLst/>
          </a:prstGeom>
          <a:ln w="19050">
            <a:solidFill>
              <a:srgbClr val="81B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34847" y="868680"/>
            <a:ext cx="548640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2000" b="0" i="0">
                <a:solidFill>
                  <a:srgbClr val="FFFFFF"/>
                </a:solidFill>
                <a:latin typeface="Cambria"/>
              </a:rPr>
              <a:t>Equity Research Toolkit</a:t>
            </a:r>
            <a:endParaRPr sz="2000"/>
          </a:p>
        </p:txBody>
      </p:sp>
      <p:sp>
        <p:nvSpPr>
          <p:cNvPr id="5" name="TextBox 4"/>
          <p:cNvSpPr txBox="1"/>
          <p:nvPr/>
        </p:nvSpPr>
        <p:spPr>
          <a:xfrm>
            <a:off x="1221638" y="2817266"/>
            <a:ext cx="8778240" cy="1079906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3600" b="0" i="0">
                <a:solidFill>
                  <a:srgbClr val="FFFFFF"/>
                </a:solidFill>
                <a:latin typeface="Cambria"/>
              </a:rPr>
              <a:t>Chart and framework library</a:t>
            </a:r>
            <a:endParaRPr sz="3600"/>
          </a:p>
        </p:txBody>
      </p:sp>
      <p:sp>
        <p:nvSpPr>
          <p:cNvPr id="6" name="TextBox 5"/>
          <p:cNvSpPr txBox="1"/>
          <p:nvPr/>
        </p:nvSpPr>
        <p:spPr>
          <a:xfrm>
            <a:off x="1221638" y="4201668"/>
            <a:ext cx="8778240" cy="82753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2000" b="0" i="0">
                <a:solidFill>
                  <a:srgbClr val="FFFFFF"/>
                </a:solidFill>
                <a:latin typeface="Arial"/>
              </a:rPr>
              <a:t>Ready-made visuals for equity research pitch decks</a:t>
            </a:r>
            <a:endParaRPr sz="2000"/>
          </a:p>
        </p:txBody>
      </p:sp>
      <p:sp>
        <p:nvSpPr>
          <p:cNvPr id="7" name="TextBox 6"/>
          <p:cNvSpPr txBox="1"/>
          <p:nvPr/>
        </p:nvSpPr>
        <p:spPr>
          <a:xfrm>
            <a:off x="1221638" y="5661050"/>
            <a:ext cx="8778240" cy="308152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200" b="0" i="0">
                <a:solidFill>
                  <a:srgbClr val="FFFFFF"/>
                </a:solidFill>
                <a:latin typeface="Arial"/>
              </a:rPr>
              <a:t>Native PowerPoint charts · neutral layout · example data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Start here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How to use this library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19 slides with more than 45 editable charts, tables and frameworks – copy, paste, change the data, tell your story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Neutral layout (Cambria headings, Arial body, navy 003255 / light blue 81B0C0). Example data: fictional Example Company ASA from the DCF toolkit.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2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Three steps</a:t>
            </a:r>
            <a:endParaRPr sz="11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81912"/>
            <a:ext cx="352044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29768" y="1783080"/>
            <a:ext cx="457200" cy="457200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  <a:endParaRPr sz="1400"/>
          </a:p>
        </p:txBody>
      </p:sp>
      <p:sp>
        <p:nvSpPr>
          <p:cNvPr id="14" name="TextBox 13"/>
          <p:cNvSpPr txBox="1"/>
          <p:nvPr/>
        </p:nvSpPr>
        <p:spPr>
          <a:xfrm>
            <a:off x="1024128" y="1737360"/>
            <a:ext cx="2926080" cy="9144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200"/>
              </a:spcAft>
              <a:buNone/>
            </a:pPr>
            <a:r>
              <a:rPr sz="1150" b="1" i="0">
                <a:solidFill>
                  <a:srgbClr val="003255"/>
                </a:solidFill>
                <a:latin typeface="Arial"/>
              </a:rPr>
              <a:t>Copy</a:t>
            </a:r>
            <a:endParaRPr sz="1150"/>
          </a:p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Select the chart (and any labels on top of it), Ctrl+C, then paste into your deck with 'Keep source formatting'.</a:t>
            </a:r>
            <a:endParaRPr sz="950"/>
          </a:p>
        </p:txBody>
      </p:sp>
      <p:sp>
        <p:nvSpPr>
          <p:cNvPr id="15" name="Oval 14"/>
          <p:cNvSpPr/>
          <p:nvPr/>
        </p:nvSpPr>
        <p:spPr>
          <a:xfrm>
            <a:off x="429768" y="2807208"/>
            <a:ext cx="457200" cy="457200"/>
          </a:xfrm>
          <a:prstGeom prst="ellipse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1024128" y="2761488"/>
            <a:ext cx="2926080" cy="9144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200"/>
              </a:spcAft>
              <a:buNone/>
            </a:pPr>
            <a:r>
              <a:rPr sz="1150" b="1" i="0">
                <a:solidFill>
                  <a:srgbClr val="003255"/>
                </a:solidFill>
                <a:latin typeface="Arial"/>
              </a:rPr>
              <a:t>Edit data</a:t>
            </a:r>
            <a:endParaRPr sz="1150"/>
          </a:p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Right-click the chart → Edit Data. Type or paste your numbers from the Excel model (Deck_Feed, Output, Analysis).</a:t>
            </a:r>
            <a:endParaRPr sz="950"/>
          </a:p>
        </p:txBody>
      </p:sp>
      <p:sp>
        <p:nvSpPr>
          <p:cNvPr id="17" name="Oval 16"/>
          <p:cNvSpPr/>
          <p:nvPr/>
        </p:nvSpPr>
        <p:spPr>
          <a:xfrm>
            <a:off x="429768" y="3831336"/>
            <a:ext cx="457200" cy="457200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  <a:endParaRPr sz="1400"/>
          </a:p>
        </p:txBody>
      </p:sp>
      <p:sp>
        <p:nvSpPr>
          <p:cNvPr id="18" name="TextBox 17"/>
          <p:cNvSpPr txBox="1"/>
          <p:nvPr/>
        </p:nvSpPr>
        <p:spPr>
          <a:xfrm>
            <a:off x="1024128" y="3785616"/>
            <a:ext cx="2926080" cy="9144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200"/>
              </a:spcAft>
              <a:buNone/>
            </a:pPr>
            <a:r>
              <a:rPr sz="1150" b="1" i="0">
                <a:solidFill>
                  <a:srgbClr val="003255"/>
                </a:solidFill>
                <a:latin typeface="Arial"/>
              </a:rPr>
              <a:t>Tell the story</a:t>
            </a:r>
            <a:endParaRPr sz="1150"/>
          </a:p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Rewrite the panel title as a message ('Margins have expanded five years in a row'), not a label ('EBIT margin').</a:t>
            </a:r>
            <a:endParaRPr sz="950"/>
          </a:p>
        </p:txBody>
      </p:sp>
      <p:sp>
        <p:nvSpPr>
          <p:cNvPr id="19" name="Rectangle 18"/>
          <p:cNvSpPr/>
          <p:nvPr/>
        </p:nvSpPr>
        <p:spPr>
          <a:xfrm>
            <a:off x="429768" y="4892040"/>
            <a:ext cx="3566160" cy="13258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39496" y="4956048"/>
            <a:ext cx="3346704" cy="12344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300"/>
              </a:spcAft>
              <a:buNone/>
            </a:pPr>
            <a:r>
              <a:rPr sz="1000" b="1" i="0">
                <a:solidFill>
                  <a:srgbClr val="003255"/>
                </a:solidFill>
                <a:latin typeface="Arial"/>
              </a:rPr>
              <a:t>Colour rules</a:t>
            </a:r>
            <a:endParaRPr sz="1000"/>
          </a:p>
          <a:p>
            <a:pPr algn="l">
              <a:buNone/>
            </a:pPr>
            <a:r>
              <a:rPr sz="900" b="0" i="0">
                <a:solidFill>
                  <a:srgbClr val="1F1F1F"/>
                </a:solidFill>
                <a:latin typeface="Arial"/>
              </a:rPr>
              <a:t>Navy = the company / history. Light blue = peers / forecast. Green and red only for up/down, bull/bear and above/below. Max three colours per chart.</a:t>
            </a:r>
            <a:endParaRPr sz="900"/>
          </a:p>
        </p:txBody>
      </p:sp>
      <p:sp>
        <p:nvSpPr>
          <p:cNvPr id="21" name="TextBox 20"/>
          <p:cNvSpPr txBox="1"/>
          <p:nvPr/>
        </p:nvSpPr>
        <p:spPr>
          <a:xfrm>
            <a:off x="4270248" y="128016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Charts</a:t>
            </a:r>
            <a:endParaRPr sz="1100"/>
          </a:p>
        </p:txBody>
      </p:sp>
      <p:cxnSp>
        <p:nvCxnSpPr>
          <p:cNvPr id="22" name="Connector 21"/>
          <p:cNvCxnSpPr/>
          <p:nvPr/>
        </p:nvCxnSpPr>
        <p:spPr>
          <a:xfrm>
            <a:off x="4270248" y="1581912"/>
            <a:ext cx="3657599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270248" y="1691640"/>
          <a:ext cx="3703319" cy="246888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474784"/>
                <a:gridCol w="3228535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#1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Column and bar charts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#2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Combination, line and area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#3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Pie and doughnut charts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#4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Bridge (waterfall) charts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#5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Valuation visuals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#6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Peer benchmarking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#7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Share price chart with events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#8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KPI tiles and scorecards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#9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Market-view charts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270248" y="4270248"/>
            <a:ext cx="3703320" cy="20116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100"/>
              </a:spcAft>
              <a:buNone/>
            </a:pPr>
            <a:r>
              <a:rPr sz="800" b="0" i="0">
                <a:solidFill>
                  <a:srgbClr val="6B7480"/>
                </a:solidFill>
                <a:latin typeface="Arial"/>
              </a:rPr>
              <a:t>#1  column + CAGR, clustered, stacked, 100% stacked, ranked bar, +/- columns</a:t>
            </a:r>
            <a:endParaRPr sz="800"/>
          </a:p>
          <a:p>
            <a:pPr algn="l">
              <a:spcAft>
                <a:spcPts val="100"/>
              </a:spcAft>
              <a:buNone/>
            </a:pPr>
            <a:r>
              <a:rPr sz="800" b="0" i="0">
                <a:solidFill>
                  <a:srgbClr val="6B7480"/>
                </a:solidFill>
                <a:latin typeface="Arial"/>
              </a:rPr>
              <a:t>#2  columns + margin line, scenario paths, vs. peers, stacked area, P/E band</a:t>
            </a:r>
            <a:endParaRPr sz="800"/>
          </a:p>
          <a:p>
            <a:pPr algn="l">
              <a:spcAft>
                <a:spcPts val="100"/>
              </a:spcAft>
              <a:buNone/>
            </a:pPr>
            <a:r>
              <a:rPr sz="800" b="0" i="0">
                <a:solidFill>
                  <a:srgbClr val="6B7480"/>
                </a:solidFill>
                <a:latin typeface="Arial"/>
              </a:rPr>
              <a:t>#3  pie, doughnut with total, market share, twin doughnuts, KPI rings, 100% bar</a:t>
            </a:r>
            <a:endParaRPr sz="800"/>
          </a:p>
          <a:p>
            <a:pPr algn="l">
              <a:spcAft>
                <a:spcPts val="100"/>
              </a:spcAft>
              <a:buNone/>
            </a:pPr>
            <a:r>
              <a:rPr sz="800" b="0" i="0">
                <a:solidFill>
                  <a:srgbClr val="6B7480"/>
                </a:solidFill>
                <a:latin typeface="Arial"/>
              </a:rPr>
              <a:t>#4  revenue bridge, EBIT bridge, EV-to-equity bridge, target price build-up</a:t>
            </a:r>
            <a:endParaRPr sz="800"/>
          </a:p>
          <a:p>
            <a:pPr algn="l">
              <a:spcAft>
                <a:spcPts val="100"/>
              </a:spcAft>
              <a:buNone/>
            </a:pPr>
            <a:r>
              <a:rPr sz="800" b="0" i="0">
                <a:solidFill>
                  <a:srgbClr val="6B7480"/>
                </a:solidFill>
                <a:latin typeface="Arial"/>
              </a:rPr>
              <a:t>#5  football field, sensitivity heat map, scenario values, EV composition</a:t>
            </a:r>
            <a:endParaRPr sz="800"/>
          </a:p>
          <a:p>
            <a:pPr algn="l">
              <a:spcAft>
                <a:spcPts val="100"/>
              </a:spcAft>
              <a:buNone/>
            </a:pPr>
            <a:r>
              <a:rPr sz="800" b="0" i="0">
                <a:solidFill>
                  <a:srgbClr val="6B7480"/>
                </a:solidFill>
                <a:latin typeface="Arial"/>
              </a:rPr>
              <a:t>#6  scatter with trend line, bubble chart, premium/discount bars, radar</a:t>
            </a:r>
            <a:endParaRPr sz="800"/>
          </a:p>
          <a:p>
            <a:pPr algn="l">
              <a:spcAft>
                <a:spcPts val="100"/>
              </a:spcAft>
              <a:buNone/>
            </a:pPr>
            <a:r>
              <a:rPr sz="800" b="0" i="0">
                <a:solidFill>
                  <a:srgbClr val="6B7480"/>
                </a:solidFill>
                <a:latin typeface="Arial"/>
              </a:rPr>
              <a:t>#7  price vs. index, numbered events, target price, performance table</a:t>
            </a:r>
            <a:endParaRPr sz="800"/>
          </a:p>
          <a:p>
            <a:pPr algn="l">
              <a:spcAft>
                <a:spcPts val="100"/>
              </a:spcAft>
              <a:buNone/>
            </a:pPr>
            <a:r>
              <a:rPr sz="800" b="0" i="0">
                <a:solidFill>
                  <a:srgbClr val="6B7480"/>
                </a:solidFill>
                <a:latin typeface="Arial"/>
              </a:rPr>
              <a:t>#8  headline tiles, Harvey-ball scorecard, estimates vs. consensus</a:t>
            </a:r>
            <a:endParaRPr sz="800"/>
          </a:p>
          <a:p>
            <a:pPr algn="l">
              <a:spcAft>
                <a:spcPts val="100"/>
              </a:spcAft>
              <a:buNone/>
            </a:pPr>
            <a:r>
              <a:rPr sz="800" b="0" i="0">
                <a:solidFill>
                  <a:srgbClr val="6B7480"/>
                </a:solidFill>
                <a:latin typeface="Arial"/>
              </a:rPr>
              <a:t>#9  reverse DCF, growth by source, consensus gap, locations</a:t>
            </a:r>
            <a:endParaRPr sz="800"/>
          </a:p>
        </p:txBody>
      </p:sp>
      <p:sp>
        <p:nvSpPr>
          <p:cNvPr id="25" name="TextBox 24"/>
          <p:cNvSpPr txBox="1"/>
          <p:nvPr/>
        </p:nvSpPr>
        <p:spPr>
          <a:xfrm>
            <a:off x="8183879" y="1280160"/>
            <a:ext cx="3584448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Frameworks</a:t>
            </a:r>
            <a:endParaRPr sz="1100"/>
          </a:p>
        </p:txBody>
      </p:sp>
      <p:cxnSp>
        <p:nvCxnSpPr>
          <p:cNvPr id="26" name="Connector 25"/>
          <p:cNvCxnSpPr/>
          <p:nvPr/>
        </p:nvCxnSpPr>
        <p:spPr>
          <a:xfrm>
            <a:off x="8183879" y="1581912"/>
            <a:ext cx="3538728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8183879" y="1691640"/>
          <a:ext cx="3584447" cy="27432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459544"/>
                <a:gridCol w="3124903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#1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SWOT analysis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#2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Porter's five forces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#3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Competitive positioning matrix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#4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Business model and value chain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#5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Market sizing – TAM / SAM / SOM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#6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Investment thesis in three pillars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#7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Timeline and catalyst calendar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#8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Risk matrix with mitigants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#9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Scenario tree and expected value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4F7FA0"/>
                          </a:solidFill>
                          <a:latin typeface="Arial"/>
                        </a:rPr>
                        <a:t>#10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003255"/>
                          </a:solidFill>
                          <a:latin typeface="Arial"/>
                        </a:rPr>
                        <a:t>Value driver tree (ROIC)</a:t>
                      </a:r>
                      <a:endParaRPr sz="9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1221638" y="2492654"/>
            <a:ext cx="1044245" cy="0"/>
          </a:xfrm>
          <a:prstGeom prst="line">
            <a:avLst/>
          </a:prstGeom>
          <a:ln w="19050">
            <a:solidFill>
              <a:srgbClr val="81B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24381" y="2697480"/>
            <a:ext cx="8229600" cy="685800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3600" b="0" i="0">
                <a:solidFill>
                  <a:srgbClr val="FFFFFF"/>
                </a:solidFill>
                <a:latin typeface="Cambria"/>
              </a:rPr>
              <a:t>Charts</a:t>
            </a:r>
            <a:endParaRPr sz="3600"/>
          </a:p>
        </p:txBody>
      </p:sp>
      <p:sp>
        <p:nvSpPr>
          <p:cNvPr id="5" name="TextBox 4"/>
          <p:cNvSpPr txBox="1"/>
          <p:nvPr/>
        </p:nvSpPr>
        <p:spPr>
          <a:xfrm>
            <a:off x="1228953" y="4129430"/>
            <a:ext cx="8229600" cy="96926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800" b="0" i="0">
                <a:solidFill>
                  <a:srgbClr val="81B0C0"/>
                </a:solidFill>
                <a:latin typeface="Arial"/>
              </a:rPr>
              <a:t>Native, editable PowerPoint charts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Chart library #1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Column and bar charts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The workhorses: levels over time, comparisons between companies and the composition of a total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All charts are native PowerPoint charts – right-click a chart and choose Edit Data to change the numbers. Example data: fictional Example Company ASA (from the DCF toolkit) and illustrative market data.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4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Column with CAGR arrow</a:t>
            </a:r>
            <a:endParaRPr sz="11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81912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7647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29768" y="3511296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revenue, EBITDA, members – history vs. forecast</a:t>
            </a:r>
            <a:endParaRPr sz="750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29768" y="1682495"/>
          <a:ext cx="3657600" cy="17922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6" name="Connector 15"/>
          <p:cNvCxnSpPr/>
          <p:nvPr/>
        </p:nvCxnSpPr>
        <p:spPr>
          <a:xfrm flipV="1">
            <a:off x="2473452" y="1981687"/>
            <a:ext cx="1289304" cy="150463"/>
          </a:xfrm>
          <a:prstGeom prst="line">
            <a:avLst/>
          </a:prstGeom>
          <a:ln w="15875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60904" y="1727735"/>
            <a:ext cx="914400" cy="21945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F1F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1F1F1F"/>
                </a:solidFill>
                <a:latin typeface="Arial"/>
              </a:rPr>
              <a:t>CAGR +6.0%</a:t>
            </a:r>
            <a:endParaRPr sz="800"/>
          </a:p>
        </p:txBody>
      </p:sp>
      <p:sp>
        <p:nvSpPr>
          <p:cNvPr id="18" name="TextBox 17"/>
          <p:cNvSpPr txBox="1"/>
          <p:nvPr/>
        </p:nvSpPr>
        <p:spPr>
          <a:xfrm>
            <a:off x="4270248" y="128016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Clustered column</a:t>
            </a:r>
            <a:endParaRPr sz="1100"/>
          </a:p>
        </p:txBody>
      </p:sp>
      <p:cxnSp>
        <p:nvCxnSpPr>
          <p:cNvPr id="19" name="Connector 18"/>
          <p:cNvCxnSpPr/>
          <p:nvPr/>
        </p:nvCxnSpPr>
        <p:spPr>
          <a:xfrm>
            <a:off x="4270248" y="1581912"/>
            <a:ext cx="322783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761695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4270248" y="3511296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company vs. market / peers / consensus</a:t>
            </a:r>
            <a:endParaRPr sz="750"/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270248" y="1682495"/>
          <a:ext cx="3657600" cy="17922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110727" y="128016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Stacked column</a:t>
            </a:r>
            <a:endParaRPr sz="1100"/>
          </a:p>
        </p:txBody>
      </p:sp>
      <p:cxnSp>
        <p:nvCxnSpPr>
          <p:cNvPr id="24" name="Connector 23"/>
          <p:cNvCxnSpPr/>
          <p:nvPr/>
        </p:nvCxnSpPr>
        <p:spPr>
          <a:xfrm>
            <a:off x="8110727" y="1581912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145743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8110727" y="3511296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revenue or EBIT by segment over time</a:t>
            </a:r>
            <a:endParaRPr sz="750"/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110727" y="1682495"/>
          <a:ext cx="3657600" cy="17922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29768" y="3822191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100% stacked column</a:t>
            </a:r>
            <a:endParaRPr sz="1100"/>
          </a:p>
        </p:txBody>
      </p:sp>
      <p:cxnSp>
        <p:nvCxnSpPr>
          <p:cNvPr id="29" name="Connector 28"/>
          <p:cNvCxnSpPr/>
          <p:nvPr/>
        </p:nvCxnSpPr>
        <p:spPr>
          <a:xfrm>
            <a:off x="429768" y="4123944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7647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31" name="TextBox 30"/>
          <p:cNvSpPr txBox="1"/>
          <p:nvPr/>
        </p:nvSpPr>
        <p:spPr>
          <a:xfrm>
            <a:off x="429768" y="6053327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how the mix shifts over time</a:t>
            </a:r>
            <a:endParaRPr sz="750"/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429768" y="4224528"/>
          <a:ext cx="3657600" cy="179222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4270248" y="3822191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Ranked bar with median line</a:t>
            </a:r>
            <a:endParaRPr sz="1100"/>
          </a:p>
        </p:txBody>
      </p:sp>
      <p:cxnSp>
        <p:nvCxnSpPr>
          <p:cNvPr id="34" name="Connector 33"/>
          <p:cNvCxnSpPr/>
          <p:nvPr/>
        </p:nvCxnSpPr>
        <p:spPr>
          <a:xfrm>
            <a:off x="4270248" y="4123944"/>
            <a:ext cx="322783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61695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5</a:t>
            </a:r>
            <a:endParaRPr sz="1200"/>
          </a:p>
        </p:txBody>
      </p:sp>
      <p:sp>
        <p:nvSpPr>
          <p:cNvPr id="36" name="TextBox 35"/>
          <p:cNvSpPr txBox="1"/>
          <p:nvPr/>
        </p:nvSpPr>
        <p:spPr>
          <a:xfrm>
            <a:off x="4270248" y="6053327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multiples, margins or growth across the peer group</a:t>
            </a:r>
            <a:endParaRPr sz="750"/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4270248" y="4224528"/>
          <a:ext cx="3657600" cy="1792224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cxnSp>
        <p:nvCxnSpPr>
          <p:cNvPr id="38" name="Connector 37"/>
          <p:cNvCxnSpPr/>
          <p:nvPr/>
        </p:nvCxnSpPr>
        <p:spPr>
          <a:xfrm>
            <a:off x="6972052" y="4242816"/>
            <a:ext cx="0" cy="1755648"/>
          </a:xfrm>
          <a:prstGeom prst="line">
            <a:avLst/>
          </a:prstGeom>
          <a:ln w="12700">
            <a:solidFill>
              <a:srgbClr val="1F1F1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474972" y="5797296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1F1F1F"/>
                </a:solidFill>
                <a:latin typeface="Arial"/>
              </a:rPr>
              <a:t>Median 12.7x</a:t>
            </a:r>
            <a:endParaRPr sz="700"/>
          </a:p>
        </p:txBody>
      </p:sp>
      <p:sp>
        <p:nvSpPr>
          <p:cNvPr id="40" name="TextBox 39"/>
          <p:cNvSpPr txBox="1"/>
          <p:nvPr/>
        </p:nvSpPr>
        <p:spPr>
          <a:xfrm>
            <a:off x="8110727" y="3822191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Positive / negative columns</a:t>
            </a:r>
            <a:endParaRPr sz="1100"/>
          </a:p>
        </p:txBody>
      </p:sp>
      <p:cxnSp>
        <p:nvCxnSpPr>
          <p:cNvPr id="41" name="Connector 40"/>
          <p:cNvCxnSpPr/>
          <p:nvPr/>
        </p:nvCxnSpPr>
        <p:spPr>
          <a:xfrm>
            <a:off x="8110727" y="4123944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145743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6</a:t>
            </a:r>
            <a:endParaRPr sz="1200"/>
          </a:p>
        </p:txBody>
      </p:sp>
      <p:sp>
        <p:nvSpPr>
          <p:cNvPr id="43" name="TextBox 42"/>
          <p:cNvSpPr txBox="1"/>
          <p:nvPr/>
        </p:nvSpPr>
        <p:spPr>
          <a:xfrm>
            <a:off x="8110727" y="6053327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share price performance, estimate revisions, surprises</a:t>
            </a:r>
            <a:endParaRPr sz="750"/>
          </a:p>
        </p:txBody>
      </p:sp>
      <p:graphicFrame>
        <p:nvGraphicFramePr>
          <p:cNvPr id="44" name="Chart 43"/>
          <p:cNvGraphicFramePr>
            <a:graphicFrameLocks noGrp="1"/>
          </p:cNvGraphicFramePr>
          <p:nvPr/>
        </p:nvGraphicFramePr>
        <p:xfrm>
          <a:off x="8110727" y="4224528"/>
          <a:ext cx="3657600" cy="1792224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Chart library #2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Combination, line and area charts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Two measures in one picture (level + ratio), developments over time and scenario paths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All charts are native PowerPoint charts – right-click a chart and choose Edit Data to change the numbers. Example data: fictional Example Company ASA (from the DCF toolkit) and illustrative market data.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5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Columns + line on secondary axis</a:t>
            </a:r>
            <a:endParaRPr sz="11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81912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7647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29768" y="3511296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revenue and margin, volume and price</a:t>
            </a:r>
            <a:endParaRPr sz="750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29768" y="1682495"/>
          <a:ext cx="3657600" cy="17922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270248" y="128016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Single column + line</a:t>
            </a:r>
            <a:endParaRPr sz="1100"/>
          </a:p>
        </p:txBody>
      </p:sp>
      <p:cxnSp>
        <p:nvCxnSpPr>
          <p:cNvPr id="17" name="Connector 16"/>
          <p:cNvCxnSpPr/>
          <p:nvPr/>
        </p:nvCxnSpPr>
        <p:spPr>
          <a:xfrm>
            <a:off x="4270248" y="1581912"/>
            <a:ext cx="322783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1695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4270248" y="3511296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cash flow and cash conversion, capex and capex/sales</a:t>
            </a:r>
            <a:endParaRPr sz="750"/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270248" y="1682495"/>
          <a:ext cx="3657600" cy="17922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110727" y="128016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Multi-line – scenario paths</a:t>
            </a:r>
            <a:endParaRPr sz="1100"/>
          </a:p>
        </p:txBody>
      </p:sp>
      <p:cxnSp>
        <p:nvCxnSpPr>
          <p:cNvPr id="22" name="Connector 21"/>
          <p:cNvCxnSpPr/>
          <p:nvPr/>
        </p:nvCxnSpPr>
        <p:spPr>
          <a:xfrm>
            <a:off x="8110727" y="1581912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145743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8110727" y="3511296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bear / base / bull, or company vs. peers over time</a:t>
            </a:r>
            <a:endParaRPr sz="750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8110727" y="1682495"/>
          <a:ext cx="3657600" cy="17922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429768" y="3822191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Line – company vs. peer average</a:t>
            </a:r>
            <a:endParaRPr sz="1100"/>
          </a:p>
        </p:txBody>
      </p:sp>
      <p:cxnSp>
        <p:nvCxnSpPr>
          <p:cNvPr id="27" name="Connector 26"/>
          <p:cNvCxnSpPr/>
          <p:nvPr/>
        </p:nvCxnSpPr>
        <p:spPr>
          <a:xfrm>
            <a:off x="429768" y="4123944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77647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429768" y="6053327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margin, ROIC or leverage against the peer group</a:t>
            </a:r>
            <a:endParaRPr sz="750"/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429768" y="4224528"/>
          <a:ext cx="3657600" cy="179222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270248" y="3822191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Stacked area</a:t>
            </a:r>
            <a:endParaRPr sz="1100"/>
          </a:p>
        </p:txBody>
      </p:sp>
      <p:cxnSp>
        <p:nvCxnSpPr>
          <p:cNvPr id="32" name="Connector 31"/>
          <p:cNvCxnSpPr/>
          <p:nvPr/>
        </p:nvCxnSpPr>
        <p:spPr>
          <a:xfrm>
            <a:off x="4270248" y="4123944"/>
            <a:ext cx="322783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761695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5</a:t>
            </a:r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4270248" y="6053327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market size by segment or channel</a:t>
            </a:r>
            <a:endParaRPr sz="750"/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4270248" y="4224528"/>
          <a:ext cx="3657600" cy="1792224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8110727" y="3822191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Multiple over time with average ± 1 std. dev.</a:t>
            </a:r>
            <a:endParaRPr sz="1100"/>
          </a:p>
        </p:txBody>
      </p:sp>
      <p:cxnSp>
        <p:nvCxnSpPr>
          <p:cNvPr id="37" name="Connector 36"/>
          <p:cNvCxnSpPr/>
          <p:nvPr/>
        </p:nvCxnSpPr>
        <p:spPr>
          <a:xfrm>
            <a:off x="8110727" y="4123944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1145743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6</a:t>
            </a:r>
            <a:endParaRPr sz="1200"/>
          </a:p>
        </p:txBody>
      </p:sp>
      <p:sp>
        <p:nvSpPr>
          <p:cNvPr id="39" name="TextBox 38"/>
          <p:cNvSpPr txBox="1"/>
          <p:nvPr/>
        </p:nvSpPr>
        <p:spPr>
          <a:xfrm>
            <a:off x="8110727" y="6053327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is the stock cheap vs. its own history?</a:t>
            </a:r>
            <a:endParaRPr sz="750"/>
          </a:p>
        </p:txBody>
      </p:sp>
      <p:graphicFrame>
        <p:nvGraphicFramePr>
          <p:cNvPr id="40" name="Chart 39"/>
          <p:cNvGraphicFramePr>
            <a:graphicFrameLocks noGrp="1"/>
          </p:cNvGraphicFramePr>
          <p:nvPr/>
        </p:nvGraphicFramePr>
        <p:xfrm>
          <a:off x="8110727" y="4224528"/>
          <a:ext cx="3657600" cy="1792224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Chart library #3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Pie and doughnut charts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Composition at one point in time – keep to five slices or fewer and put the most important slice in navy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All charts are native PowerPoint charts – right-click a chart and choose Edit Data to change the numbers. Example data: fictional Example Company ASA (from the DCF toolkit) and illustrative market data.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6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Pie with labels</a:t>
            </a:r>
            <a:endParaRPr sz="11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81912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77647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29768" y="3511296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shareholder structure, customer mix</a:t>
            </a:r>
            <a:endParaRPr sz="750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04088" y="1682495"/>
          <a:ext cx="3108960" cy="17922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4270248" y="128016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Doughnut with total in the centre</a:t>
            </a:r>
            <a:endParaRPr sz="1100"/>
          </a:p>
        </p:txBody>
      </p:sp>
      <p:cxnSp>
        <p:nvCxnSpPr>
          <p:cNvPr id="17" name="Connector 16"/>
          <p:cNvCxnSpPr/>
          <p:nvPr/>
        </p:nvCxnSpPr>
        <p:spPr>
          <a:xfrm>
            <a:off x="4270248" y="1581912"/>
            <a:ext cx="322783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761695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4270248" y="3511296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revenue by segment or geography</a:t>
            </a:r>
            <a:endParaRPr sz="750"/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270248" y="1682495"/>
          <a:ext cx="2103120" cy="17922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773168" y="2350008"/>
            <a:ext cx="1097280" cy="45720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850" b="1" i="0">
                <a:solidFill>
                  <a:srgbClr val="003255"/>
                </a:solidFill>
                <a:latin typeface="Arial"/>
              </a:rPr>
              <a:t>NOKm</a:t>
            </a:r>
            <a:endParaRPr sz="850"/>
          </a:p>
          <a:p>
            <a:pPr algn="ctr">
              <a:buNone/>
            </a:pPr>
            <a:r>
              <a:rPr sz="850" b="1" i="0">
                <a:solidFill>
                  <a:srgbClr val="003255"/>
                </a:solidFill>
                <a:latin typeface="Arial"/>
              </a:rPr>
              <a:t>5,433</a:t>
            </a:r>
            <a:endParaRPr sz="850"/>
          </a:p>
        </p:txBody>
      </p:sp>
      <p:sp>
        <p:nvSpPr>
          <p:cNvPr id="22" name="Rectangle 21"/>
          <p:cNvSpPr/>
          <p:nvPr/>
        </p:nvSpPr>
        <p:spPr>
          <a:xfrm>
            <a:off x="6464808" y="2221991"/>
            <a:ext cx="118872" cy="11887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629400" y="2185415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Norway</a:t>
            </a:r>
            <a:endParaRPr sz="850"/>
          </a:p>
        </p:txBody>
      </p:sp>
      <p:sp>
        <p:nvSpPr>
          <p:cNvPr id="24" name="Rectangle 23"/>
          <p:cNvSpPr/>
          <p:nvPr/>
        </p:nvSpPr>
        <p:spPr>
          <a:xfrm>
            <a:off x="6464808" y="2496311"/>
            <a:ext cx="118872" cy="118872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629400" y="2459735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Sweden</a:t>
            </a:r>
            <a:endParaRPr sz="850"/>
          </a:p>
        </p:txBody>
      </p:sp>
      <p:sp>
        <p:nvSpPr>
          <p:cNvPr id="26" name="Rectangle 25"/>
          <p:cNvSpPr/>
          <p:nvPr/>
        </p:nvSpPr>
        <p:spPr>
          <a:xfrm>
            <a:off x="6464808" y="2770632"/>
            <a:ext cx="118872" cy="118872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29400" y="2734056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Denmark &amp; Finland</a:t>
            </a:r>
            <a:endParaRPr sz="850"/>
          </a:p>
        </p:txBody>
      </p:sp>
      <p:sp>
        <p:nvSpPr>
          <p:cNvPr id="28" name="TextBox 27"/>
          <p:cNvSpPr txBox="1"/>
          <p:nvPr/>
        </p:nvSpPr>
        <p:spPr>
          <a:xfrm>
            <a:off x="8110727" y="128016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Market share doughnut</a:t>
            </a:r>
            <a:endParaRPr sz="1100"/>
          </a:p>
        </p:txBody>
      </p:sp>
      <p:cxnSp>
        <p:nvCxnSpPr>
          <p:cNvPr id="29" name="Connector 28"/>
          <p:cNvCxnSpPr/>
          <p:nvPr/>
        </p:nvCxnSpPr>
        <p:spPr>
          <a:xfrm>
            <a:off x="8110727" y="1581912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145743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sp>
        <p:nvSpPr>
          <p:cNvPr id="31" name="TextBox 30"/>
          <p:cNvSpPr txBox="1"/>
          <p:nvPr/>
        </p:nvSpPr>
        <p:spPr>
          <a:xfrm>
            <a:off x="8110727" y="3511296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highlight the company, grey out the rest</a:t>
            </a:r>
            <a:endParaRPr sz="750"/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8110727" y="1682495"/>
          <a:ext cx="2103120" cy="17922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8613648" y="2350008"/>
            <a:ext cx="1097280" cy="45720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850" b="1" i="0">
                <a:solidFill>
                  <a:srgbClr val="003255"/>
                </a:solidFill>
                <a:latin typeface="Arial"/>
              </a:rPr>
              <a:t>2025</a:t>
            </a:r>
            <a:endParaRPr sz="850"/>
          </a:p>
          <a:p>
            <a:pPr algn="ctr">
              <a:buNone/>
            </a:pPr>
            <a:r>
              <a:rPr sz="850" b="1" i="0">
                <a:solidFill>
                  <a:srgbClr val="003255"/>
                </a:solidFill>
                <a:latin typeface="Arial"/>
              </a:rPr>
              <a:t>NOK 37bn</a:t>
            </a:r>
            <a:endParaRPr sz="850"/>
          </a:p>
        </p:txBody>
      </p:sp>
      <p:sp>
        <p:nvSpPr>
          <p:cNvPr id="34" name="Rectangle 33"/>
          <p:cNvSpPr/>
          <p:nvPr/>
        </p:nvSpPr>
        <p:spPr>
          <a:xfrm>
            <a:off x="10305288" y="1947672"/>
            <a:ext cx="118872" cy="11887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469880" y="1911095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Example Company</a:t>
            </a:r>
            <a:endParaRPr sz="850"/>
          </a:p>
        </p:txBody>
      </p:sp>
      <p:sp>
        <p:nvSpPr>
          <p:cNvPr id="36" name="Rectangle 35"/>
          <p:cNvSpPr/>
          <p:nvPr/>
        </p:nvSpPr>
        <p:spPr>
          <a:xfrm>
            <a:off x="10305288" y="2221991"/>
            <a:ext cx="118872" cy="118872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10469880" y="2185415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Competitor A</a:t>
            </a:r>
            <a:endParaRPr sz="850"/>
          </a:p>
        </p:txBody>
      </p:sp>
      <p:sp>
        <p:nvSpPr>
          <p:cNvPr id="38" name="Rectangle 37"/>
          <p:cNvSpPr/>
          <p:nvPr/>
        </p:nvSpPr>
        <p:spPr>
          <a:xfrm>
            <a:off x="10305288" y="2496312"/>
            <a:ext cx="118872" cy="118872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0469880" y="2459736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Competitor B</a:t>
            </a:r>
            <a:endParaRPr sz="850"/>
          </a:p>
        </p:txBody>
      </p:sp>
      <p:sp>
        <p:nvSpPr>
          <p:cNvPr id="40" name="Rectangle 39"/>
          <p:cNvSpPr/>
          <p:nvPr/>
        </p:nvSpPr>
        <p:spPr>
          <a:xfrm>
            <a:off x="10305288" y="2770632"/>
            <a:ext cx="118872" cy="118872"/>
          </a:xfrm>
          <a:prstGeom prst="rect">
            <a:avLst/>
          </a:prstGeom>
          <a:solidFill>
            <a:srgbClr val="A9C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0469880" y="2734056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Competitor C</a:t>
            </a:r>
            <a:endParaRPr sz="850"/>
          </a:p>
        </p:txBody>
      </p:sp>
      <p:sp>
        <p:nvSpPr>
          <p:cNvPr id="42" name="Rectangle 41"/>
          <p:cNvSpPr/>
          <p:nvPr/>
        </p:nvSpPr>
        <p:spPr>
          <a:xfrm>
            <a:off x="10305288" y="3044952"/>
            <a:ext cx="118872" cy="118872"/>
          </a:xfrm>
          <a:prstGeom prst="rect">
            <a:avLst/>
          </a:prstGeom>
          <a:solidFill>
            <a:srgbClr val="C9D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0469880" y="3008376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Others</a:t>
            </a:r>
            <a:endParaRPr sz="850"/>
          </a:p>
        </p:txBody>
      </p:sp>
      <p:sp>
        <p:nvSpPr>
          <p:cNvPr id="44" name="TextBox 43"/>
          <p:cNvSpPr txBox="1"/>
          <p:nvPr/>
        </p:nvSpPr>
        <p:spPr>
          <a:xfrm>
            <a:off x="429768" y="3822191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Twin doughnuts</a:t>
            </a:r>
            <a:endParaRPr sz="1100"/>
          </a:p>
        </p:txBody>
      </p:sp>
      <p:cxnSp>
        <p:nvCxnSpPr>
          <p:cNvPr id="45" name="Connector 44"/>
          <p:cNvCxnSpPr/>
          <p:nvPr/>
        </p:nvCxnSpPr>
        <p:spPr>
          <a:xfrm>
            <a:off x="429768" y="4123944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377647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47" name="TextBox 46"/>
          <p:cNvSpPr txBox="1"/>
          <p:nvPr/>
        </p:nvSpPr>
        <p:spPr>
          <a:xfrm>
            <a:off x="429768" y="6053327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revenue vs. profit mix – where is the money made?</a:t>
            </a:r>
            <a:endParaRPr sz="750"/>
          </a:p>
        </p:txBody>
      </p:sp>
      <p:graphicFrame>
        <p:nvGraphicFramePr>
          <p:cNvPr id="48" name="Chart 47"/>
          <p:cNvGraphicFramePr>
            <a:graphicFrameLocks noGrp="1"/>
          </p:cNvGraphicFramePr>
          <p:nvPr/>
        </p:nvGraphicFramePr>
        <p:xfrm>
          <a:off x="429768" y="4270248"/>
          <a:ext cx="1828800" cy="147218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9" name="TextBox 48"/>
          <p:cNvSpPr txBox="1"/>
          <p:nvPr/>
        </p:nvSpPr>
        <p:spPr>
          <a:xfrm>
            <a:off x="795528" y="4777740"/>
            <a:ext cx="1097280" cy="45720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Revenue</a:t>
            </a:r>
            <a:endParaRPr sz="800"/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2258568" y="4270248"/>
          <a:ext cx="1828800" cy="1472184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624327" y="4777740"/>
            <a:ext cx="1097280" cy="45720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EBIT</a:t>
            </a:r>
            <a:endParaRPr sz="800"/>
          </a:p>
        </p:txBody>
      </p:sp>
      <p:sp>
        <p:nvSpPr>
          <p:cNvPr id="52" name="Rectangle 51"/>
          <p:cNvSpPr/>
          <p:nvPr/>
        </p:nvSpPr>
        <p:spPr>
          <a:xfrm>
            <a:off x="704088" y="5806440"/>
            <a:ext cx="118872" cy="11887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68680" y="5769864"/>
            <a:ext cx="868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Norway</a:t>
            </a:r>
            <a:endParaRPr sz="750"/>
          </a:p>
        </p:txBody>
      </p:sp>
      <p:sp>
        <p:nvSpPr>
          <p:cNvPr id="54" name="Rectangle 53"/>
          <p:cNvSpPr/>
          <p:nvPr/>
        </p:nvSpPr>
        <p:spPr>
          <a:xfrm>
            <a:off x="1755648" y="5806440"/>
            <a:ext cx="118872" cy="118872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1920240" y="5769864"/>
            <a:ext cx="868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Sweden</a:t>
            </a:r>
            <a:endParaRPr sz="750"/>
          </a:p>
        </p:txBody>
      </p:sp>
      <p:sp>
        <p:nvSpPr>
          <p:cNvPr id="56" name="Rectangle 55"/>
          <p:cNvSpPr/>
          <p:nvPr/>
        </p:nvSpPr>
        <p:spPr>
          <a:xfrm>
            <a:off x="2807208" y="5806440"/>
            <a:ext cx="118872" cy="118872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2971800" y="5769864"/>
            <a:ext cx="868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Denmark &amp; Finland</a:t>
            </a:r>
            <a:endParaRPr sz="750"/>
          </a:p>
        </p:txBody>
      </p:sp>
      <p:sp>
        <p:nvSpPr>
          <p:cNvPr id="58" name="TextBox 57"/>
          <p:cNvSpPr txBox="1"/>
          <p:nvPr/>
        </p:nvSpPr>
        <p:spPr>
          <a:xfrm>
            <a:off x="4270248" y="3822191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KPI rings</a:t>
            </a:r>
            <a:endParaRPr sz="1100"/>
          </a:p>
        </p:txBody>
      </p:sp>
      <p:cxnSp>
        <p:nvCxnSpPr>
          <p:cNvPr id="59" name="Connector 58"/>
          <p:cNvCxnSpPr/>
          <p:nvPr/>
        </p:nvCxnSpPr>
        <p:spPr>
          <a:xfrm>
            <a:off x="4270248" y="4123944"/>
            <a:ext cx="322783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761695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5</a:t>
            </a:r>
            <a:endParaRPr sz="1200"/>
          </a:p>
        </p:txBody>
      </p:sp>
      <p:sp>
        <p:nvSpPr>
          <p:cNvPr id="61" name="TextBox 60"/>
          <p:cNvSpPr txBox="1"/>
          <p:nvPr/>
        </p:nvSpPr>
        <p:spPr>
          <a:xfrm>
            <a:off x="4270248" y="6053327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one number that matters: recurring revenue, utilisation, payout</a:t>
            </a:r>
            <a:endParaRPr sz="750"/>
          </a:p>
        </p:txBody>
      </p:sp>
      <p:graphicFrame>
        <p:nvGraphicFramePr>
          <p:cNvPr id="62" name="Chart 61"/>
          <p:cNvGraphicFramePr>
            <a:graphicFrameLocks noGrp="1"/>
          </p:cNvGraphicFramePr>
          <p:nvPr/>
        </p:nvGraphicFramePr>
        <p:xfrm>
          <a:off x="4270248" y="4242816"/>
          <a:ext cx="1216152" cy="132588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4329684" y="4677155"/>
            <a:ext cx="1097280" cy="45720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90%</a:t>
            </a:r>
            <a:endParaRPr sz="950"/>
          </a:p>
        </p:txBody>
      </p:sp>
      <p:sp>
        <p:nvSpPr>
          <p:cNvPr id="64" name="TextBox 63"/>
          <p:cNvSpPr txBox="1"/>
          <p:nvPr/>
        </p:nvSpPr>
        <p:spPr>
          <a:xfrm>
            <a:off x="4270248" y="5577840"/>
            <a:ext cx="1216152" cy="3657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50" b="1" i="0">
                <a:solidFill>
                  <a:srgbClr val="003255"/>
                </a:solidFill>
                <a:latin typeface="Arial"/>
              </a:rPr>
              <a:t>Recurring revenue</a:t>
            </a:r>
            <a:endParaRPr sz="850"/>
          </a:p>
        </p:txBody>
      </p:sp>
      <p:graphicFrame>
        <p:nvGraphicFramePr>
          <p:cNvPr id="65" name="Chart 64"/>
          <p:cNvGraphicFramePr>
            <a:graphicFrameLocks noGrp="1"/>
          </p:cNvGraphicFramePr>
          <p:nvPr/>
        </p:nvGraphicFramePr>
        <p:xfrm>
          <a:off x="5486400" y="4242816"/>
          <a:ext cx="1216152" cy="1325880"/>
        </p:xfrm>
        <a:graphic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5545836" y="4677155"/>
            <a:ext cx="1097280" cy="45720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62%</a:t>
            </a:r>
            <a:endParaRPr sz="950"/>
          </a:p>
        </p:txBody>
      </p:sp>
      <p:sp>
        <p:nvSpPr>
          <p:cNvPr id="67" name="TextBox 66"/>
          <p:cNvSpPr txBox="1"/>
          <p:nvPr/>
        </p:nvSpPr>
        <p:spPr>
          <a:xfrm>
            <a:off x="5486400" y="5577840"/>
            <a:ext cx="1216152" cy="3657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50" b="1" i="0">
                <a:solidFill>
                  <a:srgbClr val="003255"/>
                </a:solidFill>
                <a:latin typeface="Arial"/>
              </a:rPr>
              <a:t>Cash conversion</a:t>
            </a:r>
            <a:endParaRPr sz="850"/>
          </a:p>
        </p:txBody>
      </p:sp>
      <p:graphicFrame>
        <p:nvGraphicFramePr>
          <p:cNvPr id="68" name="Chart 67"/>
          <p:cNvGraphicFramePr>
            <a:graphicFrameLocks noGrp="1"/>
          </p:cNvGraphicFramePr>
          <p:nvPr/>
        </p:nvGraphicFramePr>
        <p:xfrm>
          <a:off x="6702552" y="4242816"/>
          <a:ext cx="1216152" cy="1325880"/>
        </p:xfrm>
        <a:graphic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9" name="TextBox 68"/>
          <p:cNvSpPr txBox="1"/>
          <p:nvPr/>
        </p:nvSpPr>
        <p:spPr>
          <a:xfrm>
            <a:off x="6761988" y="4677155"/>
            <a:ext cx="1097280" cy="45720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68%</a:t>
            </a:r>
            <a:endParaRPr sz="950"/>
          </a:p>
        </p:txBody>
      </p:sp>
      <p:sp>
        <p:nvSpPr>
          <p:cNvPr id="70" name="TextBox 69"/>
          <p:cNvSpPr txBox="1"/>
          <p:nvPr/>
        </p:nvSpPr>
        <p:spPr>
          <a:xfrm>
            <a:off x="6702552" y="5577840"/>
            <a:ext cx="1216152" cy="3657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50" b="1" i="0">
                <a:solidFill>
                  <a:srgbClr val="003255"/>
                </a:solidFill>
                <a:latin typeface="Arial"/>
              </a:rPr>
              <a:t>Payout ratio</a:t>
            </a:r>
            <a:endParaRPr sz="850"/>
          </a:p>
        </p:txBody>
      </p:sp>
      <p:sp>
        <p:nvSpPr>
          <p:cNvPr id="71" name="TextBox 70"/>
          <p:cNvSpPr txBox="1"/>
          <p:nvPr/>
        </p:nvSpPr>
        <p:spPr>
          <a:xfrm>
            <a:off x="8110727" y="3822191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100% bar – the space-saving alternative</a:t>
            </a:r>
            <a:endParaRPr sz="1100"/>
          </a:p>
        </p:txBody>
      </p:sp>
      <p:cxnSp>
        <p:nvCxnSpPr>
          <p:cNvPr id="72" name="Connector 71"/>
          <p:cNvCxnSpPr/>
          <p:nvPr/>
        </p:nvCxnSpPr>
        <p:spPr>
          <a:xfrm>
            <a:off x="8110727" y="4123944"/>
            <a:ext cx="32278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1145743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6</a:t>
            </a:r>
            <a:endParaRPr sz="1200"/>
          </a:p>
        </p:txBody>
      </p:sp>
      <p:sp>
        <p:nvSpPr>
          <p:cNvPr id="74" name="TextBox 73"/>
          <p:cNvSpPr txBox="1"/>
          <p:nvPr/>
        </p:nvSpPr>
        <p:spPr>
          <a:xfrm>
            <a:off x="8110727" y="6053327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a mix in one line, e.g. cost base or funding</a:t>
            </a:r>
            <a:endParaRPr sz="750"/>
          </a:p>
        </p:txBody>
      </p:sp>
      <p:graphicFrame>
        <p:nvGraphicFramePr>
          <p:cNvPr id="75" name="Chart 74"/>
          <p:cNvGraphicFramePr>
            <a:graphicFrameLocks noGrp="1"/>
          </p:cNvGraphicFramePr>
          <p:nvPr/>
        </p:nvGraphicFramePr>
        <p:xfrm>
          <a:off x="8110727" y="4453128"/>
          <a:ext cx="3657600" cy="96012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6" name="Rectangle 75"/>
          <p:cNvSpPr/>
          <p:nvPr/>
        </p:nvSpPr>
        <p:spPr>
          <a:xfrm>
            <a:off x="8156448" y="5522976"/>
            <a:ext cx="118872" cy="118872"/>
          </a:xfrm>
          <a:prstGeom prst="rect">
            <a:avLst/>
          </a:prstGeom>
          <a:solidFill>
            <a:srgbClr val="C9D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8321040" y="5486400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COGS</a:t>
            </a:r>
            <a:endParaRPr sz="750"/>
          </a:p>
        </p:txBody>
      </p:sp>
      <p:sp>
        <p:nvSpPr>
          <p:cNvPr id="78" name="Rectangle 77"/>
          <p:cNvSpPr/>
          <p:nvPr/>
        </p:nvSpPr>
        <p:spPr>
          <a:xfrm>
            <a:off x="9345168" y="5522976"/>
            <a:ext cx="118872" cy="118872"/>
          </a:xfrm>
          <a:prstGeom prst="rect">
            <a:avLst/>
          </a:prstGeom>
          <a:solidFill>
            <a:srgbClr val="A9C8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9509760" y="5486400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Personnel</a:t>
            </a:r>
            <a:endParaRPr sz="750"/>
          </a:p>
        </p:txBody>
      </p:sp>
      <p:sp>
        <p:nvSpPr>
          <p:cNvPr id="80" name="Rectangle 79"/>
          <p:cNvSpPr/>
          <p:nvPr/>
        </p:nvSpPr>
        <p:spPr>
          <a:xfrm>
            <a:off x="10533888" y="5522976"/>
            <a:ext cx="118872" cy="118872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10698480" y="5486400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Other opex</a:t>
            </a:r>
            <a:endParaRPr sz="750"/>
          </a:p>
        </p:txBody>
      </p:sp>
      <p:sp>
        <p:nvSpPr>
          <p:cNvPr id="82" name="Rectangle 81"/>
          <p:cNvSpPr/>
          <p:nvPr/>
        </p:nvSpPr>
        <p:spPr>
          <a:xfrm>
            <a:off x="8156448" y="5742432"/>
            <a:ext cx="118872" cy="118872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8321040" y="5705856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Leases</a:t>
            </a:r>
            <a:endParaRPr sz="750"/>
          </a:p>
        </p:txBody>
      </p:sp>
      <p:sp>
        <p:nvSpPr>
          <p:cNvPr id="84" name="Rectangle 83"/>
          <p:cNvSpPr/>
          <p:nvPr/>
        </p:nvSpPr>
        <p:spPr>
          <a:xfrm>
            <a:off x="9345168" y="5742432"/>
            <a:ext cx="118872" cy="118872"/>
          </a:xfrm>
          <a:prstGeom prst="rect">
            <a:avLst/>
          </a:prstGeom>
          <a:solidFill>
            <a:srgbClr val="6B74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9509760" y="5705856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D&amp;A</a:t>
            </a:r>
            <a:endParaRPr sz="750"/>
          </a:p>
        </p:txBody>
      </p:sp>
      <p:sp>
        <p:nvSpPr>
          <p:cNvPr id="86" name="Rectangle 85"/>
          <p:cNvSpPr/>
          <p:nvPr/>
        </p:nvSpPr>
        <p:spPr>
          <a:xfrm>
            <a:off x="10533888" y="5742432"/>
            <a:ext cx="118872" cy="11887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10698480" y="5705856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EBIT adj.</a:t>
            </a:r>
            <a:endParaRPr sz="7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Chart library #4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Bridge (waterfall) charts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Explain the move from A to B: what drives revenue, what lifts the margin and how enterprise value becomes equity value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All charts are native PowerPoint charts – right-click a chart and choose Edit Data to change the numbers. Example data: fictional Example Company ASA (from the DCF toolkit) and illustrative market data. Bridges are stacked columns with an invisible base series – edit the four series under Edit Data.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7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Revenue bridge 2025A – 2030E (NOKm)</a:t>
            </a:r>
            <a:endParaRPr sz="11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81912"/>
            <a:ext cx="50566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0527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29768" y="3511296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growth split into new locations, like-for-like and price/mix</a:t>
            </a:r>
            <a:endParaRPr sz="750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29768" y="1682495"/>
          <a:ext cx="5486400" cy="17922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52881" y="2114764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1F1F1F"/>
                </a:solidFill>
                <a:latin typeface="Arial"/>
              </a:rPr>
              <a:t>5,433</a:t>
            </a:r>
            <a:endParaRPr sz="800"/>
          </a:p>
        </p:txBody>
      </p:sp>
      <p:cxnSp>
        <p:nvCxnSpPr>
          <p:cNvPr id="17" name="Connector 16"/>
          <p:cNvCxnSpPr/>
          <p:nvPr/>
        </p:nvCxnSpPr>
        <p:spPr>
          <a:xfrm>
            <a:off x="1481401" y="2315932"/>
            <a:ext cx="288804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84324" y="2001905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2E7D32"/>
                </a:solidFill>
                <a:latin typeface="Arial"/>
              </a:rPr>
              <a:t>+703</a:t>
            </a:r>
            <a:endParaRPr sz="800"/>
          </a:p>
        </p:txBody>
      </p:sp>
      <p:cxnSp>
        <p:nvCxnSpPr>
          <p:cNvPr id="19" name="Connector 18"/>
          <p:cNvCxnSpPr/>
          <p:nvPr/>
        </p:nvCxnSpPr>
        <p:spPr>
          <a:xfrm>
            <a:off x="2512844" y="2203073"/>
            <a:ext cx="288804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15767" y="1963511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2E7D32"/>
                </a:solidFill>
                <a:latin typeface="Arial"/>
              </a:rPr>
              <a:t>+239</a:t>
            </a:r>
            <a:endParaRPr sz="800"/>
          </a:p>
        </p:txBody>
      </p:sp>
      <p:cxnSp>
        <p:nvCxnSpPr>
          <p:cNvPr id="21" name="Connector 20"/>
          <p:cNvCxnSpPr/>
          <p:nvPr/>
        </p:nvCxnSpPr>
        <p:spPr>
          <a:xfrm>
            <a:off x="3544287" y="2164679"/>
            <a:ext cx="288804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747211" y="1821850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2E7D32"/>
                </a:solidFill>
                <a:latin typeface="Arial"/>
              </a:rPr>
              <a:t>+883</a:t>
            </a:r>
            <a:endParaRPr sz="800"/>
          </a:p>
        </p:txBody>
      </p:sp>
      <p:cxnSp>
        <p:nvCxnSpPr>
          <p:cNvPr id="23" name="Connector 22"/>
          <p:cNvCxnSpPr/>
          <p:nvPr/>
        </p:nvCxnSpPr>
        <p:spPr>
          <a:xfrm>
            <a:off x="4575730" y="2023018"/>
            <a:ext cx="288804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78654" y="1821850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1F1F1F"/>
                </a:solidFill>
                <a:latin typeface="Arial"/>
              </a:rPr>
              <a:t>7,258</a:t>
            </a:r>
            <a:endParaRPr sz="800"/>
          </a:p>
        </p:txBody>
      </p:sp>
      <p:sp>
        <p:nvSpPr>
          <p:cNvPr id="25" name="TextBox 24"/>
          <p:cNvSpPr txBox="1"/>
          <p:nvPr/>
        </p:nvSpPr>
        <p:spPr>
          <a:xfrm>
            <a:off x="6281928" y="1280160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EBIT bridge 2022A – 2025A (NOKm)</a:t>
            </a:r>
            <a:endParaRPr sz="1100"/>
          </a:p>
        </p:txBody>
      </p:sp>
      <p:cxnSp>
        <p:nvCxnSpPr>
          <p:cNvPr id="26" name="Connector 25"/>
          <p:cNvCxnSpPr/>
          <p:nvPr/>
        </p:nvCxnSpPr>
        <p:spPr>
          <a:xfrm>
            <a:off x="6281928" y="1581912"/>
            <a:ext cx="505663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145743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6281928" y="3511296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margin story: what came from growth and what from cost ratios</a:t>
            </a:r>
            <a:endParaRPr sz="750"/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6281928" y="1682495"/>
          <a:ext cx="5486400" cy="17922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357692" y="23049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1" i="0">
                <a:solidFill>
                  <a:srgbClr val="1F1F1F"/>
                </a:solidFill>
                <a:latin typeface="Arial"/>
              </a:rPr>
              <a:t>580</a:t>
            </a:r>
            <a:endParaRPr sz="750"/>
          </a:p>
        </p:txBody>
      </p:sp>
      <p:cxnSp>
        <p:nvCxnSpPr>
          <p:cNvPr id="31" name="Connector 30"/>
          <p:cNvCxnSpPr/>
          <p:nvPr/>
        </p:nvCxnSpPr>
        <p:spPr>
          <a:xfrm>
            <a:off x="7080120" y="2506156"/>
            <a:ext cx="206289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094437" y="2117659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1" i="0">
                <a:solidFill>
                  <a:srgbClr val="2E7D32"/>
                </a:solidFill>
                <a:latin typeface="Arial"/>
              </a:rPr>
              <a:t>+159</a:t>
            </a:r>
            <a:endParaRPr sz="750"/>
          </a:p>
        </p:txBody>
      </p:sp>
      <p:cxnSp>
        <p:nvCxnSpPr>
          <p:cNvPr id="33" name="Connector 32"/>
          <p:cNvCxnSpPr/>
          <p:nvPr/>
        </p:nvCxnSpPr>
        <p:spPr>
          <a:xfrm>
            <a:off x="7816865" y="2318827"/>
            <a:ext cx="206289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831182" y="2021852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1" i="0">
                <a:solidFill>
                  <a:srgbClr val="2E7D32"/>
                </a:solidFill>
                <a:latin typeface="Arial"/>
              </a:rPr>
              <a:t>+81</a:t>
            </a:r>
            <a:endParaRPr sz="750"/>
          </a:p>
        </p:txBody>
      </p:sp>
      <p:cxnSp>
        <p:nvCxnSpPr>
          <p:cNvPr id="35" name="Connector 34"/>
          <p:cNvCxnSpPr/>
          <p:nvPr/>
        </p:nvCxnSpPr>
        <p:spPr>
          <a:xfrm>
            <a:off x="8553611" y="2223020"/>
            <a:ext cx="206288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67928" y="1951554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1" i="0">
                <a:solidFill>
                  <a:srgbClr val="2E7D32"/>
                </a:solidFill>
                <a:latin typeface="Arial"/>
              </a:rPr>
              <a:t>+60</a:t>
            </a:r>
            <a:endParaRPr sz="750"/>
          </a:p>
        </p:txBody>
      </p:sp>
      <p:cxnSp>
        <p:nvCxnSpPr>
          <p:cNvPr id="37" name="Connector 36"/>
          <p:cNvCxnSpPr/>
          <p:nvPr/>
        </p:nvCxnSpPr>
        <p:spPr>
          <a:xfrm>
            <a:off x="9290356" y="2152722"/>
            <a:ext cx="206288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304673" y="1906803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1" i="0">
                <a:solidFill>
                  <a:srgbClr val="2E7D32"/>
                </a:solidFill>
                <a:latin typeface="Arial"/>
              </a:rPr>
              <a:t>+38</a:t>
            </a:r>
            <a:endParaRPr sz="750"/>
          </a:p>
        </p:txBody>
      </p:sp>
      <p:cxnSp>
        <p:nvCxnSpPr>
          <p:cNvPr id="39" name="Connector 38"/>
          <p:cNvCxnSpPr/>
          <p:nvPr/>
        </p:nvCxnSpPr>
        <p:spPr>
          <a:xfrm>
            <a:off x="10027101" y="2107971"/>
            <a:ext cx="206289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041418" y="186844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1" i="0">
                <a:solidFill>
                  <a:srgbClr val="2E7D32"/>
                </a:solidFill>
                <a:latin typeface="Arial"/>
              </a:rPr>
              <a:t>+33</a:t>
            </a:r>
            <a:endParaRPr sz="750"/>
          </a:p>
        </p:txBody>
      </p:sp>
      <p:cxnSp>
        <p:nvCxnSpPr>
          <p:cNvPr id="41" name="Connector 40"/>
          <p:cNvCxnSpPr/>
          <p:nvPr/>
        </p:nvCxnSpPr>
        <p:spPr>
          <a:xfrm>
            <a:off x="10763846" y="2069616"/>
            <a:ext cx="206289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778163" y="186844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750" b="1" i="0">
                <a:solidFill>
                  <a:srgbClr val="1F1F1F"/>
                </a:solidFill>
                <a:latin typeface="Arial"/>
              </a:rPr>
              <a:t>951</a:t>
            </a:r>
            <a:endParaRPr sz="750"/>
          </a:p>
        </p:txBody>
      </p:sp>
      <p:sp>
        <p:nvSpPr>
          <p:cNvPr id="43" name="TextBox 42"/>
          <p:cNvSpPr txBox="1"/>
          <p:nvPr/>
        </p:nvSpPr>
        <p:spPr>
          <a:xfrm>
            <a:off x="429768" y="3822191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From enterprise value to equity value (NOKm)</a:t>
            </a:r>
            <a:endParaRPr sz="1100"/>
          </a:p>
        </p:txBody>
      </p:sp>
      <p:cxnSp>
        <p:nvCxnSpPr>
          <p:cNvPr id="44" name="Connector 43"/>
          <p:cNvCxnSpPr/>
          <p:nvPr/>
        </p:nvCxnSpPr>
        <p:spPr>
          <a:xfrm>
            <a:off x="429768" y="4123944"/>
            <a:ext cx="50566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60527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sp>
        <p:nvSpPr>
          <p:cNvPr id="46" name="TextBox 45"/>
          <p:cNvSpPr txBox="1"/>
          <p:nvPr/>
        </p:nvSpPr>
        <p:spPr>
          <a:xfrm>
            <a:off x="429768" y="6053327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the EV-to-equity bridge on the valuation slide</a:t>
            </a:r>
            <a:endParaRPr sz="750"/>
          </a:p>
        </p:txBody>
      </p:sp>
      <p:graphicFrame>
        <p:nvGraphicFramePr>
          <p:cNvPr id="47" name="Chart 46"/>
          <p:cNvGraphicFramePr>
            <a:graphicFrameLocks noGrp="1"/>
          </p:cNvGraphicFramePr>
          <p:nvPr/>
        </p:nvGraphicFramePr>
        <p:xfrm>
          <a:off x="429768" y="4224528"/>
          <a:ext cx="5486400" cy="17922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566927" y="4363882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1F1F1F"/>
                </a:solidFill>
                <a:latin typeface="Arial"/>
              </a:rPr>
              <a:t>12,983</a:t>
            </a:r>
            <a:endParaRPr sz="800"/>
          </a:p>
        </p:txBody>
      </p:sp>
      <p:cxnSp>
        <p:nvCxnSpPr>
          <p:cNvPr id="49" name="Connector 48"/>
          <p:cNvCxnSpPr/>
          <p:nvPr/>
        </p:nvCxnSpPr>
        <p:spPr>
          <a:xfrm>
            <a:off x="1333560" y="4565050"/>
            <a:ext cx="240671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426464" y="4363882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C00000"/>
                </a:solidFill>
                <a:latin typeface="Arial"/>
              </a:rPr>
              <a:t>−1,025</a:t>
            </a:r>
            <a:endParaRPr sz="800"/>
          </a:p>
        </p:txBody>
      </p:sp>
      <p:cxnSp>
        <p:nvCxnSpPr>
          <p:cNvPr id="51" name="Connector 50"/>
          <p:cNvCxnSpPr/>
          <p:nvPr/>
        </p:nvCxnSpPr>
        <p:spPr>
          <a:xfrm>
            <a:off x="2193096" y="4657023"/>
            <a:ext cx="240671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286000" y="4455855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C00000"/>
                </a:solidFill>
                <a:latin typeface="Arial"/>
              </a:rPr>
              <a:t>−70</a:t>
            </a:r>
            <a:endParaRPr sz="800"/>
          </a:p>
        </p:txBody>
      </p:sp>
      <p:cxnSp>
        <p:nvCxnSpPr>
          <p:cNvPr id="53" name="Connector 52"/>
          <p:cNvCxnSpPr/>
          <p:nvPr/>
        </p:nvCxnSpPr>
        <p:spPr>
          <a:xfrm>
            <a:off x="3052632" y="4663304"/>
            <a:ext cx="240671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145536" y="4458547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2E7D32"/>
                </a:solidFill>
                <a:latin typeface="Arial"/>
              </a:rPr>
              <a:t>+40</a:t>
            </a:r>
            <a:endParaRPr sz="800"/>
          </a:p>
        </p:txBody>
      </p:sp>
      <p:cxnSp>
        <p:nvCxnSpPr>
          <p:cNvPr id="55" name="Connector 54"/>
          <p:cNvCxnSpPr/>
          <p:nvPr/>
        </p:nvCxnSpPr>
        <p:spPr>
          <a:xfrm>
            <a:off x="3912168" y="4659715"/>
            <a:ext cx="240671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005072" y="4458547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C00000"/>
                </a:solidFill>
                <a:latin typeface="Arial"/>
              </a:rPr>
              <a:t>−20</a:t>
            </a:r>
            <a:endParaRPr sz="800"/>
          </a:p>
        </p:txBody>
      </p:sp>
      <p:cxnSp>
        <p:nvCxnSpPr>
          <p:cNvPr id="57" name="Connector 56"/>
          <p:cNvCxnSpPr/>
          <p:nvPr/>
        </p:nvCxnSpPr>
        <p:spPr>
          <a:xfrm>
            <a:off x="4771704" y="4661509"/>
            <a:ext cx="240671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864608" y="4460341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1F1F1F"/>
                </a:solidFill>
                <a:latin typeface="Arial"/>
              </a:rPr>
              <a:t>11,908</a:t>
            </a:r>
            <a:endParaRPr sz="800"/>
          </a:p>
        </p:txBody>
      </p:sp>
      <p:sp>
        <p:nvSpPr>
          <p:cNvPr id="59" name="TextBox 58"/>
          <p:cNvSpPr txBox="1"/>
          <p:nvPr/>
        </p:nvSpPr>
        <p:spPr>
          <a:xfrm>
            <a:off x="6281928" y="3822191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Target price build-up (NOK per share)</a:t>
            </a:r>
            <a:endParaRPr sz="1100"/>
          </a:p>
        </p:txBody>
      </p:sp>
      <p:cxnSp>
        <p:nvCxnSpPr>
          <p:cNvPr id="60" name="Connector 59"/>
          <p:cNvCxnSpPr/>
          <p:nvPr/>
        </p:nvCxnSpPr>
        <p:spPr>
          <a:xfrm>
            <a:off x="6281928" y="4123944"/>
            <a:ext cx="505663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145743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62" name="TextBox 61"/>
          <p:cNvSpPr txBox="1"/>
          <p:nvPr/>
        </p:nvSpPr>
        <p:spPr>
          <a:xfrm>
            <a:off x="6281928" y="6053327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how DCF, peers and the 12-month roll-forward give the target price</a:t>
            </a:r>
            <a:endParaRPr sz="750"/>
          </a:p>
        </p:txBody>
      </p:sp>
      <p:graphicFrame>
        <p:nvGraphicFramePr>
          <p:cNvPr id="63" name="Chart 62"/>
          <p:cNvGraphicFramePr>
            <a:graphicFrameLocks noGrp="1"/>
          </p:cNvGraphicFramePr>
          <p:nvPr/>
        </p:nvGraphicFramePr>
        <p:xfrm>
          <a:off x="6281928" y="4224528"/>
          <a:ext cx="5486400" cy="179222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05041" y="4460711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1F1F1F"/>
                </a:solidFill>
                <a:latin typeface="Arial"/>
              </a:rPr>
              <a:t>139.1</a:t>
            </a:r>
            <a:endParaRPr sz="800"/>
          </a:p>
        </p:txBody>
      </p:sp>
      <p:cxnSp>
        <p:nvCxnSpPr>
          <p:cNvPr id="65" name="Connector 64"/>
          <p:cNvCxnSpPr/>
          <p:nvPr/>
        </p:nvCxnSpPr>
        <p:spPr>
          <a:xfrm>
            <a:off x="7333561" y="4661879"/>
            <a:ext cx="288804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536484" y="4460711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C00000"/>
                </a:solidFill>
                <a:latin typeface="Arial"/>
              </a:rPr>
              <a:t>−1.0</a:t>
            </a:r>
            <a:endParaRPr sz="800"/>
          </a:p>
        </p:txBody>
      </p:sp>
      <p:cxnSp>
        <p:nvCxnSpPr>
          <p:cNvPr id="67" name="Connector 66"/>
          <p:cNvCxnSpPr/>
          <p:nvPr/>
        </p:nvCxnSpPr>
        <p:spPr>
          <a:xfrm>
            <a:off x="8365004" y="4669277"/>
            <a:ext cx="288804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567928" y="4367700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2E7D32"/>
                </a:solidFill>
                <a:latin typeface="Arial"/>
              </a:rPr>
              <a:t>+13.1</a:t>
            </a:r>
            <a:endParaRPr sz="800"/>
          </a:p>
        </p:txBody>
      </p:sp>
      <p:cxnSp>
        <p:nvCxnSpPr>
          <p:cNvPr id="69" name="Connector 68"/>
          <p:cNvCxnSpPr/>
          <p:nvPr/>
        </p:nvCxnSpPr>
        <p:spPr>
          <a:xfrm>
            <a:off x="9396447" y="4568868"/>
            <a:ext cx="288804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599371" y="4367700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C00000"/>
                </a:solidFill>
                <a:latin typeface="Arial"/>
              </a:rPr>
              <a:t>−5.6</a:t>
            </a:r>
            <a:endParaRPr sz="800"/>
          </a:p>
        </p:txBody>
      </p:sp>
      <p:cxnSp>
        <p:nvCxnSpPr>
          <p:cNvPr id="71" name="Connector 70"/>
          <p:cNvCxnSpPr/>
          <p:nvPr/>
        </p:nvCxnSpPr>
        <p:spPr>
          <a:xfrm>
            <a:off x="10427890" y="4611648"/>
            <a:ext cx="288804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630814" y="4410480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1" i="0">
                <a:solidFill>
                  <a:srgbClr val="1F1F1F"/>
                </a:solidFill>
                <a:latin typeface="Arial"/>
              </a:rPr>
              <a:t>145.7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Chart library #5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Valuation visuals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Football field, sensitivity heat map, scenario values and the composition of enterprise value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All charts are native PowerPoint charts – right-click a chart and choose Edit Data to change the numbers. Example data: fictional Example Company ASA (from the DCF toolkit) and illustrative market data.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8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Football field (NOK per share)</a:t>
            </a:r>
            <a:endParaRPr sz="11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81912"/>
            <a:ext cx="50566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0527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29768" y="3511296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the summary of all valuation methods vs. share price and target</a:t>
            </a:r>
            <a:endParaRPr sz="750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04088" y="1847088"/>
          <a:ext cx="4754880" cy="148132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020125" y="200994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101</a:t>
            </a:r>
            <a:endParaRPr sz="800"/>
          </a:p>
        </p:txBody>
      </p:sp>
      <p:sp>
        <p:nvSpPr>
          <p:cNvPr id="17" name="TextBox 16"/>
          <p:cNvSpPr txBox="1"/>
          <p:nvPr/>
        </p:nvSpPr>
        <p:spPr>
          <a:xfrm>
            <a:off x="4116484" y="200994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135</a:t>
            </a:r>
            <a:endParaRPr sz="800"/>
          </a:p>
        </p:txBody>
      </p:sp>
      <p:sp>
        <p:nvSpPr>
          <p:cNvPr id="18" name="TextBox 17"/>
          <p:cNvSpPr txBox="1"/>
          <p:nvPr/>
        </p:nvSpPr>
        <p:spPr>
          <a:xfrm>
            <a:off x="3298589" y="2222266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128</a:t>
            </a:r>
            <a:endParaRPr sz="800"/>
          </a:p>
        </p:txBody>
      </p:sp>
      <p:sp>
        <p:nvSpPr>
          <p:cNvPr id="19" name="TextBox 18"/>
          <p:cNvSpPr txBox="1"/>
          <p:nvPr/>
        </p:nvSpPr>
        <p:spPr>
          <a:xfrm>
            <a:off x="4192739" y="2222266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153</a:t>
            </a:r>
            <a:endParaRPr sz="800"/>
          </a:p>
        </p:txBody>
      </p:sp>
      <p:sp>
        <p:nvSpPr>
          <p:cNvPr id="20" name="TextBox 19"/>
          <p:cNvSpPr txBox="1"/>
          <p:nvPr/>
        </p:nvSpPr>
        <p:spPr>
          <a:xfrm>
            <a:off x="2462903" y="243459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62</a:t>
            </a:r>
            <a:endParaRPr sz="800"/>
          </a:p>
        </p:txBody>
      </p:sp>
      <p:sp>
        <p:nvSpPr>
          <p:cNvPr id="21" name="TextBox 20"/>
          <p:cNvSpPr txBox="1"/>
          <p:nvPr/>
        </p:nvSpPr>
        <p:spPr>
          <a:xfrm>
            <a:off x="4889878" y="2434590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201</a:t>
            </a:r>
            <a:endParaRPr sz="800"/>
          </a:p>
        </p:txBody>
      </p:sp>
      <p:sp>
        <p:nvSpPr>
          <p:cNvPr id="22" name="TextBox 21"/>
          <p:cNvSpPr txBox="1"/>
          <p:nvPr/>
        </p:nvSpPr>
        <p:spPr>
          <a:xfrm>
            <a:off x="3112898" y="2646913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108</a:t>
            </a:r>
            <a:endParaRPr sz="800"/>
          </a:p>
        </p:txBody>
      </p:sp>
      <p:sp>
        <p:nvSpPr>
          <p:cNvPr id="23" name="TextBox 22"/>
          <p:cNvSpPr txBox="1"/>
          <p:nvPr/>
        </p:nvSpPr>
        <p:spPr>
          <a:xfrm>
            <a:off x="4116484" y="2646913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143</a:t>
            </a:r>
            <a:endParaRPr sz="800"/>
          </a:p>
        </p:txBody>
      </p:sp>
      <p:sp>
        <p:nvSpPr>
          <p:cNvPr id="24" name="TextBox 23"/>
          <p:cNvSpPr txBox="1"/>
          <p:nvPr/>
        </p:nvSpPr>
        <p:spPr>
          <a:xfrm>
            <a:off x="3298589" y="2859237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124</a:t>
            </a:r>
            <a:endParaRPr sz="800"/>
          </a:p>
        </p:txBody>
      </p:sp>
      <p:sp>
        <p:nvSpPr>
          <p:cNvPr id="25" name="TextBox 24"/>
          <p:cNvSpPr txBox="1"/>
          <p:nvPr/>
        </p:nvSpPr>
        <p:spPr>
          <a:xfrm>
            <a:off x="4232286" y="2859237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155</a:t>
            </a:r>
            <a:endParaRPr sz="800"/>
          </a:p>
        </p:txBody>
      </p:sp>
      <p:sp>
        <p:nvSpPr>
          <p:cNvPr id="26" name="TextBox 25"/>
          <p:cNvSpPr txBox="1"/>
          <p:nvPr/>
        </p:nvSpPr>
        <p:spPr>
          <a:xfrm>
            <a:off x="3298589" y="3071561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r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129</a:t>
            </a:r>
            <a:endParaRPr sz="800"/>
          </a:p>
        </p:txBody>
      </p:sp>
      <p:sp>
        <p:nvSpPr>
          <p:cNvPr id="27" name="TextBox 26"/>
          <p:cNvSpPr txBox="1"/>
          <p:nvPr/>
        </p:nvSpPr>
        <p:spPr>
          <a:xfrm>
            <a:off x="4271077" y="3071561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800" b="0" i="0">
                <a:solidFill>
                  <a:srgbClr val="1F1F1F"/>
                </a:solidFill>
                <a:latin typeface="Arial"/>
              </a:rPr>
              <a:t>158</a:t>
            </a:r>
            <a:endParaRPr sz="800"/>
          </a:p>
        </p:txBody>
      </p:sp>
      <p:cxnSp>
        <p:nvCxnSpPr>
          <p:cNvPr id="28" name="Connector 27"/>
          <p:cNvCxnSpPr/>
          <p:nvPr/>
        </p:nvCxnSpPr>
        <p:spPr>
          <a:xfrm>
            <a:off x="3728357" y="1976932"/>
            <a:ext cx="0" cy="129223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958724" y="1976932"/>
            <a:ext cx="0" cy="1292230"/>
          </a:xfrm>
          <a:prstGeom prst="line">
            <a:avLst/>
          </a:prstGeom>
          <a:ln w="1905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070764" y="1976932"/>
            <a:ext cx="0" cy="1292230"/>
          </a:xfrm>
          <a:prstGeom prst="line">
            <a:avLst/>
          </a:prstGeom>
          <a:ln w="15875">
            <a:solidFill>
              <a:srgbClr val="2E7D3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207149" y="1757476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800" b="1" i="0">
                <a:solidFill>
                  <a:srgbClr val="C00000"/>
                </a:solidFill>
                <a:latin typeface="Arial"/>
              </a:rPr>
              <a:t>122</a:t>
            </a:r>
            <a:endParaRPr sz="800"/>
          </a:p>
        </p:txBody>
      </p:sp>
      <p:sp>
        <p:nvSpPr>
          <p:cNvPr id="32" name="TextBox 31"/>
          <p:cNvSpPr txBox="1"/>
          <p:nvPr/>
        </p:nvSpPr>
        <p:spPr>
          <a:xfrm>
            <a:off x="3437516" y="1757476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138</a:t>
            </a:r>
            <a:endParaRPr sz="800"/>
          </a:p>
        </p:txBody>
      </p:sp>
      <p:sp>
        <p:nvSpPr>
          <p:cNvPr id="33" name="TextBox 32"/>
          <p:cNvSpPr txBox="1"/>
          <p:nvPr/>
        </p:nvSpPr>
        <p:spPr>
          <a:xfrm>
            <a:off x="4089052" y="1757476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2E7D32"/>
                </a:solidFill>
                <a:latin typeface="Arial"/>
              </a:rPr>
              <a:t>146</a:t>
            </a:r>
            <a:endParaRPr sz="800"/>
          </a:p>
        </p:txBody>
      </p:sp>
      <p:cxnSp>
        <p:nvCxnSpPr>
          <p:cNvPr id="34" name="Connector 33"/>
          <p:cNvCxnSpPr/>
          <p:nvPr/>
        </p:nvCxnSpPr>
        <p:spPr>
          <a:xfrm>
            <a:off x="795528" y="3401568"/>
            <a:ext cx="228600" cy="0"/>
          </a:xfrm>
          <a:prstGeom prst="line">
            <a:avLst/>
          </a:prstGeom>
          <a:ln w="19050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69848" y="3310128"/>
            <a:ext cx="10058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Share price</a:t>
            </a:r>
            <a:endParaRPr sz="750"/>
          </a:p>
        </p:txBody>
      </p:sp>
      <p:cxnSp>
        <p:nvCxnSpPr>
          <p:cNvPr id="36" name="Connector 35"/>
          <p:cNvCxnSpPr/>
          <p:nvPr/>
        </p:nvCxnSpPr>
        <p:spPr>
          <a:xfrm>
            <a:off x="1938528" y="3401568"/>
            <a:ext cx="228600" cy="0"/>
          </a:xfrm>
          <a:prstGeom prst="line">
            <a:avLst/>
          </a:prstGeom>
          <a:ln w="1905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212848" y="3310128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Fair value today</a:t>
            </a:r>
            <a:endParaRPr sz="750"/>
          </a:p>
        </p:txBody>
      </p:sp>
      <p:cxnSp>
        <p:nvCxnSpPr>
          <p:cNvPr id="38" name="Connector 37"/>
          <p:cNvCxnSpPr/>
          <p:nvPr/>
        </p:nvCxnSpPr>
        <p:spPr>
          <a:xfrm>
            <a:off x="3310128" y="3401568"/>
            <a:ext cx="228600" cy="0"/>
          </a:xfrm>
          <a:prstGeom prst="line">
            <a:avLst/>
          </a:prstGeom>
          <a:ln w="15875">
            <a:solidFill>
              <a:srgbClr val="2E7D32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584448" y="3310128"/>
            <a:ext cx="192024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12m target price (rolled forward)</a:t>
            </a:r>
            <a:endParaRPr sz="750"/>
          </a:p>
        </p:txBody>
      </p:sp>
      <p:sp>
        <p:nvSpPr>
          <p:cNvPr id="40" name="TextBox 39"/>
          <p:cNvSpPr txBox="1"/>
          <p:nvPr/>
        </p:nvSpPr>
        <p:spPr>
          <a:xfrm>
            <a:off x="6281928" y="1280160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Sensitivity heat map – WACC vs. terminal growth</a:t>
            </a:r>
            <a:endParaRPr sz="1100"/>
          </a:p>
        </p:txBody>
      </p:sp>
      <p:cxnSp>
        <p:nvCxnSpPr>
          <p:cNvPr id="41" name="Connector 40"/>
          <p:cNvCxnSpPr/>
          <p:nvPr/>
        </p:nvCxnSpPr>
        <p:spPr>
          <a:xfrm>
            <a:off x="6281928" y="1581912"/>
            <a:ext cx="505663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1145743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43" name="TextBox 42"/>
          <p:cNvSpPr txBox="1"/>
          <p:nvPr/>
        </p:nvSpPr>
        <p:spPr>
          <a:xfrm>
            <a:off x="6281928" y="3511296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show that the conclusion survives other assumptions</a:t>
            </a:r>
            <a:endParaRPr sz="750"/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6281928" y="1728216"/>
          <a:ext cx="5486393" cy="1490472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908344"/>
                <a:gridCol w="654007"/>
                <a:gridCol w="654007"/>
                <a:gridCol w="654007"/>
                <a:gridCol w="654007"/>
                <a:gridCol w="654007"/>
                <a:gridCol w="654007"/>
                <a:gridCol w="654007"/>
              </a:tblGrid>
              <a:tr h="256032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g \ WACC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7.5%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8.0%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8.5%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9.0%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9.5%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10.0%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10.5%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1.50%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C5E4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160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5EB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3F2E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FF7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9FC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CEA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4B9AE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1.75%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C2E2B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162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3EA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1F1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EF7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8FC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CEE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4BCB2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2.00%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181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BFE1B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165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0E9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FF0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139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CF6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7FB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DF2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5BFB5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2.25%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184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BBDFB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167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CEE8C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DEF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BF5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6FB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EF7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6C3B9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2.50%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188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B7DDB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CBE6C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155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DBEE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142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9F5E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5FAF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122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FFC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113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F6C6BD"/>
                    </a:solidFill>
                  </a:tcPr>
                </a:tc>
              </a:tr>
            </a:tbl>
          </a:graphicData>
        </a:graphic>
      </p:graphicFrame>
      <p:sp>
        <p:nvSpPr>
          <p:cNvPr id="45" name="TextBox 44"/>
          <p:cNvSpPr txBox="1"/>
          <p:nvPr/>
        </p:nvSpPr>
        <p:spPr>
          <a:xfrm>
            <a:off x="6281928" y="3255263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Green = above today's share price (NOK 122), red = below. Centre = base case.</a:t>
            </a:r>
            <a:endParaRPr sz="750"/>
          </a:p>
        </p:txBody>
      </p:sp>
      <p:sp>
        <p:nvSpPr>
          <p:cNvPr id="46" name="TextBox 45"/>
          <p:cNvSpPr txBox="1"/>
          <p:nvPr/>
        </p:nvSpPr>
        <p:spPr>
          <a:xfrm>
            <a:off x="429768" y="3822191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Scenario values vs. share price</a:t>
            </a:r>
            <a:endParaRPr sz="1100"/>
          </a:p>
        </p:txBody>
      </p:sp>
      <p:cxnSp>
        <p:nvCxnSpPr>
          <p:cNvPr id="47" name="Connector 46"/>
          <p:cNvCxnSpPr/>
          <p:nvPr/>
        </p:nvCxnSpPr>
        <p:spPr>
          <a:xfrm>
            <a:off x="429768" y="4123944"/>
            <a:ext cx="50566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560527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sp>
        <p:nvSpPr>
          <p:cNvPr id="49" name="TextBox 48"/>
          <p:cNvSpPr txBox="1"/>
          <p:nvPr/>
        </p:nvSpPr>
        <p:spPr>
          <a:xfrm>
            <a:off x="429768" y="6053327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risk/reward in one picture</a:t>
            </a:r>
            <a:endParaRPr sz="750"/>
          </a:p>
        </p:txBody>
      </p:sp>
      <p:graphicFrame>
        <p:nvGraphicFramePr>
          <p:cNvPr id="50" name="Chart 49"/>
          <p:cNvGraphicFramePr>
            <a:graphicFrameLocks noGrp="1"/>
          </p:cNvGraphicFramePr>
          <p:nvPr/>
        </p:nvGraphicFramePr>
        <p:xfrm>
          <a:off x="429768" y="4224528"/>
          <a:ext cx="3291840" cy="17922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51" name="Connector 50"/>
          <p:cNvCxnSpPr/>
          <p:nvPr/>
        </p:nvCxnSpPr>
        <p:spPr>
          <a:xfrm>
            <a:off x="528523" y="5078895"/>
            <a:ext cx="3094329" cy="0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950208" y="4334256"/>
            <a:ext cx="566928" cy="201168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Bear</a:t>
            </a:r>
            <a:endParaRPr sz="800"/>
          </a:p>
        </p:txBody>
      </p:sp>
      <p:sp>
        <p:nvSpPr>
          <p:cNvPr id="53" name="TextBox 52"/>
          <p:cNvSpPr txBox="1"/>
          <p:nvPr/>
        </p:nvSpPr>
        <p:spPr>
          <a:xfrm>
            <a:off x="4590288" y="4325112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00" b="1" i="0">
                <a:solidFill>
                  <a:srgbClr val="1F1F1F"/>
                </a:solidFill>
                <a:latin typeface="Arial"/>
              </a:rPr>
              <a:t>NOK 62  (-49%)</a:t>
            </a:r>
            <a:endParaRPr sz="900"/>
          </a:p>
        </p:txBody>
      </p:sp>
      <p:sp>
        <p:nvSpPr>
          <p:cNvPr id="54" name="Rounded Rectangle 53"/>
          <p:cNvSpPr/>
          <p:nvPr/>
        </p:nvSpPr>
        <p:spPr>
          <a:xfrm>
            <a:off x="3950208" y="4663440"/>
            <a:ext cx="566928" cy="201168"/>
          </a:xfrm>
          <a:prstGeom prst="round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Base</a:t>
            </a:r>
            <a:endParaRPr sz="800"/>
          </a:p>
        </p:txBody>
      </p:sp>
      <p:sp>
        <p:nvSpPr>
          <p:cNvPr id="55" name="TextBox 54"/>
          <p:cNvSpPr txBox="1"/>
          <p:nvPr/>
        </p:nvSpPr>
        <p:spPr>
          <a:xfrm>
            <a:off x="4590288" y="4654296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00" b="1" i="0">
                <a:solidFill>
                  <a:srgbClr val="1F1F1F"/>
                </a:solidFill>
                <a:latin typeface="Arial"/>
              </a:rPr>
              <a:t>NOK 139  (+14%)</a:t>
            </a:r>
            <a:endParaRPr sz="900"/>
          </a:p>
        </p:txBody>
      </p:sp>
      <p:sp>
        <p:nvSpPr>
          <p:cNvPr id="56" name="Rounded Rectangle 55"/>
          <p:cNvSpPr/>
          <p:nvPr/>
        </p:nvSpPr>
        <p:spPr>
          <a:xfrm>
            <a:off x="3950208" y="4992624"/>
            <a:ext cx="566928" cy="201168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Bull</a:t>
            </a:r>
            <a:endParaRPr sz="800"/>
          </a:p>
        </p:txBody>
      </p:sp>
      <p:sp>
        <p:nvSpPr>
          <p:cNvPr id="57" name="TextBox 56"/>
          <p:cNvSpPr txBox="1"/>
          <p:nvPr/>
        </p:nvSpPr>
        <p:spPr>
          <a:xfrm>
            <a:off x="4590288" y="4983480"/>
            <a:ext cx="1280160" cy="21945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00" b="1" i="0">
                <a:solidFill>
                  <a:srgbClr val="1F1F1F"/>
                </a:solidFill>
                <a:latin typeface="Arial"/>
              </a:rPr>
              <a:t>NOK 201  (+65%)</a:t>
            </a:r>
            <a:endParaRPr sz="900"/>
          </a:p>
        </p:txBody>
      </p:sp>
      <p:sp>
        <p:nvSpPr>
          <p:cNvPr id="58" name="TextBox 57"/>
          <p:cNvSpPr txBox="1"/>
          <p:nvPr/>
        </p:nvSpPr>
        <p:spPr>
          <a:xfrm>
            <a:off x="3950208" y="5367528"/>
            <a:ext cx="192024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0">
                <a:solidFill>
                  <a:srgbClr val="6B7480"/>
                </a:solidFill>
                <a:latin typeface="Arial"/>
              </a:rPr>
              <a:t>Probability-weighted</a:t>
            </a:r>
            <a:endParaRPr sz="800"/>
          </a:p>
          <a:p>
            <a:pPr algn="l">
              <a:buNone/>
            </a:pPr>
            <a:r>
              <a:rPr sz="1300" b="1" i="0">
                <a:solidFill>
                  <a:srgbClr val="003255"/>
                </a:solidFill>
                <a:latin typeface="Arial"/>
              </a:rPr>
              <a:t>NOK 135</a:t>
            </a:r>
            <a:endParaRPr sz="1300"/>
          </a:p>
        </p:txBody>
      </p:sp>
      <p:cxnSp>
        <p:nvCxnSpPr>
          <p:cNvPr id="59" name="Connector 58"/>
          <p:cNvCxnSpPr/>
          <p:nvPr/>
        </p:nvCxnSpPr>
        <p:spPr>
          <a:xfrm>
            <a:off x="3950208" y="5888736"/>
            <a:ext cx="228599" cy="0"/>
          </a:xfrm>
          <a:prstGeom prst="line">
            <a:avLst/>
          </a:prstGeom>
          <a:ln w="15875">
            <a:solidFill>
              <a:srgbClr val="C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224528" y="5788152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0">
                <a:solidFill>
                  <a:srgbClr val="1F1F1F"/>
                </a:solidFill>
                <a:latin typeface="Arial"/>
              </a:rPr>
              <a:t>Share price NOK 122</a:t>
            </a:r>
            <a:endParaRPr sz="750"/>
          </a:p>
        </p:txBody>
      </p:sp>
      <p:sp>
        <p:nvSpPr>
          <p:cNvPr id="61" name="TextBox 60"/>
          <p:cNvSpPr txBox="1"/>
          <p:nvPr/>
        </p:nvSpPr>
        <p:spPr>
          <a:xfrm>
            <a:off x="6281928" y="3822191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What is the value made of?</a:t>
            </a:r>
            <a:endParaRPr sz="1100"/>
          </a:p>
        </p:txBody>
      </p:sp>
      <p:cxnSp>
        <p:nvCxnSpPr>
          <p:cNvPr id="62" name="Connector 61"/>
          <p:cNvCxnSpPr/>
          <p:nvPr/>
        </p:nvCxnSpPr>
        <p:spPr>
          <a:xfrm>
            <a:off x="6281928" y="4123944"/>
            <a:ext cx="505663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145743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64" name="TextBox 63"/>
          <p:cNvSpPr txBox="1"/>
          <p:nvPr/>
        </p:nvSpPr>
        <p:spPr>
          <a:xfrm>
            <a:off x="6281928" y="6053327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share of DCF value from the forecast period vs. the terminal value</a:t>
            </a:r>
            <a:endParaRPr sz="750"/>
          </a:p>
        </p:txBody>
      </p:sp>
      <p:graphicFrame>
        <p:nvGraphicFramePr>
          <p:cNvPr id="65" name="Chart 64"/>
          <p:cNvGraphicFramePr>
            <a:graphicFrameLocks noGrp="1"/>
          </p:cNvGraphicFramePr>
          <p:nvPr/>
        </p:nvGraphicFramePr>
        <p:xfrm>
          <a:off x="6281928" y="4224528"/>
          <a:ext cx="2194560" cy="17922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6830568" y="4892040"/>
            <a:ext cx="1097280" cy="45720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EV</a:t>
            </a:r>
            <a:endParaRPr sz="950"/>
          </a:p>
          <a:p>
            <a:pPr algn="ctr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12,983</a:t>
            </a:r>
            <a:endParaRPr sz="950"/>
          </a:p>
        </p:txBody>
      </p:sp>
      <p:graphicFrame>
        <p:nvGraphicFramePr>
          <p:cNvPr id="67" name="Chart 66"/>
          <p:cNvGraphicFramePr>
            <a:graphicFrameLocks noGrp="1"/>
          </p:cNvGraphicFramePr>
          <p:nvPr/>
        </p:nvGraphicFramePr>
        <p:xfrm>
          <a:off x="8567928" y="4224528"/>
          <a:ext cx="3200400" cy="179222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Chart library #6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Peer benchmarking charts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Is the discount deserved? Put valuation next to the fundamentals that should explain it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All charts are native PowerPoint charts – right-click a chart and choose Edit Data to change the numbers. Example data: fictional Example Company ASA (from the DCF toolkit) and illustrative market data.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9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Scatter with trend line – EV/EBIT vs. EBIT margin</a:t>
            </a:r>
            <a:endParaRPr sz="11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81912"/>
            <a:ext cx="50566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0527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29768" y="3511296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is a high multiple explained by high margins or growth?</a:t>
            </a:r>
            <a:endParaRPr sz="750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29768" y="1682495"/>
          <a:ext cx="5486400" cy="17922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6" name="Connector 15"/>
          <p:cNvCxnSpPr/>
          <p:nvPr/>
        </p:nvCxnSpPr>
        <p:spPr>
          <a:xfrm flipV="1">
            <a:off x="1167140" y="2193391"/>
            <a:ext cx="4340839" cy="546647"/>
          </a:xfrm>
          <a:prstGeom prst="line">
            <a:avLst/>
          </a:prstGeom>
          <a:ln w="12700">
            <a:solidFill>
              <a:srgbClr val="6B74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27448" y="1772107"/>
            <a:ext cx="11430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800" b="0" i="1">
                <a:solidFill>
                  <a:srgbClr val="6B7480"/>
                </a:solidFill>
                <a:latin typeface="Arial"/>
              </a:rPr>
              <a:t>R² = 0.24</a:t>
            </a:r>
            <a:endParaRPr sz="800"/>
          </a:p>
        </p:txBody>
      </p:sp>
      <p:sp>
        <p:nvSpPr>
          <p:cNvPr id="18" name="TextBox 17"/>
          <p:cNvSpPr txBox="1"/>
          <p:nvPr/>
        </p:nvSpPr>
        <p:spPr>
          <a:xfrm>
            <a:off x="6281928" y="1280160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Bubble chart – growth vs. margin (size = market cap)</a:t>
            </a:r>
            <a:endParaRPr sz="1100"/>
          </a:p>
        </p:txBody>
      </p:sp>
      <p:cxnSp>
        <p:nvCxnSpPr>
          <p:cNvPr id="19" name="Connector 18"/>
          <p:cNvCxnSpPr/>
          <p:nvPr/>
        </p:nvCxnSpPr>
        <p:spPr>
          <a:xfrm>
            <a:off x="6281928" y="1581912"/>
            <a:ext cx="505663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145743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21" name="TextBox 20"/>
          <p:cNvSpPr txBox="1"/>
          <p:nvPr/>
        </p:nvSpPr>
        <p:spPr>
          <a:xfrm>
            <a:off x="6281928" y="3511296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positioning of the company in its peer group</a:t>
            </a:r>
            <a:endParaRPr sz="750"/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281928" y="1682495"/>
          <a:ext cx="5486400" cy="17922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29768" y="3822191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Premium / (discount) to peer median</a:t>
            </a:r>
            <a:endParaRPr sz="1100"/>
          </a:p>
        </p:txBody>
      </p:sp>
      <p:cxnSp>
        <p:nvCxnSpPr>
          <p:cNvPr id="24" name="Connector 23"/>
          <p:cNvCxnSpPr/>
          <p:nvPr/>
        </p:nvCxnSpPr>
        <p:spPr>
          <a:xfrm>
            <a:off x="429768" y="4123944"/>
            <a:ext cx="50566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60527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sp>
        <p:nvSpPr>
          <p:cNvPr id="26" name="TextBox 25"/>
          <p:cNvSpPr txBox="1"/>
          <p:nvPr/>
        </p:nvSpPr>
        <p:spPr>
          <a:xfrm>
            <a:off x="429768" y="6053327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one glance: where is the stock cheap or expensive?</a:t>
            </a:r>
            <a:endParaRPr sz="750"/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29768" y="4224528"/>
          <a:ext cx="5486400" cy="17922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6281928" y="3822191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Radar – company vs. peer median (peer median = 100)</a:t>
            </a:r>
            <a:endParaRPr sz="1100"/>
          </a:p>
        </p:txBody>
      </p:sp>
      <p:cxnSp>
        <p:nvCxnSpPr>
          <p:cNvPr id="29" name="Connector 28"/>
          <p:cNvCxnSpPr/>
          <p:nvPr/>
        </p:nvCxnSpPr>
        <p:spPr>
          <a:xfrm>
            <a:off x="6281928" y="4123944"/>
            <a:ext cx="505663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1145743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31" name="TextBox 30"/>
          <p:cNvSpPr txBox="1"/>
          <p:nvPr/>
        </p:nvSpPr>
        <p:spPr>
          <a:xfrm>
            <a:off x="6281928" y="6053327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a quality profile across several metrics</a:t>
            </a:r>
            <a:endParaRPr sz="750"/>
          </a:p>
        </p:txBody>
      </p:sp>
      <p:graphicFrame>
        <p:nvGraphicFramePr>
          <p:cNvPr id="32" name="Chart 31"/>
          <p:cNvGraphicFramePr>
            <a:graphicFrameLocks noGrp="1"/>
          </p:cNvGraphicFramePr>
          <p:nvPr/>
        </p:nvGraphicFramePr>
        <p:xfrm>
          <a:off x="6830568" y="4178808"/>
          <a:ext cx="3108960" cy="188366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3" name="Rectangle 32"/>
          <p:cNvSpPr/>
          <p:nvPr/>
        </p:nvSpPr>
        <p:spPr>
          <a:xfrm>
            <a:off x="10122408" y="4718304"/>
            <a:ext cx="118872" cy="11887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287000" y="4681728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Example Company</a:t>
            </a:r>
            <a:endParaRPr sz="850"/>
          </a:p>
        </p:txBody>
      </p:sp>
      <p:sp>
        <p:nvSpPr>
          <p:cNvPr id="35" name="Rectangle 34"/>
          <p:cNvSpPr/>
          <p:nvPr/>
        </p:nvSpPr>
        <p:spPr>
          <a:xfrm>
            <a:off x="10122408" y="4992624"/>
            <a:ext cx="118872" cy="118872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287000" y="4956048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Peer median (= 100)</a:t>
            </a:r>
            <a:endParaRPr sz="850"/>
          </a:p>
        </p:txBody>
      </p:sp>
      <p:sp>
        <p:nvSpPr>
          <p:cNvPr id="37" name="TextBox 36"/>
          <p:cNvSpPr txBox="1"/>
          <p:nvPr/>
        </p:nvSpPr>
        <p:spPr>
          <a:xfrm>
            <a:off x="10122408" y="5321808"/>
            <a:ext cx="1645920" cy="5486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Above 100 = better than peers on that metric.</a:t>
            </a:r>
            <a:endParaRPr sz="7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Chart library #7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Share price chart with events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The classic opening chart of an equity story: what has moved the stock, and where do we think it is going?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All charts are native PowerPoint charts – right-click a chart and choose Edit Data to change the numbers. Example data: fictional Example Company ASA (from the DCF toolkit) and illustrative market data. The price series is randomly generated – paste weekly prices from Bloomberg/Yahoo under Edit Data.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10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747979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Share price vs. index (rebased), NOK</a:t>
            </a:r>
            <a:endParaRPr sz="11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81912"/>
            <a:ext cx="743407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98271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29768" y="6044183"/>
            <a:ext cx="78638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share price history with numbered events and the target price</a:t>
            </a:r>
            <a:endParaRPr sz="750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29768" y="1682495"/>
          <a:ext cx="7863840" cy="43251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6" name="Connector 15"/>
          <p:cNvCxnSpPr/>
          <p:nvPr/>
        </p:nvCxnSpPr>
        <p:spPr>
          <a:xfrm>
            <a:off x="7162712" y="2491291"/>
            <a:ext cx="532878" cy="0"/>
          </a:xfrm>
          <a:prstGeom prst="line">
            <a:avLst/>
          </a:prstGeom>
          <a:ln w="19050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38390" y="2107243"/>
            <a:ext cx="1371600" cy="3657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0">
                <a:solidFill>
                  <a:srgbClr val="2E7D32"/>
                </a:solidFill>
                <a:latin typeface="Arial"/>
              </a:rPr>
              <a:t>Target price</a:t>
            </a:r>
            <a:endParaRPr sz="800"/>
          </a:p>
          <a:p>
            <a:pPr algn="l">
              <a:buNone/>
            </a:pPr>
            <a:r>
              <a:rPr sz="900" b="1" i="0">
                <a:solidFill>
                  <a:srgbClr val="2E7D32"/>
                </a:solidFill>
                <a:latin typeface="Arial"/>
              </a:rPr>
              <a:t>NOK 146 (+20%)</a:t>
            </a:r>
            <a:endParaRPr sz="900"/>
          </a:p>
        </p:txBody>
      </p:sp>
      <p:sp>
        <p:nvSpPr>
          <p:cNvPr id="18" name="TextBox 17"/>
          <p:cNvSpPr txBox="1"/>
          <p:nvPr/>
        </p:nvSpPr>
        <p:spPr>
          <a:xfrm>
            <a:off x="7238390" y="3535500"/>
            <a:ext cx="13716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1" i="0">
                <a:solidFill>
                  <a:srgbClr val="003255"/>
                </a:solidFill>
                <a:latin typeface="Arial"/>
              </a:rPr>
              <a:t>Last NOK 122</a:t>
            </a:r>
            <a:endParaRPr sz="850"/>
          </a:p>
        </p:txBody>
      </p:sp>
      <p:cxnSp>
        <p:nvCxnSpPr>
          <p:cNvPr id="19" name="Connector 18"/>
          <p:cNvCxnSpPr/>
          <p:nvPr/>
        </p:nvCxnSpPr>
        <p:spPr>
          <a:xfrm flipV="1">
            <a:off x="7162712" y="2491291"/>
            <a:ext cx="0" cy="1089929"/>
          </a:xfrm>
          <a:prstGeom prst="line">
            <a:avLst/>
          </a:prstGeom>
          <a:ln w="15875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361062" y="4102107"/>
            <a:ext cx="219456" cy="219456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1</a:t>
            </a:r>
            <a:endParaRPr sz="800"/>
          </a:p>
        </p:txBody>
      </p:sp>
      <p:cxnSp>
        <p:nvCxnSpPr>
          <p:cNvPr id="21" name="Connector 20"/>
          <p:cNvCxnSpPr/>
          <p:nvPr/>
        </p:nvCxnSpPr>
        <p:spPr>
          <a:xfrm>
            <a:off x="1470790" y="4321563"/>
            <a:ext cx="0" cy="13716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439532" y="3617243"/>
            <a:ext cx="219456" cy="219456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2</a:t>
            </a:r>
            <a:endParaRPr sz="800"/>
          </a:p>
        </p:txBody>
      </p:sp>
      <p:cxnSp>
        <p:nvCxnSpPr>
          <p:cNvPr id="23" name="Connector 22"/>
          <p:cNvCxnSpPr/>
          <p:nvPr/>
        </p:nvCxnSpPr>
        <p:spPr>
          <a:xfrm>
            <a:off x="2549260" y="3836699"/>
            <a:ext cx="0" cy="13716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3458086" y="2847560"/>
            <a:ext cx="219456" cy="219456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3</a:t>
            </a:r>
            <a:endParaRPr sz="800"/>
          </a:p>
        </p:txBody>
      </p:sp>
      <p:cxnSp>
        <p:nvCxnSpPr>
          <p:cNvPr id="25" name="Connector 24"/>
          <p:cNvCxnSpPr/>
          <p:nvPr/>
        </p:nvCxnSpPr>
        <p:spPr>
          <a:xfrm>
            <a:off x="3567814" y="3067016"/>
            <a:ext cx="0" cy="13716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536556" y="2350643"/>
            <a:ext cx="219456" cy="219456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4</a:t>
            </a:r>
            <a:endParaRPr sz="800"/>
          </a:p>
        </p:txBody>
      </p:sp>
      <p:cxnSp>
        <p:nvCxnSpPr>
          <p:cNvPr id="27" name="Connector 26"/>
          <p:cNvCxnSpPr/>
          <p:nvPr/>
        </p:nvCxnSpPr>
        <p:spPr>
          <a:xfrm>
            <a:off x="4646284" y="2570099"/>
            <a:ext cx="0" cy="13716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794770" y="3180219"/>
            <a:ext cx="219456" cy="219456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5</a:t>
            </a:r>
            <a:endParaRPr sz="800"/>
          </a:p>
        </p:txBody>
      </p:sp>
      <p:cxnSp>
        <p:nvCxnSpPr>
          <p:cNvPr id="29" name="Connector 28"/>
          <p:cNvCxnSpPr/>
          <p:nvPr/>
        </p:nvCxnSpPr>
        <p:spPr>
          <a:xfrm>
            <a:off x="5904498" y="3399675"/>
            <a:ext cx="0" cy="13716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633580" y="3143882"/>
            <a:ext cx="219456" cy="219456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6</a:t>
            </a:r>
            <a:endParaRPr sz="800"/>
          </a:p>
        </p:txBody>
      </p:sp>
      <p:cxnSp>
        <p:nvCxnSpPr>
          <p:cNvPr id="31" name="Connector 30"/>
          <p:cNvCxnSpPr/>
          <p:nvPr/>
        </p:nvCxnSpPr>
        <p:spPr>
          <a:xfrm>
            <a:off x="6743308" y="3363338"/>
            <a:ext cx="0" cy="13716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549640" y="1280160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Key events</a:t>
            </a:r>
            <a:endParaRPr sz="1100"/>
          </a:p>
        </p:txBody>
      </p:sp>
      <p:cxnSp>
        <p:nvCxnSpPr>
          <p:cNvPr id="33" name="Connector 32"/>
          <p:cNvCxnSpPr/>
          <p:nvPr/>
        </p:nvCxnSpPr>
        <p:spPr>
          <a:xfrm>
            <a:off x="8549640" y="1581912"/>
            <a:ext cx="3172967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549640" y="1664207"/>
            <a:ext cx="3218688" cy="306324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8659367" y="1783080"/>
            <a:ext cx="237744" cy="23774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1</a:t>
            </a:r>
            <a:endParaRPr sz="850"/>
          </a:p>
        </p:txBody>
      </p:sp>
      <p:sp>
        <p:nvSpPr>
          <p:cNvPr id="36" name="TextBox 35"/>
          <p:cNvSpPr txBox="1"/>
          <p:nvPr/>
        </p:nvSpPr>
        <p:spPr>
          <a:xfrm>
            <a:off x="8988552" y="1746504"/>
            <a:ext cx="2670048" cy="40233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750" b="0" i="0">
                <a:solidFill>
                  <a:srgbClr val="6B7480"/>
                </a:solidFill>
                <a:latin typeface="Arial"/>
              </a:rPr>
              <a:t>Nov-24</a:t>
            </a:r>
            <a:endParaRPr sz="750"/>
          </a:p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Q3'24 report: margins beat consensus by 8%</a:t>
            </a:r>
            <a:endParaRPr sz="850"/>
          </a:p>
        </p:txBody>
      </p:sp>
      <p:sp>
        <p:nvSpPr>
          <p:cNvPr id="37" name="Oval 36"/>
          <p:cNvSpPr/>
          <p:nvPr/>
        </p:nvSpPr>
        <p:spPr>
          <a:xfrm>
            <a:off x="8659367" y="2267712"/>
            <a:ext cx="237744" cy="23774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2</a:t>
            </a:r>
            <a:endParaRPr sz="850"/>
          </a:p>
        </p:txBody>
      </p:sp>
      <p:sp>
        <p:nvSpPr>
          <p:cNvPr id="38" name="TextBox 37"/>
          <p:cNvSpPr txBox="1"/>
          <p:nvPr/>
        </p:nvSpPr>
        <p:spPr>
          <a:xfrm>
            <a:off x="8988552" y="2231136"/>
            <a:ext cx="2670048" cy="40233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750" b="0" i="0">
                <a:solidFill>
                  <a:srgbClr val="6B7480"/>
                </a:solidFill>
                <a:latin typeface="Arial"/>
              </a:rPr>
              <a:t>Mar-25</a:t>
            </a:r>
            <a:endParaRPr sz="750"/>
          </a:p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Acquisition of Competitor D (Denmark) announced</a:t>
            </a:r>
            <a:endParaRPr sz="850"/>
          </a:p>
        </p:txBody>
      </p:sp>
      <p:sp>
        <p:nvSpPr>
          <p:cNvPr id="39" name="Oval 38"/>
          <p:cNvSpPr/>
          <p:nvPr/>
        </p:nvSpPr>
        <p:spPr>
          <a:xfrm>
            <a:off x="8659367" y="2752344"/>
            <a:ext cx="237744" cy="23774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3</a:t>
            </a:r>
            <a:endParaRPr sz="850"/>
          </a:p>
        </p:txBody>
      </p:sp>
      <p:sp>
        <p:nvSpPr>
          <p:cNvPr id="40" name="TextBox 39"/>
          <p:cNvSpPr txBox="1"/>
          <p:nvPr/>
        </p:nvSpPr>
        <p:spPr>
          <a:xfrm>
            <a:off x="8988552" y="2715768"/>
            <a:ext cx="2670048" cy="40233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750" b="0" i="0">
                <a:solidFill>
                  <a:srgbClr val="6B7480"/>
                </a:solidFill>
                <a:latin typeface="Arial"/>
              </a:rPr>
              <a:t>Jul-25</a:t>
            </a:r>
            <a:endParaRPr sz="750"/>
          </a:p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Profit warning from a low-cost peer hits the sector</a:t>
            </a:r>
            <a:endParaRPr sz="850"/>
          </a:p>
        </p:txBody>
      </p:sp>
      <p:sp>
        <p:nvSpPr>
          <p:cNvPr id="41" name="Oval 40"/>
          <p:cNvSpPr/>
          <p:nvPr/>
        </p:nvSpPr>
        <p:spPr>
          <a:xfrm>
            <a:off x="8659367" y="3236976"/>
            <a:ext cx="237744" cy="23774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4</a:t>
            </a:r>
            <a:endParaRPr sz="850"/>
          </a:p>
        </p:txBody>
      </p:sp>
      <p:sp>
        <p:nvSpPr>
          <p:cNvPr id="42" name="TextBox 41"/>
          <p:cNvSpPr txBox="1"/>
          <p:nvPr/>
        </p:nvSpPr>
        <p:spPr>
          <a:xfrm>
            <a:off x="8988552" y="3200400"/>
            <a:ext cx="2670048" cy="40233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750" b="0" i="0">
                <a:solidFill>
                  <a:srgbClr val="6B7480"/>
                </a:solidFill>
                <a:latin typeface="Arial"/>
              </a:rPr>
              <a:t>Nov-25</a:t>
            </a:r>
            <a:endParaRPr sz="750"/>
          </a:p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Capital markets day: 20% ROIC target</a:t>
            </a:r>
            <a:endParaRPr sz="850"/>
          </a:p>
        </p:txBody>
      </p:sp>
      <p:sp>
        <p:nvSpPr>
          <p:cNvPr id="43" name="Oval 42"/>
          <p:cNvSpPr/>
          <p:nvPr/>
        </p:nvSpPr>
        <p:spPr>
          <a:xfrm>
            <a:off x="8659367" y="3721608"/>
            <a:ext cx="237744" cy="23774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5</a:t>
            </a:r>
            <a:endParaRPr sz="850"/>
          </a:p>
        </p:txBody>
      </p:sp>
      <p:sp>
        <p:nvSpPr>
          <p:cNvPr id="44" name="TextBox 43"/>
          <p:cNvSpPr txBox="1"/>
          <p:nvPr/>
        </p:nvSpPr>
        <p:spPr>
          <a:xfrm>
            <a:off x="8988552" y="3685032"/>
            <a:ext cx="2670048" cy="40233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750" b="0" i="0">
                <a:solidFill>
                  <a:srgbClr val="6B7480"/>
                </a:solidFill>
                <a:latin typeface="Arial"/>
              </a:rPr>
              <a:t>Apr-26</a:t>
            </a:r>
            <a:endParaRPr sz="750"/>
          </a:p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Price increases of 5% implemented in all markets</a:t>
            </a:r>
            <a:endParaRPr sz="850"/>
          </a:p>
        </p:txBody>
      </p:sp>
      <p:sp>
        <p:nvSpPr>
          <p:cNvPr id="45" name="Oval 44"/>
          <p:cNvSpPr/>
          <p:nvPr/>
        </p:nvSpPr>
        <p:spPr>
          <a:xfrm>
            <a:off x="8659367" y="4206240"/>
            <a:ext cx="237744" cy="23774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6</a:t>
            </a:r>
            <a:endParaRPr sz="850"/>
          </a:p>
        </p:txBody>
      </p:sp>
      <p:sp>
        <p:nvSpPr>
          <p:cNvPr id="46" name="TextBox 45"/>
          <p:cNvSpPr txBox="1"/>
          <p:nvPr/>
        </p:nvSpPr>
        <p:spPr>
          <a:xfrm>
            <a:off x="8988552" y="4169664"/>
            <a:ext cx="2670048" cy="402336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750" b="0" i="0">
                <a:solidFill>
                  <a:srgbClr val="6B7480"/>
                </a:solidFill>
                <a:latin typeface="Arial"/>
              </a:rPr>
              <a:t>Jul-26</a:t>
            </a:r>
            <a:endParaRPr sz="750"/>
          </a:p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Q2'26 report: record subscriber intake</a:t>
            </a:r>
            <a:endParaRPr sz="850"/>
          </a:p>
        </p:txBody>
      </p:sp>
      <p:sp>
        <p:nvSpPr>
          <p:cNvPr id="47" name="TextBox 46"/>
          <p:cNvSpPr txBox="1"/>
          <p:nvPr/>
        </p:nvSpPr>
        <p:spPr>
          <a:xfrm>
            <a:off x="8549640" y="4892040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Performance</a:t>
            </a:r>
            <a:endParaRPr sz="1100"/>
          </a:p>
        </p:txBody>
      </p:sp>
      <p:cxnSp>
        <p:nvCxnSpPr>
          <p:cNvPr id="48" name="Connector 47"/>
          <p:cNvCxnSpPr/>
          <p:nvPr/>
        </p:nvCxnSpPr>
        <p:spPr>
          <a:xfrm>
            <a:off x="8549640" y="5193792"/>
            <a:ext cx="3172967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8549640" y="5303520"/>
          <a:ext cx="3218688" cy="850392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097280"/>
                <a:gridCol w="530352"/>
                <a:gridCol w="530352"/>
                <a:gridCol w="530352"/>
                <a:gridCol w="530352"/>
              </a:tblGrid>
              <a:tr h="219456">
                <a:tc>
                  <a:txBody>
                    <a:bodyPr wrap="square"/>
                    <a:lstStyle/>
                    <a:p>
                      <a:pPr algn="l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1M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3M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6M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12M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EXMPL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-1%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-6%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-4%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-2%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OSEBX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-3%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-2%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+4%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Relative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-2%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-3%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-3%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-6%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Chart library #8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KPI tiles and scorecard tables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When a number says more than a chart: headline tiles, Harvey-ball scorecards and estimate tables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Tiles and the consensus table read the model; the scorecard is illustrative. Harvey balls are text symbols (○ ◔ ◑ ◕ ●) in Segoe UI Symbol – type over them to change a score.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11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1095451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Headline KPI tiles</a:t>
            </a:r>
            <a:endParaRPr sz="11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81912"/>
            <a:ext cx="1090879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145743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4" name="Rectangle 13"/>
          <p:cNvSpPr/>
          <p:nvPr/>
        </p:nvSpPr>
        <p:spPr>
          <a:xfrm>
            <a:off x="429768" y="1719072"/>
            <a:ext cx="2136038" cy="1115568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9496" y="1755648"/>
            <a:ext cx="1916582" cy="5486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146</a:t>
            </a:r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539496" y="2304288"/>
            <a:ext cx="1916582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Target price (NOK)</a:t>
            </a:r>
            <a:endParaRPr sz="950"/>
          </a:p>
        </p:txBody>
      </p:sp>
      <p:sp>
        <p:nvSpPr>
          <p:cNvPr id="17" name="TextBox 16"/>
          <p:cNvSpPr txBox="1"/>
          <p:nvPr/>
        </p:nvSpPr>
        <p:spPr>
          <a:xfrm>
            <a:off x="539496" y="2523744"/>
            <a:ext cx="1916582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FFFFFF"/>
                </a:solidFill>
                <a:latin typeface="Arial"/>
              </a:rPr>
              <a:t>BUY · +20% upside</a:t>
            </a:r>
            <a:endParaRPr sz="850"/>
          </a:p>
        </p:txBody>
      </p:sp>
      <p:sp>
        <p:nvSpPr>
          <p:cNvPr id="18" name="Rectangle 17"/>
          <p:cNvSpPr/>
          <p:nvPr/>
        </p:nvSpPr>
        <p:spPr>
          <a:xfrm>
            <a:off x="2730398" y="1719072"/>
            <a:ext cx="2136038" cy="1115568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840126" y="1755648"/>
            <a:ext cx="1916582" cy="5486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6.0%</a:t>
            </a:r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2840126" y="2304288"/>
            <a:ext cx="1916582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Revenue CAGR 2025–30E</a:t>
            </a:r>
            <a:endParaRPr sz="950"/>
          </a:p>
        </p:txBody>
      </p:sp>
      <p:sp>
        <p:nvSpPr>
          <p:cNvPr id="21" name="TextBox 20"/>
          <p:cNvSpPr txBox="1"/>
          <p:nvPr/>
        </p:nvSpPr>
        <p:spPr>
          <a:xfrm>
            <a:off x="2840126" y="2523744"/>
            <a:ext cx="1916582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FFFFFF"/>
                </a:solidFill>
                <a:latin typeface="Arial"/>
              </a:rPr>
              <a:t>volume + price/mix</a:t>
            </a:r>
            <a:endParaRPr sz="850"/>
          </a:p>
        </p:txBody>
      </p:sp>
      <p:sp>
        <p:nvSpPr>
          <p:cNvPr id="22" name="Rectangle 21"/>
          <p:cNvSpPr/>
          <p:nvPr/>
        </p:nvSpPr>
        <p:spPr>
          <a:xfrm>
            <a:off x="5031028" y="1719072"/>
            <a:ext cx="2136038" cy="1115568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140756" y="1755648"/>
            <a:ext cx="1916582" cy="5486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18.6%</a:t>
            </a:r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5140756" y="2304288"/>
            <a:ext cx="1916582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EBIT adj. margin 2030E</a:t>
            </a:r>
            <a:endParaRPr sz="950"/>
          </a:p>
        </p:txBody>
      </p:sp>
      <p:sp>
        <p:nvSpPr>
          <p:cNvPr id="25" name="TextBox 24"/>
          <p:cNvSpPr txBox="1"/>
          <p:nvPr/>
        </p:nvSpPr>
        <p:spPr>
          <a:xfrm>
            <a:off x="5140756" y="2523744"/>
            <a:ext cx="1916582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FFFFFF"/>
                </a:solidFill>
                <a:latin typeface="Arial"/>
              </a:rPr>
              <a:t>from 17.5% in 2025</a:t>
            </a:r>
            <a:endParaRPr sz="850"/>
          </a:p>
        </p:txBody>
      </p:sp>
      <p:sp>
        <p:nvSpPr>
          <p:cNvPr id="26" name="Rectangle 25"/>
          <p:cNvSpPr/>
          <p:nvPr/>
        </p:nvSpPr>
        <p:spPr>
          <a:xfrm>
            <a:off x="7331659" y="1719072"/>
            <a:ext cx="2136038" cy="1115568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41387" y="1755648"/>
            <a:ext cx="1916582" cy="5486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21%</a:t>
            </a:r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7441387" y="2304288"/>
            <a:ext cx="1916582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ROIC 2028E</a:t>
            </a:r>
            <a:endParaRPr sz="950"/>
          </a:p>
        </p:txBody>
      </p:sp>
      <p:sp>
        <p:nvSpPr>
          <p:cNvPr id="29" name="TextBox 28"/>
          <p:cNvSpPr txBox="1"/>
          <p:nvPr/>
        </p:nvSpPr>
        <p:spPr>
          <a:xfrm>
            <a:off x="7441387" y="2523744"/>
            <a:ext cx="1916582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FFFFFF"/>
                </a:solidFill>
                <a:latin typeface="Arial"/>
              </a:rPr>
              <a:t>WACC 9.0%</a:t>
            </a:r>
            <a:endParaRPr sz="850"/>
          </a:p>
        </p:txBody>
      </p:sp>
      <p:sp>
        <p:nvSpPr>
          <p:cNvPr id="30" name="Rectangle 29"/>
          <p:cNvSpPr/>
          <p:nvPr/>
        </p:nvSpPr>
        <p:spPr>
          <a:xfrm>
            <a:off x="9632289" y="1719072"/>
            <a:ext cx="2136038" cy="1115568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742017" y="1755648"/>
            <a:ext cx="1916582" cy="5486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11.3x</a:t>
            </a:r>
            <a:endParaRPr sz="2800"/>
          </a:p>
        </p:txBody>
      </p:sp>
      <p:sp>
        <p:nvSpPr>
          <p:cNvPr id="32" name="TextBox 31"/>
          <p:cNvSpPr txBox="1"/>
          <p:nvPr/>
        </p:nvSpPr>
        <p:spPr>
          <a:xfrm>
            <a:off x="9742017" y="2304288"/>
            <a:ext cx="1916582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EV/EBIT 2027E</a:t>
            </a:r>
            <a:endParaRPr sz="950"/>
          </a:p>
        </p:txBody>
      </p:sp>
      <p:sp>
        <p:nvSpPr>
          <p:cNvPr id="33" name="TextBox 32"/>
          <p:cNvSpPr txBox="1"/>
          <p:nvPr/>
        </p:nvSpPr>
        <p:spPr>
          <a:xfrm>
            <a:off x="9742017" y="2523744"/>
            <a:ext cx="1916582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50" b="0" i="0">
                <a:solidFill>
                  <a:srgbClr val="FFFFFF"/>
                </a:solidFill>
                <a:latin typeface="Arial"/>
              </a:rPr>
              <a:t>peers 12.7x</a:t>
            </a:r>
            <a:endParaRPr sz="850"/>
          </a:p>
        </p:txBody>
      </p:sp>
      <p:sp>
        <p:nvSpPr>
          <p:cNvPr id="34" name="TextBox 33"/>
          <p:cNvSpPr txBox="1"/>
          <p:nvPr/>
        </p:nvSpPr>
        <p:spPr>
          <a:xfrm>
            <a:off x="429768" y="3063240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Harvey-ball scorecard vs. peers</a:t>
            </a:r>
            <a:endParaRPr sz="1100"/>
          </a:p>
        </p:txBody>
      </p:sp>
      <p:cxnSp>
        <p:nvCxnSpPr>
          <p:cNvPr id="35" name="Connector 34"/>
          <p:cNvCxnSpPr/>
          <p:nvPr/>
        </p:nvCxnSpPr>
        <p:spPr>
          <a:xfrm>
            <a:off x="429768" y="3364992"/>
            <a:ext cx="50566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605272" y="310896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429768" y="3493008"/>
          <a:ext cx="5486400" cy="216712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103120"/>
                <a:gridCol w="676656"/>
                <a:gridCol w="676656"/>
                <a:gridCol w="676656"/>
                <a:gridCol w="676656"/>
                <a:gridCol w="676656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Example Company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Peer 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Peer B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Peer 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Peer F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Market position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●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◕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◑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◕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●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Pricing power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●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◑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◔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◕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◕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Growth outlook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◕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◑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◑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●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◕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Margins and ROIC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●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◕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◑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◕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◕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Balance sheet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◕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◑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◕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◑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◔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Management track record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◕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◕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◑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◕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◑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Valuation attractiveness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●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◑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◕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◔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 i="0">
                          <a:solidFill>
                            <a:srgbClr val="003255"/>
                          </a:solidFill>
                          <a:latin typeface="Segoe UI Symbol"/>
                        </a:rPr>
                        <a:t>◑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429768" y="5971032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0" i="0">
                <a:solidFill>
                  <a:srgbClr val="6B7480"/>
                </a:solidFill>
                <a:latin typeface="Segoe UI Symbol"/>
              </a:rPr>
              <a:t>● strong   ◕ good   ◑ average   ◔ weak   ○ poor</a:t>
            </a:r>
            <a:endParaRPr sz="800"/>
          </a:p>
        </p:txBody>
      </p:sp>
      <p:sp>
        <p:nvSpPr>
          <p:cNvPr id="39" name="TextBox 38"/>
          <p:cNvSpPr txBox="1"/>
          <p:nvPr/>
        </p:nvSpPr>
        <p:spPr>
          <a:xfrm>
            <a:off x="6281928" y="3063240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Our estimates vs. consensus</a:t>
            </a:r>
            <a:endParaRPr sz="1100"/>
          </a:p>
        </p:txBody>
      </p:sp>
      <p:cxnSp>
        <p:nvCxnSpPr>
          <p:cNvPr id="40" name="Connector 39"/>
          <p:cNvCxnSpPr/>
          <p:nvPr/>
        </p:nvCxnSpPr>
        <p:spPr>
          <a:xfrm>
            <a:off x="6281928" y="3364992"/>
            <a:ext cx="505663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11457432" y="310896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6281928" y="3493008"/>
          <a:ext cx="5486392" cy="134416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031278"/>
                <a:gridCol w="511513"/>
                <a:gridCol w="511513"/>
                <a:gridCol w="462012"/>
                <a:gridCol w="511513"/>
                <a:gridCol w="511513"/>
                <a:gridCol w="462012"/>
                <a:gridCol w="511513"/>
                <a:gridCol w="511513"/>
                <a:gridCol w="462012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NOKm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2026E Our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2026E Cons.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2026E Diff.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2027E Our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2027E Cons.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2027E Diff.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2028E Our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2028E Cons.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2028E Diff.</a:t>
                      </a:r>
                      <a:endParaRPr sz="7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Revenue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5,726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5,698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+0.5%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6,084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5,994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+1.5%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6,479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6,321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+2.5%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EBITDA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1,701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1,684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+1.0%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1,819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1,775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+2.5%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1,956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1,881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+4.0%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EBIT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1,090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1,073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+1.5%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1,170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1,131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+3.5%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1,268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1,197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+6.0%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EPS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8.57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8.40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+2.0%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9.48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9.03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+5.0%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10.51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9.68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2E7D32"/>
                          </a:solidFill>
                          <a:latin typeface="Arial"/>
                        </a:rPr>
                        <a:t>+8.5%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solidFill>
                      <a:srgbClr val="EEF4F7"/>
                    </a:solidFill>
                  </a:tcPr>
                </a:tc>
              </a:tr>
            </a:tbl>
          </a:graphicData>
        </a:graphic>
      </p:graphicFrame>
      <p:sp>
        <p:nvSpPr>
          <p:cNvPr id="43" name="TextBox 42"/>
          <p:cNvSpPr txBox="1"/>
          <p:nvPr/>
        </p:nvSpPr>
        <p:spPr>
          <a:xfrm>
            <a:off x="6281928" y="4937760"/>
            <a:ext cx="5486400" cy="1828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Green = we are above consensus. Consensus: Bloomberg consensus (example data – replace) (Consensus sheet).</a:t>
            </a:r>
            <a:endParaRPr sz="750"/>
          </a:p>
        </p:txBody>
      </p:sp>
      <p:sp>
        <p:nvSpPr>
          <p:cNvPr id="44" name="Rectangle 43"/>
          <p:cNvSpPr/>
          <p:nvPr/>
        </p:nvSpPr>
        <p:spPr>
          <a:xfrm>
            <a:off x="6281928" y="5212080"/>
            <a:ext cx="5486400" cy="8686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419088" y="5276088"/>
            <a:ext cx="5212080" cy="7772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spcAft>
                <a:spcPts val="200"/>
              </a:spcAft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How to use</a:t>
            </a:r>
            <a:endParaRPr sz="950"/>
          </a:p>
          <a:p>
            <a:pPr algn="l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Tiles: max five, one message each. Scorecards: be able to defend every ball. Estimate tables: highlight only the difference column – that is where your variant view shows.</a:t>
            </a:r>
            <a:endParaRPr sz="8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Chart library #9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Market-view charts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What the share price implies, where the growth comes from and where we differ from consensus – all read from the model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All charts are native PowerPoint charts – right-click a chart and choose Edit Data to change the numbers. Example data: fictional Example Company ASA (from the DCF toolkit) and illustrative market data. Reverse DCF, consensus and the location engine come from the Reverse_DCF, Consensus and Model sheets.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12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Reverse DCF – value vs. EBIT margin in 2033E (NOK)</a:t>
            </a:r>
            <a:endParaRPr sz="11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81912"/>
            <a:ext cx="50566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60527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4" name="TextBox 13"/>
          <p:cNvSpPr txBox="1"/>
          <p:nvPr/>
        </p:nvSpPr>
        <p:spPr>
          <a:xfrm>
            <a:off x="429768" y="3511296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the price-implied margin vs. yours – where the debate is</a:t>
            </a:r>
            <a:endParaRPr sz="750"/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29768" y="1682495"/>
          <a:ext cx="5486400" cy="179222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81928" y="1280160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Revenue growth by source</a:t>
            </a:r>
            <a:endParaRPr sz="1100"/>
          </a:p>
        </p:txBody>
      </p:sp>
      <p:cxnSp>
        <p:nvCxnSpPr>
          <p:cNvPr id="17" name="Connector 16"/>
          <p:cNvCxnSpPr/>
          <p:nvPr/>
        </p:nvCxnSpPr>
        <p:spPr>
          <a:xfrm>
            <a:off x="6281928" y="1581912"/>
            <a:ext cx="505663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457432" y="1325880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19" name="TextBox 18"/>
          <p:cNvSpPr txBox="1"/>
          <p:nvPr/>
        </p:nvSpPr>
        <p:spPr>
          <a:xfrm>
            <a:off x="6281928" y="3511296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capacity vs. like-for-like vs. price – what drives the top line</a:t>
            </a:r>
            <a:endParaRPr sz="750"/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281928" y="1682495"/>
          <a:ext cx="5486400" cy="17922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29768" y="3822191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Our estimates vs. consensus</a:t>
            </a:r>
            <a:endParaRPr sz="1100"/>
          </a:p>
        </p:txBody>
      </p:sp>
      <p:cxnSp>
        <p:nvCxnSpPr>
          <p:cNvPr id="22" name="Connector 21"/>
          <p:cNvCxnSpPr/>
          <p:nvPr/>
        </p:nvCxnSpPr>
        <p:spPr>
          <a:xfrm>
            <a:off x="429768" y="4123944"/>
            <a:ext cx="5056632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60527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sp>
        <p:nvSpPr>
          <p:cNvPr id="24" name="TextBox 23"/>
          <p:cNvSpPr txBox="1"/>
          <p:nvPr/>
        </p:nvSpPr>
        <p:spPr>
          <a:xfrm>
            <a:off x="429768" y="6053327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show where – and how much – you differ from the market</a:t>
            </a:r>
            <a:endParaRPr sz="750"/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29768" y="4224528"/>
          <a:ext cx="5486400" cy="1792224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281928" y="3822191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Locations and revenue per location (NOKm)</a:t>
            </a:r>
            <a:endParaRPr sz="1100"/>
          </a:p>
        </p:txBody>
      </p:sp>
      <p:cxnSp>
        <p:nvCxnSpPr>
          <p:cNvPr id="27" name="Connector 26"/>
          <p:cNvCxnSpPr/>
          <p:nvPr/>
        </p:nvCxnSpPr>
        <p:spPr>
          <a:xfrm>
            <a:off x="6281928" y="4123944"/>
            <a:ext cx="5056631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1457432" y="3867911"/>
            <a:ext cx="274320" cy="274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6281928" y="6053327"/>
            <a:ext cx="548640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50" b="0" i="1">
                <a:solidFill>
                  <a:srgbClr val="6B7480"/>
                </a:solidFill>
                <a:latin typeface="Arial"/>
              </a:rPr>
              <a:t>Use for: the roll-out and what each location earns</a:t>
            </a:r>
            <a:endParaRPr sz="750"/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6281928" y="4224528"/>
          <a:ext cx="5486400" cy="1792224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1221638" y="2492654"/>
            <a:ext cx="1044245" cy="0"/>
          </a:xfrm>
          <a:prstGeom prst="line">
            <a:avLst/>
          </a:prstGeom>
          <a:ln w="19050">
            <a:solidFill>
              <a:srgbClr val="81B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224381" y="2697480"/>
            <a:ext cx="8229600" cy="685800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3600" b="0" i="0">
                <a:solidFill>
                  <a:srgbClr val="FFFFFF"/>
                </a:solidFill>
                <a:latin typeface="Cambria"/>
              </a:rPr>
              <a:t>Frameworks</a:t>
            </a:r>
            <a:endParaRPr sz="3600"/>
          </a:p>
        </p:txBody>
      </p:sp>
      <p:sp>
        <p:nvSpPr>
          <p:cNvPr id="5" name="TextBox 4"/>
          <p:cNvSpPr txBox="1"/>
          <p:nvPr/>
        </p:nvSpPr>
        <p:spPr>
          <a:xfrm>
            <a:off x="1228953" y="4129430"/>
            <a:ext cx="8229600" cy="96926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800" b="0" i="0">
                <a:solidFill>
                  <a:srgbClr val="81B0C0"/>
                </a:solidFill>
                <a:latin typeface="Arial"/>
              </a:rPr>
              <a:t>Strategy and valuation frameworks built from shapes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Framework library #1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SWOT analysis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Strengths and opportunities outweigh the weaknesses – the main threat is pricing pressure from low-cost players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Frameworks are built from ordinary PowerPoint shapes and text boxes – click and type to edit. Content is illustrative for the fictional Example Company ASA.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14</a:t>
            </a:r>
            <a:endParaRPr sz="900"/>
          </a:p>
        </p:txBody>
      </p:sp>
      <p:sp>
        <p:nvSpPr>
          <p:cNvPr id="11" name="Rectangle 10"/>
          <p:cNvSpPr/>
          <p:nvPr/>
        </p:nvSpPr>
        <p:spPr>
          <a:xfrm>
            <a:off x="960120" y="1325880"/>
            <a:ext cx="5276088" cy="384048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Strengths</a:t>
            </a:r>
            <a:endParaRPr sz="1300"/>
          </a:p>
        </p:txBody>
      </p:sp>
      <p:sp>
        <p:nvSpPr>
          <p:cNvPr id="12" name="Rectangle 11"/>
          <p:cNvSpPr/>
          <p:nvPr/>
        </p:nvSpPr>
        <p:spPr>
          <a:xfrm>
            <a:off x="960120" y="1709928"/>
            <a:ext cx="5276088" cy="199339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58968" y="1828800"/>
            <a:ext cx="640080" cy="8229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4400" b="1" i="0">
                <a:solidFill>
                  <a:srgbClr val="D5DADF"/>
                </a:solidFill>
                <a:latin typeface="Cambria"/>
              </a:rPr>
              <a:t>S</a:t>
            </a:r>
            <a:endParaRPr sz="4400"/>
          </a:p>
        </p:txBody>
      </p:sp>
      <p:sp>
        <p:nvSpPr>
          <p:cNvPr id="14" name="TextBox 13"/>
          <p:cNvSpPr txBox="1"/>
          <p:nvPr/>
        </p:nvSpPr>
        <p:spPr>
          <a:xfrm>
            <a:off x="1097280" y="1874519"/>
            <a:ext cx="4361688" cy="17373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9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50" b="1" i="0">
                <a:solidFill>
                  <a:srgbClr val="1F1F1F"/>
                </a:solidFill>
                <a:latin typeface="Arial"/>
              </a:rPr>
              <a:t>#1 market position</a:t>
            </a:r>
            <a:r>
              <a:rPr sz="1150" b="0" i="0">
                <a:solidFill>
                  <a:srgbClr val="1F1F1F"/>
                </a:solidFill>
                <a:latin typeface="Arial"/>
              </a:rPr>
              <a:t> in the Nordics with ~15% share</a:t>
            </a:r>
            <a:endParaRPr sz="1150"/>
          </a:p>
          <a:p>
            <a:pPr algn="l" marL="146304" indent="-146304">
              <a:spcAft>
                <a:spcPts val="9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50" b="1" i="0">
                <a:solidFill>
                  <a:srgbClr val="1F1F1F"/>
                </a:solidFill>
                <a:latin typeface="Arial"/>
              </a:rPr>
              <a:t>Pricing power:</a:t>
            </a:r>
            <a:r>
              <a:rPr sz="1150" b="0" i="0">
                <a:solidFill>
                  <a:srgbClr val="1F1F1F"/>
                </a:solidFill>
                <a:latin typeface="Arial"/>
              </a:rPr>
              <a:t> price/mix +4-5% p.a. since 2022</a:t>
            </a:r>
            <a:endParaRPr sz="1150"/>
          </a:p>
          <a:p>
            <a:pPr algn="l" marL="146304" indent="-146304">
              <a:spcAft>
                <a:spcPts val="9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50" b="1" i="0">
                <a:solidFill>
                  <a:srgbClr val="1F1F1F"/>
                </a:solidFill>
                <a:latin typeface="Arial"/>
              </a:rPr>
              <a:t>Recurring revenue</a:t>
            </a:r>
            <a:r>
              <a:rPr sz="1150" b="0" i="0">
                <a:solidFill>
                  <a:srgbClr val="1F1F1F"/>
                </a:solidFill>
                <a:latin typeface="Arial"/>
              </a:rPr>
              <a:t> (~90%) and negative working capital</a:t>
            </a:r>
            <a:endParaRPr sz="1150"/>
          </a:p>
          <a:p>
            <a:pPr algn="l" marL="146304" indent="-146304">
              <a:spcAft>
                <a:spcPts val="9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50" b="1" i="0">
                <a:solidFill>
                  <a:srgbClr val="1F1F1F"/>
                </a:solidFill>
                <a:latin typeface="Arial"/>
              </a:rPr>
              <a:t>ROIC of 19%</a:t>
            </a:r>
            <a:r>
              <a:rPr sz="1150" b="0" i="0">
                <a:solidFill>
                  <a:srgbClr val="1F1F1F"/>
                </a:solidFill>
                <a:latin typeface="Arial"/>
              </a:rPr>
              <a:t> – more than twice the cost of capital</a:t>
            </a:r>
            <a:endParaRPr sz="1150"/>
          </a:p>
        </p:txBody>
      </p:sp>
      <p:sp>
        <p:nvSpPr>
          <p:cNvPr id="15" name="Rectangle 14"/>
          <p:cNvSpPr/>
          <p:nvPr/>
        </p:nvSpPr>
        <p:spPr>
          <a:xfrm>
            <a:off x="6492240" y="1325880"/>
            <a:ext cx="5276088" cy="384048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Weaknesses</a:t>
            </a:r>
            <a:endParaRPr sz="1300"/>
          </a:p>
        </p:txBody>
      </p:sp>
      <p:sp>
        <p:nvSpPr>
          <p:cNvPr id="16" name="Rectangle 15"/>
          <p:cNvSpPr/>
          <p:nvPr/>
        </p:nvSpPr>
        <p:spPr>
          <a:xfrm>
            <a:off x="6492240" y="1709928"/>
            <a:ext cx="5276088" cy="199339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91088" y="1828800"/>
            <a:ext cx="640080" cy="8229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4400" b="1" i="0">
                <a:solidFill>
                  <a:srgbClr val="D5DADF"/>
                </a:solidFill>
                <a:latin typeface="Cambria"/>
              </a:rPr>
              <a:t>W</a:t>
            </a:r>
            <a:endParaRPr sz="4400"/>
          </a:p>
        </p:txBody>
      </p:sp>
      <p:sp>
        <p:nvSpPr>
          <p:cNvPr id="18" name="TextBox 17"/>
          <p:cNvSpPr txBox="1"/>
          <p:nvPr/>
        </p:nvSpPr>
        <p:spPr>
          <a:xfrm>
            <a:off x="6629400" y="1874519"/>
            <a:ext cx="4361688" cy="17373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9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50" b="1" i="0">
                <a:solidFill>
                  <a:srgbClr val="1F1F1F"/>
                </a:solidFill>
                <a:latin typeface="Arial"/>
              </a:rPr>
              <a:t>High fixed cost base:</a:t>
            </a:r>
            <a:r>
              <a:rPr sz="1150" b="0" i="0">
                <a:solidFill>
                  <a:srgbClr val="1F1F1F"/>
                </a:solidFill>
                <a:latin typeface="Arial"/>
              </a:rPr>
              <a:t> leases and personnel ~30% of sales</a:t>
            </a:r>
            <a:endParaRPr sz="1150"/>
          </a:p>
          <a:p>
            <a:pPr algn="l" marL="146304" indent="-146304">
              <a:spcAft>
                <a:spcPts val="9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50" b="1" i="0">
                <a:solidFill>
                  <a:srgbClr val="1F1F1F"/>
                </a:solidFill>
                <a:latin typeface="Arial"/>
              </a:rPr>
              <a:t>Dependent on Norway</a:t>
            </a:r>
            <a:r>
              <a:rPr sz="1150" b="0" i="0">
                <a:solidFill>
                  <a:srgbClr val="1F1F1F"/>
                </a:solidFill>
                <a:latin typeface="Arial"/>
              </a:rPr>
              <a:t> (50% of revenue)</a:t>
            </a:r>
            <a:endParaRPr sz="1150"/>
          </a:p>
          <a:p>
            <a:pPr algn="l" marL="146304" indent="-146304">
              <a:spcAft>
                <a:spcPts val="9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50" b="0" i="0">
                <a:solidFill>
                  <a:srgbClr val="1F1F1F"/>
                </a:solidFill>
                <a:latin typeface="Arial"/>
              </a:rPr>
              <a:t>Limited brand awareness in Finland</a:t>
            </a:r>
            <a:endParaRPr sz="1150"/>
          </a:p>
        </p:txBody>
      </p:sp>
      <p:sp>
        <p:nvSpPr>
          <p:cNvPr id="19" name="Rectangle 18"/>
          <p:cNvSpPr/>
          <p:nvPr/>
        </p:nvSpPr>
        <p:spPr>
          <a:xfrm>
            <a:off x="960120" y="3840480"/>
            <a:ext cx="5276088" cy="384048"/>
          </a:xfrm>
          <a:prstGeom prst="rect">
            <a:avLst/>
          </a:prstGeom>
          <a:solidFill>
            <a:srgbClr val="407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Opportunities</a:t>
            </a:r>
            <a:endParaRPr sz="1300"/>
          </a:p>
        </p:txBody>
      </p:sp>
      <p:sp>
        <p:nvSpPr>
          <p:cNvPr id="20" name="Rectangle 19"/>
          <p:cNvSpPr/>
          <p:nvPr/>
        </p:nvSpPr>
        <p:spPr>
          <a:xfrm>
            <a:off x="960120" y="4224528"/>
            <a:ext cx="5276088" cy="199339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58968" y="4343400"/>
            <a:ext cx="640080" cy="8229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4400" b="1" i="0">
                <a:solidFill>
                  <a:srgbClr val="D5DADF"/>
                </a:solidFill>
                <a:latin typeface="Cambria"/>
              </a:rPr>
              <a:t>O</a:t>
            </a:r>
            <a:endParaRPr sz="4400"/>
          </a:p>
        </p:txBody>
      </p:sp>
      <p:sp>
        <p:nvSpPr>
          <p:cNvPr id="22" name="TextBox 21"/>
          <p:cNvSpPr txBox="1"/>
          <p:nvPr/>
        </p:nvSpPr>
        <p:spPr>
          <a:xfrm>
            <a:off x="1097280" y="4389120"/>
            <a:ext cx="4361688" cy="17373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9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50" b="1" i="0">
                <a:solidFill>
                  <a:srgbClr val="1F1F1F"/>
                </a:solidFill>
                <a:latin typeface="Arial"/>
              </a:rPr>
              <a:t>Bolt-on M&amp;A</a:t>
            </a:r>
            <a:r>
              <a:rPr sz="1150" b="0" i="0">
                <a:solidFill>
                  <a:srgbClr val="1F1F1F"/>
                </a:solidFill>
                <a:latin typeface="Arial"/>
              </a:rPr>
              <a:t> in a fragmented market</a:t>
            </a:r>
            <a:endParaRPr sz="1150"/>
          </a:p>
          <a:p>
            <a:pPr algn="l" marL="146304" indent="-146304">
              <a:spcAft>
                <a:spcPts val="9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50" b="1" i="0">
                <a:solidFill>
                  <a:srgbClr val="1F1F1F"/>
                </a:solidFill>
                <a:latin typeface="Arial"/>
              </a:rPr>
              <a:t>Premium tiers</a:t>
            </a:r>
            <a:r>
              <a:rPr sz="1150" b="0" i="0">
                <a:solidFill>
                  <a:srgbClr val="1F1F1F"/>
                </a:solidFill>
                <a:latin typeface="Arial"/>
              </a:rPr>
              <a:t> and add-on sales lift revenue per customer</a:t>
            </a:r>
            <a:endParaRPr sz="1150"/>
          </a:p>
          <a:p>
            <a:pPr algn="l" marL="146304" indent="-146304">
              <a:spcAft>
                <a:spcPts val="9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50" b="1" i="0">
                <a:solidFill>
                  <a:srgbClr val="1F1F1F"/>
                </a:solidFill>
                <a:latin typeface="Arial"/>
              </a:rPr>
              <a:t>Digital onboarding</a:t>
            </a:r>
            <a:r>
              <a:rPr sz="1150" b="0" i="0">
                <a:solidFill>
                  <a:srgbClr val="1F1F1F"/>
                </a:solidFill>
                <a:latin typeface="Arial"/>
              </a:rPr>
              <a:t> lowers customer acquisition cost</a:t>
            </a:r>
            <a:endParaRPr sz="1150"/>
          </a:p>
          <a:p>
            <a:pPr algn="l" marL="146304" indent="-146304">
              <a:spcAft>
                <a:spcPts val="9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50" b="0" i="0">
                <a:solidFill>
                  <a:srgbClr val="1F1F1F"/>
                </a:solidFill>
                <a:latin typeface="Arial"/>
              </a:rPr>
              <a:t>Cash flow above target leverage funds buybacks on top of the dividend</a:t>
            </a:r>
            <a:endParaRPr sz="1150"/>
          </a:p>
        </p:txBody>
      </p:sp>
      <p:sp>
        <p:nvSpPr>
          <p:cNvPr id="23" name="Rectangle 22"/>
          <p:cNvSpPr/>
          <p:nvPr/>
        </p:nvSpPr>
        <p:spPr>
          <a:xfrm>
            <a:off x="6492240" y="3840480"/>
            <a:ext cx="5276088" cy="384048"/>
          </a:xfrm>
          <a:prstGeom prst="rect">
            <a:avLst/>
          </a:prstGeom>
          <a:solidFill>
            <a:srgbClr val="A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Threats</a:t>
            </a:r>
            <a:endParaRPr sz="1300"/>
          </a:p>
        </p:txBody>
      </p:sp>
      <p:sp>
        <p:nvSpPr>
          <p:cNvPr id="24" name="Rectangle 23"/>
          <p:cNvSpPr/>
          <p:nvPr/>
        </p:nvSpPr>
        <p:spPr>
          <a:xfrm>
            <a:off x="6492240" y="4224528"/>
            <a:ext cx="5276088" cy="1993392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991088" y="4343400"/>
            <a:ext cx="640080" cy="8229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4400" b="1" i="0">
                <a:solidFill>
                  <a:srgbClr val="D5DADF"/>
                </a:solidFill>
                <a:latin typeface="Cambria"/>
              </a:rPr>
              <a:t>T</a:t>
            </a:r>
            <a:endParaRPr sz="4400"/>
          </a:p>
        </p:txBody>
      </p:sp>
      <p:sp>
        <p:nvSpPr>
          <p:cNvPr id="26" name="TextBox 25"/>
          <p:cNvSpPr txBox="1"/>
          <p:nvPr/>
        </p:nvSpPr>
        <p:spPr>
          <a:xfrm>
            <a:off x="6629400" y="4389120"/>
            <a:ext cx="4361688" cy="17373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9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50" b="1" i="0">
                <a:solidFill>
                  <a:srgbClr val="1F1F1F"/>
                </a:solidFill>
                <a:latin typeface="Arial"/>
              </a:rPr>
              <a:t>Low-cost competitors</a:t>
            </a:r>
            <a:r>
              <a:rPr sz="1150" b="0" i="0">
                <a:solidFill>
                  <a:srgbClr val="1F1F1F"/>
                </a:solidFill>
                <a:latin typeface="Arial"/>
              </a:rPr>
              <a:t> expanding in the big cities</a:t>
            </a:r>
            <a:endParaRPr sz="1150"/>
          </a:p>
          <a:p>
            <a:pPr algn="l" marL="146304" indent="-146304">
              <a:spcAft>
                <a:spcPts val="9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50" b="1" i="0">
                <a:solidFill>
                  <a:srgbClr val="1F1F1F"/>
                </a:solidFill>
                <a:latin typeface="Arial"/>
              </a:rPr>
              <a:t>Weaker consumer spending</a:t>
            </a:r>
            <a:r>
              <a:rPr sz="1150" b="0" i="0">
                <a:solidFill>
                  <a:srgbClr val="1F1F1F"/>
                </a:solidFill>
                <a:latin typeface="Arial"/>
              </a:rPr>
              <a:t> if rates stay high</a:t>
            </a:r>
            <a:endParaRPr sz="1150"/>
          </a:p>
          <a:p>
            <a:pPr algn="l" marL="146304" indent="-146304">
              <a:spcAft>
                <a:spcPts val="9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50" b="0" i="0">
                <a:solidFill>
                  <a:srgbClr val="1F1F1F"/>
                </a:solidFill>
                <a:latin typeface="Arial"/>
              </a:rPr>
              <a:t>Wage inflation above price increases</a:t>
            </a:r>
            <a:endParaRPr sz="1150"/>
          </a:p>
        </p:txBody>
      </p:sp>
      <p:sp>
        <p:nvSpPr>
          <p:cNvPr id="27" name="TextBox 26"/>
          <p:cNvSpPr txBox="1"/>
          <p:nvPr/>
        </p:nvSpPr>
        <p:spPr>
          <a:xfrm rot="16200000">
            <a:off x="45720" y="2377440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100" b="1" i="0">
                <a:solidFill>
                  <a:srgbClr val="6B7480"/>
                </a:solidFill>
                <a:latin typeface="Arial"/>
              </a:rPr>
              <a:t>Internal</a:t>
            </a:r>
            <a:endParaRPr sz="1100"/>
          </a:p>
        </p:txBody>
      </p:sp>
      <p:sp>
        <p:nvSpPr>
          <p:cNvPr id="28" name="TextBox 27"/>
          <p:cNvSpPr txBox="1"/>
          <p:nvPr/>
        </p:nvSpPr>
        <p:spPr>
          <a:xfrm rot="16200000">
            <a:off x="45720" y="4892040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100" b="1" i="0">
                <a:solidFill>
                  <a:srgbClr val="6B7480"/>
                </a:solidFill>
                <a:latin typeface="Arial"/>
              </a:rPr>
              <a:t>External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Framework library #2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Porter's five forces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Attractive industry structure: fragmented buyers and suppliers, moderate rivalry – watch the low-cost entrants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Frameworks are built from ordinary PowerPoint shapes and text boxes – click and type to edit. Content is illustrative for the fictional Example Company ASA.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15</a:t>
            </a:r>
            <a:endParaRPr sz="900"/>
          </a:p>
        </p:txBody>
      </p:sp>
      <p:sp>
        <p:nvSpPr>
          <p:cNvPr id="11" name="Rectangle 10"/>
          <p:cNvSpPr/>
          <p:nvPr/>
        </p:nvSpPr>
        <p:spPr>
          <a:xfrm>
            <a:off x="4404207" y="1298448"/>
            <a:ext cx="3383280" cy="329184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Threat of new entrants</a:t>
            </a:r>
            <a:endParaRPr sz="1050"/>
          </a:p>
        </p:txBody>
      </p:sp>
      <p:sp>
        <p:nvSpPr>
          <p:cNvPr id="12" name="Rounded Rectangle 11"/>
          <p:cNvSpPr/>
          <p:nvPr/>
        </p:nvSpPr>
        <p:spPr>
          <a:xfrm>
            <a:off x="6918807" y="1362456"/>
            <a:ext cx="777240" cy="201168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Medium</a:t>
            </a:r>
            <a:endParaRPr sz="800"/>
          </a:p>
        </p:txBody>
      </p:sp>
      <p:sp>
        <p:nvSpPr>
          <p:cNvPr id="13" name="Rectangle 12"/>
          <p:cNvSpPr/>
          <p:nvPr/>
        </p:nvSpPr>
        <p:spPr>
          <a:xfrm>
            <a:off x="4404207" y="1627631"/>
            <a:ext cx="3383280" cy="1088136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95647" y="1719072"/>
            <a:ext cx="3200400" cy="9601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Low-cost chains entering the big cities</a:t>
            </a:r>
            <a:endParaRPr sz="95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Prime locations and scale are barriers</a:t>
            </a:r>
            <a:endParaRPr sz="950"/>
          </a:p>
        </p:txBody>
      </p:sp>
      <p:sp>
        <p:nvSpPr>
          <p:cNvPr id="15" name="Rectangle 14"/>
          <p:cNvSpPr/>
          <p:nvPr/>
        </p:nvSpPr>
        <p:spPr>
          <a:xfrm>
            <a:off x="429768" y="3035808"/>
            <a:ext cx="3383280" cy="329184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Bargaining power of suppliers</a:t>
            </a:r>
            <a:endParaRPr sz="1050"/>
          </a:p>
        </p:txBody>
      </p:sp>
      <p:sp>
        <p:nvSpPr>
          <p:cNvPr id="16" name="Rounded Rectangle 15"/>
          <p:cNvSpPr/>
          <p:nvPr/>
        </p:nvSpPr>
        <p:spPr>
          <a:xfrm>
            <a:off x="2944368" y="3099815"/>
            <a:ext cx="777240" cy="201168"/>
          </a:xfrm>
          <a:prstGeom prst="roundRect">
            <a:avLst/>
          </a:prstGeom>
          <a:solidFill>
            <a:srgbClr val="407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Low</a:t>
            </a:r>
            <a:endParaRPr sz="800"/>
          </a:p>
        </p:txBody>
      </p:sp>
      <p:sp>
        <p:nvSpPr>
          <p:cNvPr id="17" name="Rectangle 16"/>
          <p:cNvSpPr/>
          <p:nvPr/>
        </p:nvSpPr>
        <p:spPr>
          <a:xfrm>
            <a:off x="429768" y="3364991"/>
            <a:ext cx="3383280" cy="1088136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21207" y="3456432"/>
            <a:ext cx="3200400" cy="9601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Many landlords and equipment suppliers</a:t>
            </a:r>
            <a:endParaRPr sz="95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Long leases give cost visibility</a:t>
            </a:r>
            <a:endParaRPr sz="950"/>
          </a:p>
        </p:txBody>
      </p:sp>
      <p:sp>
        <p:nvSpPr>
          <p:cNvPr id="19" name="Rectangle 18"/>
          <p:cNvSpPr/>
          <p:nvPr/>
        </p:nvSpPr>
        <p:spPr>
          <a:xfrm>
            <a:off x="8378647" y="3035808"/>
            <a:ext cx="3383280" cy="329184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Bargaining power of buyers</a:t>
            </a:r>
            <a:endParaRPr sz="1050"/>
          </a:p>
        </p:txBody>
      </p:sp>
      <p:sp>
        <p:nvSpPr>
          <p:cNvPr id="20" name="Rounded Rectangle 19"/>
          <p:cNvSpPr/>
          <p:nvPr/>
        </p:nvSpPr>
        <p:spPr>
          <a:xfrm>
            <a:off x="10893247" y="3099815"/>
            <a:ext cx="777240" cy="201168"/>
          </a:xfrm>
          <a:prstGeom prst="roundRect">
            <a:avLst/>
          </a:prstGeom>
          <a:solidFill>
            <a:srgbClr val="407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Low</a:t>
            </a:r>
            <a:endParaRPr sz="800"/>
          </a:p>
        </p:txBody>
      </p:sp>
      <p:sp>
        <p:nvSpPr>
          <p:cNvPr id="21" name="Rectangle 20"/>
          <p:cNvSpPr/>
          <p:nvPr/>
        </p:nvSpPr>
        <p:spPr>
          <a:xfrm>
            <a:off x="8378647" y="3364991"/>
            <a:ext cx="3383280" cy="1088136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70087" y="3456432"/>
            <a:ext cx="3200400" cy="9601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~780k individual subscribers – no concentration</a:t>
            </a:r>
            <a:endParaRPr sz="95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Low switching costs, but high habit value</a:t>
            </a:r>
            <a:endParaRPr sz="950"/>
          </a:p>
        </p:txBody>
      </p:sp>
      <p:sp>
        <p:nvSpPr>
          <p:cNvPr id="23" name="Rectangle 22"/>
          <p:cNvSpPr/>
          <p:nvPr/>
        </p:nvSpPr>
        <p:spPr>
          <a:xfrm>
            <a:off x="4404207" y="4773168"/>
            <a:ext cx="3383280" cy="329184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Threat of substitutes</a:t>
            </a:r>
            <a:endParaRPr sz="1050"/>
          </a:p>
        </p:txBody>
      </p:sp>
      <p:sp>
        <p:nvSpPr>
          <p:cNvPr id="24" name="Rounded Rectangle 23"/>
          <p:cNvSpPr/>
          <p:nvPr/>
        </p:nvSpPr>
        <p:spPr>
          <a:xfrm>
            <a:off x="6918807" y="4837176"/>
            <a:ext cx="777240" cy="201168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Medium</a:t>
            </a:r>
            <a:endParaRPr sz="800"/>
          </a:p>
        </p:txBody>
      </p:sp>
      <p:sp>
        <p:nvSpPr>
          <p:cNvPr id="25" name="Rectangle 24"/>
          <p:cNvSpPr/>
          <p:nvPr/>
        </p:nvSpPr>
        <p:spPr>
          <a:xfrm>
            <a:off x="4404207" y="5102352"/>
            <a:ext cx="3383280" cy="1088136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495647" y="5193792"/>
            <a:ext cx="3200400" cy="9601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Digital and at-home alternatives</a:t>
            </a:r>
            <a:endParaRPr sz="95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Bundled as an add-on in the company's own app</a:t>
            </a:r>
            <a:endParaRPr sz="950"/>
          </a:p>
        </p:txBody>
      </p:sp>
      <p:sp>
        <p:nvSpPr>
          <p:cNvPr id="27" name="Rectangle 26"/>
          <p:cNvSpPr/>
          <p:nvPr/>
        </p:nvSpPr>
        <p:spPr>
          <a:xfrm>
            <a:off x="4404207" y="3035808"/>
            <a:ext cx="3383280" cy="329184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Competitive rivalry</a:t>
            </a:r>
            <a:endParaRPr sz="1050"/>
          </a:p>
        </p:txBody>
      </p:sp>
      <p:sp>
        <p:nvSpPr>
          <p:cNvPr id="28" name="Rounded Rectangle 27"/>
          <p:cNvSpPr/>
          <p:nvPr/>
        </p:nvSpPr>
        <p:spPr>
          <a:xfrm>
            <a:off x="6918807" y="3099815"/>
            <a:ext cx="777240" cy="201168"/>
          </a:xfrm>
          <a:prstGeom prst="round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Medium</a:t>
            </a:r>
            <a:endParaRPr sz="800"/>
          </a:p>
        </p:txBody>
      </p:sp>
      <p:sp>
        <p:nvSpPr>
          <p:cNvPr id="29" name="Rectangle 28"/>
          <p:cNvSpPr/>
          <p:nvPr/>
        </p:nvSpPr>
        <p:spPr>
          <a:xfrm>
            <a:off x="4404207" y="3364991"/>
            <a:ext cx="3383280" cy="1088136"/>
          </a:xfrm>
          <a:prstGeom prst="rect">
            <a:avLst/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495647" y="3456432"/>
            <a:ext cx="3200400" cy="9601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Top-4 players hold ~42% of the market</a:t>
            </a:r>
            <a:endParaRPr sz="950"/>
          </a:p>
          <a:p>
            <a:pPr algn="l" marL="146304" indent="-146304">
              <a:spcAft>
                <a:spcPts val="4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Competition on location and concept, less on price</a:t>
            </a:r>
            <a:endParaRPr sz="950"/>
          </a:p>
        </p:txBody>
      </p:sp>
      <p:cxnSp>
        <p:nvCxnSpPr>
          <p:cNvPr id="31" name="Connector 30"/>
          <p:cNvCxnSpPr/>
          <p:nvPr/>
        </p:nvCxnSpPr>
        <p:spPr>
          <a:xfrm>
            <a:off x="6095847" y="2752344"/>
            <a:ext cx="0" cy="246888"/>
          </a:xfrm>
          <a:prstGeom prst="line">
            <a:avLst/>
          </a:prstGeom>
          <a:ln w="22225">
            <a:solidFill>
              <a:srgbClr val="0032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6095847" y="4489704"/>
            <a:ext cx="0" cy="246888"/>
          </a:xfrm>
          <a:prstGeom prst="line">
            <a:avLst/>
          </a:prstGeom>
          <a:ln w="22225">
            <a:solidFill>
              <a:srgbClr val="0032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9624" y="3744468"/>
            <a:ext cx="518007" cy="0"/>
          </a:xfrm>
          <a:prstGeom prst="line">
            <a:avLst/>
          </a:prstGeom>
          <a:ln w="22225">
            <a:solidFill>
              <a:srgbClr val="0032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7824063" y="3744468"/>
            <a:ext cx="518008" cy="0"/>
          </a:xfrm>
          <a:prstGeom prst="line">
            <a:avLst/>
          </a:prstGeom>
          <a:ln w="22225">
            <a:solidFill>
              <a:srgbClr val="0032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29768" y="4773168"/>
            <a:ext cx="3383280" cy="141732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4846320"/>
            <a:ext cx="3108960" cy="12801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0" i="0">
                <a:solidFill>
                  <a:srgbClr val="C9D1D9"/>
                </a:solidFill>
                <a:latin typeface="Arial"/>
              </a:rPr>
              <a:t>Industry attractiveness</a:t>
            </a:r>
            <a:endParaRPr sz="950"/>
          </a:p>
          <a:p>
            <a:pPr algn="l">
              <a:spcAft>
                <a:spcPts val="4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Above average</a:t>
            </a:r>
            <a:endParaRPr sz="1800"/>
          </a:p>
          <a:p>
            <a:pPr algn="l">
              <a:buNone/>
            </a:pPr>
            <a:r>
              <a:rPr sz="950" b="0" i="0">
                <a:solidFill>
                  <a:srgbClr val="FFFFFF"/>
                </a:solidFill>
                <a:latin typeface="Arial"/>
              </a:rPr>
              <a:t>Supports EBIT margins of 17-19% and pricing with CPI.</a:t>
            </a:r>
            <a:endParaRPr sz="950"/>
          </a:p>
        </p:txBody>
      </p:sp>
      <p:sp>
        <p:nvSpPr>
          <p:cNvPr id="37" name="Rectangle 36"/>
          <p:cNvSpPr/>
          <p:nvPr/>
        </p:nvSpPr>
        <p:spPr>
          <a:xfrm>
            <a:off x="8378647" y="5111496"/>
            <a:ext cx="118872" cy="118872"/>
          </a:xfrm>
          <a:prstGeom prst="rect">
            <a:avLst/>
          </a:prstGeom>
          <a:solidFill>
            <a:srgbClr val="407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543239" y="5074920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00" b="0" i="0">
                <a:solidFill>
                  <a:srgbClr val="1F1F1F"/>
                </a:solidFill>
                <a:latin typeface="Arial"/>
              </a:rPr>
              <a:t>Low pressure</a:t>
            </a:r>
            <a:endParaRPr sz="900"/>
          </a:p>
        </p:txBody>
      </p:sp>
      <p:sp>
        <p:nvSpPr>
          <p:cNvPr id="39" name="Rectangle 38"/>
          <p:cNvSpPr/>
          <p:nvPr/>
        </p:nvSpPr>
        <p:spPr>
          <a:xfrm>
            <a:off x="8378647" y="5404104"/>
            <a:ext cx="118872" cy="11887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543239" y="5367528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00" b="0" i="0">
                <a:solidFill>
                  <a:srgbClr val="1F1F1F"/>
                </a:solidFill>
                <a:latin typeface="Arial"/>
              </a:rPr>
              <a:t>Medium pressure</a:t>
            </a:r>
            <a:endParaRPr sz="900"/>
          </a:p>
        </p:txBody>
      </p:sp>
      <p:sp>
        <p:nvSpPr>
          <p:cNvPr id="41" name="Rectangle 40"/>
          <p:cNvSpPr/>
          <p:nvPr/>
        </p:nvSpPr>
        <p:spPr>
          <a:xfrm>
            <a:off x="8378647" y="5696712"/>
            <a:ext cx="118872" cy="118872"/>
          </a:xfrm>
          <a:prstGeom prst="rect">
            <a:avLst/>
          </a:prstGeom>
          <a:solidFill>
            <a:srgbClr val="A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543239" y="5660136"/>
            <a:ext cx="20116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00" b="0" i="0">
                <a:solidFill>
                  <a:srgbClr val="1F1F1F"/>
                </a:solidFill>
                <a:latin typeface="Arial"/>
              </a:rPr>
              <a:t>High pressure</a:t>
            </a:r>
            <a:endParaRPr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Framework library #3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Competitive positioning matrix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Example Company owns the premium, full-service corner – low-cost players compete for a different customer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Frameworks are built from ordinary PowerPoint shapes and text boxes – click and type to edit. Content is illustrative for the fictional Example Company ASA.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16</a:t>
            </a:r>
            <a:endParaRPr sz="900"/>
          </a:p>
        </p:txBody>
      </p:sp>
      <p:sp>
        <p:nvSpPr>
          <p:cNvPr id="11" name="Rectangle 10"/>
          <p:cNvSpPr/>
          <p:nvPr/>
        </p:nvSpPr>
        <p:spPr>
          <a:xfrm>
            <a:off x="1234440" y="1417320"/>
            <a:ext cx="6035040" cy="434340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2" name="Connector 11"/>
          <p:cNvCxnSpPr/>
          <p:nvPr/>
        </p:nvCxnSpPr>
        <p:spPr>
          <a:xfrm>
            <a:off x="4251960" y="1417320"/>
            <a:ext cx="0" cy="4343400"/>
          </a:xfrm>
          <a:prstGeom prst="line">
            <a:avLst/>
          </a:prstGeom>
          <a:ln w="12700">
            <a:solidFill>
              <a:srgbClr val="C8CD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234440" y="3589020"/>
            <a:ext cx="6035039" cy="0"/>
          </a:xfrm>
          <a:prstGeom prst="line">
            <a:avLst/>
          </a:prstGeom>
          <a:ln w="12700">
            <a:solidFill>
              <a:srgbClr val="C8CD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34440" y="5760720"/>
            <a:ext cx="6172200" cy="0"/>
          </a:xfrm>
          <a:prstGeom prst="line">
            <a:avLst/>
          </a:prstGeom>
          <a:ln w="1905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34440" y="1280160"/>
            <a:ext cx="0" cy="4480560"/>
          </a:xfrm>
          <a:prstGeom prst="line">
            <a:avLst/>
          </a:prstGeom>
          <a:ln w="1905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34440" y="5833872"/>
            <a:ext cx="603504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050" b="1" i="0">
                <a:solidFill>
                  <a:srgbClr val="1F1F1F"/>
                </a:solidFill>
                <a:latin typeface="Arial"/>
              </a:rPr>
              <a:t>Price level  →</a:t>
            </a:r>
            <a:endParaRPr sz="1050"/>
          </a:p>
        </p:txBody>
      </p:sp>
      <p:sp>
        <p:nvSpPr>
          <p:cNvPr id="17" name="TextBox 16"/>
          <p:cNvSpPr txBox="1"/>
          <p:nvPr/>
        </p:nvSpPr>
        <p:spPr>
          <a:xfrm rot="16200000">
            <a:off x="91440" y="345186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050" b="1" i="0">
                <a:solidFill>
                  <a:srgbClr val="1F1F1F"/>
                </a:solidFill>
                <a:latin typeface="Arial"/>
              </a:rPr>
              <a:t>Service offering / quality  →</a:t>
            </a:r>
            <a:endParaRPr sz="1050"/>
          </a:p>
        </p:txBody>
      </p:sp>
      <p:sp>
        <p:nvSpPr>
          <p:cNvPr id="18" name="TextBox 17"/>
          <p:cNvSpPr txBox="1"/>
          <p:nvPr/>
        </p:nvSpPr>
        <p:spPr>
          <a:xfrm>
            <a:off x="1415491" y="1547622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0" i="1">
                <a:solidFill>
                  <a:srgbClr val="6B7480"/>
                </a:solidFill>
                <a:latin typeface="Arial"/>
              </a:rPr>
              <a:t>Value for money</a:t>
            </a:r>
            <a:endParaRPr sz="950"/>
          </a:p>
        </p:txBody>
      </p:sp>
      <p:sp>
        <p:nvSpPr>
          <p:cNvPr id="19" name="TextBox 18"/>
          <p:cNvSpPr txBox="1"/>
          <p:nvPr/>
        </p:nvSpPr>
        <p:spPr>
          <a:xfrm>
            <a:off x="4433011" y="1547622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0" i="1">
                <a:solidFill>
                  <a:srgbClr val="6B7480"/>
                </a:solidFill>
                <a:latin typeface="Arial"/>
              </a:rPr>
              <a:t>Premium full-service</a:t>
            </a:r>
            <a:endParaRPr sz="950"/>
          </a:p>
        </p:txBody>
      </p:sp>
      <p:sp>
        <p:nvSpPr>
          <p:cNvPr id="20" name="TextBox 19"/>
          <p:cNvSpPr txBox="1"/>
          <p:nvPr/>
        </p:nvSpPr>
        <p:spPr>
          <a:xfrm>
            <a:off x="1415491" y="532638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0" i="1">
                <a:solidFill>
                  <a:srgbClr val="6B7480"/>
                </a:solidFill>
                <a:latin typeface="Arial"/>
              </a:rPr>
              <a:t>Low-cost / no frills</a:t>
            </a:r>
            <a:endParaRPr sz="950"/>
          </a:p>
        </p:txBody>
      </p:sp>
      <p:sp>
        <p:nvSpPr>
          <p:cNvPr id="21" name="TextBox 20"/>
          <p:cNvSpPr txBox="1"/>
          <p:nvPr/>
        </p:nvSpPr>
        <p:spPr>
          <a:xfrm>
            <a:off x="4433011" y="5326380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0" i="1">
                <a:solidFill>
                  <a:srgbClr val="6B7480"/>
                </a:solidFill>
                <a:latin typeface="Arial"/>
              </a:rPr>
              <a:t>Overpriced</a:t>
            </a:r>
            <a:endParaRPr sz="950"/>
          </a:p>
        </p:txBody>
      </p:sp>
      <p:sp>
        <p:nvSpPr>
          <p:cNvPr id="22" name="Oval 21"/>
          <p:cNvSpPr/>
          <p:nvPr/>
        </p:nvSpPr>
        <p:spPr>
          <a:xfrm>
            <a:off x="5438851" y="1783080"/>
            <a:ext cx="1005840" cy="1005840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027371" y="2798063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1" i="0">
                <a:solidFill>
                  <a:srgbClr val="003255"/>
                </a:solidFill>
                <a:latin typeface="Arial"/>
              </a:rPr>
              <a:t>Example Company</a:t>
            </a:r>
            <a:endParaRPr sz="900"/>
          </a:p>
        </p:txBody>
      </p:sp>
      <p:sp>
        <p:nvSpPr>
          <p:cNvPr id="24" name="Oval 23"/>
          <p:cNvSpPr/>
          <p:nvPr/>
        </p:nvSpPr>
        <p:spPr>
          <a:xfrm>
            <a:off x="4587544" y="2679192"/>
            <a:ext cx="777240" cy="777240"/>
          </a:xfrm>
          <a:prstGeom prst="ellipse">
            <a:avLst/>
          </a:prstGeom>
          <a:solidFill>
            <a:srgbClr val="4F7FA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061764" y="3465575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0" i="0">
                <a:solidFill>
                  <a:srgbClr val="1F1F1F"/>
                </a:solidFill>
                <a:latin typeface="Arial"/>
              </a:rPr>
              <a:t>Competitor A</a:t>
            </a:r>
            <a:endParaRPr sz="900"/>
          </a:p>
        </p:txBody>
      </p:sp>
      <p:sp>
        <p:nvSpPr>
          <p:cNvPr id="26" name="Oval 25"/>
          <p:cNvSpPr/>
          <p:nvPr/>
        </p:nvSpPr>
        <p:spPr>
          <a:xfrm>
            <a:off x="2702052" y="3028950"/>
            <a:ext cx="685800" cy="685800"/>
          </a:xfrm>
          <a:prstGeom prst="ellipse">
            <a:avLst/>
          </a:prstGeom>
          <a:solidFill>
            <a:srgbClr val="81B0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130552" y="3723894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0" i="0">
                <a:solidFill>
                  <a:srgbClr val="1F1F1F"/>
                </a:solidFill>
                <a:latin typeface="Arial"/>
              </a:rPr>
              <a:t>Competitor B</a:t>
            </a:r>
            <a:endParaRPr sz="900"/>
          </a:p>
        </p:txBody>
      </p:sp>
      <p:sp>
        <p:nvSpPr>
          <p:cNvPr id="28" name="Oval 27"/>
          <p:cNvSpPr/>
          <p:nvPr/>
        </p:nvSpPr>
        <p:spPr>
          <a:xfrm>
            <a:off x="2037283" y="4521708"/>
            <a:ext cx="566928" cy="566928"/>
          </a:xfrm>
          <a:prstGeom prst="ellipse">
            <a:avLst/>
          </a:prstGeom>
          <a:solidFill>
            <a:srgbClr val="81B0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406347" y="5097779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0" i="0">
                <a:solidFill>
                  <a:srgbClr val="1F1F1F"/>
                </a:solidFill>
                <a:latin typeface="Arial"/>
              </a:rPr>
              <a:t>Competitor C</a:t>
            </a:r>
            <a:endParaRPr sz="900"/>
          </a:p>
        </p:txBody>
      </p:sp>
      <p:sp>
        <p:nvSpPr>
          <p:cNvPr id="30" name="Oval 29"/>
          <p:cNvSpPr/>
          <p:nvPr/>
        </p:nvSpPr>
        <p:spPr>
          <a:xfrm>
            <a:off x="6316675" y="3577590"/>
            <a:ext cx="457200" cy="457200"/>
          </a:xfrm>
          <a:prstGeom prst="ellipse">
            <a:avLst/>
          </a:prstGeom>
          <a:solidFill>
            <a:srgbClr val="A9C8D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630875" y="4043934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0" i="0">
                <a:solidFill>
                  <a:srgbClr val="1F1F1F"/>
                </a:solidFill>
                <a:latin typeface="Arial"/>
              </a:rPr>
              <a:t>Boutique studios</a:t>
            </a:r>
            <a:endParaRPr sz="900"/>
          </a:p>
        </p:txBody>
      </p:sp>
      <p:sp>
        <p:nvSpPr>
          <p:cNvPr id="32" name="Oval 31"/>
          <p:cNvSpPr/>
          <p:nvPr/>
        </p:nvSpPr>
        <p:spPr>
          <a:xfrm>
            <a:off x="1632204" y="3817620"/>
            <a:ext cx="411480" cy="411480"/>
          </a:xfrm>
          <a:prstGeom prst="ellipse">
            <a:avLst/>
          </a:prstGeom>
          <a:solidFill>
            <a:srgbClr val="A9C8D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23544" y="4238244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0" i="0">
                <a:solidFill>
                  <a:srgbClr val="1F1F1F"/>
                </a:solidFill>
                <a:latin typeface="Arial"/>
              </a:rPr>
              <a:t>Digital apps</a:t>
            </a:r>
            <a:endParaRPr sz="900"/>
          </a:p>
        </p:txBody>
      </p:sp>
      <p:sp>
        <p:nvSpPr>
          <p:cNvPr id="34" name="TextBox 33"/>
          <p:cNvSpPr txBox="1"/>
          <p:nvPr/>
        </p:nvSpPr>
        <p:spPr>
          <a:xfrm>
            <a:off x="1234440" y="6126480"/>
            <a:ext cx="603504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800" b="0" i="1">
                <a:solidFill>
                  <a:srgbClr val="6B7480"/>
                </a:solidFill>
                <a:latin typeface="Arial"/>
              </a:rPr>
              <a:t>Bubble size = market share (illustrative)</a:t>
            </a:r>
            <a:endParaRPr sz="800"/>
          </a:p>
        </p:txBody>
      </p:sp>
      <p:sp>
        <p:nvSpPr>
          <p:cNvPr id="35" name="TextBox 34"/>
          <p:cNvSpPr txBox="1"/>
          <p:nvPr/>
        </p:nvSpPr>
        <p:spPr>
          <a:xfrm>
            <a:off x="7818120" y="1325880"/>
            <a:ext cx="3950208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What the matrix tells us</a:t>
            </a:r>
            <a:endParaRPr sz="1100"/>
          </a:p>
        </p:txBody>
      </p:sp>
      <p:cxnSp>
        <p:nvCxnSpPr>
          <p:cNvPr id="36" name="Connector 35"/>
          <p:cNvCxnSpPr/>
          <p:nvPr/>
        </p:nvCxnSpPr>
        <p:spPr>
          <a:xfrm>
            <a:off x="7818120" y="1627632"/>
            <a:ext cx="3904488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818120" y="1709928"/>
            <a:ext cx="3950208" cy="233172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927848" y="1810512"/>
            <a:ext cx="3730752" cy="21945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6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00" b="1" i="0">
                <a:solidFill>
                  <a:srgbClr val="1F1F1F"/>
                </a:solidFill>
                <a:latin typeface="Arial"/>
              </a:rPr>
              <a:t>Clear differentiation: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the only scaled player in the premium full-service corner</a:t>
            </a:r>
            <a:endParaRPr sz="1000"/>
          </a:p>
          <a:p>
            <a:pPr algn="l" marL="146304" indent="-146304">
              <a:spcAft>
                <a:spcPts val="6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00" b="1" i="0">
                <a:solidFill>
                  <a:srgbClr val="1F1F1F"/>
                </a:solidFill>
                <a:latin typeface="Arial"/>
              </a:rPr>
              <a:t>Low-cost overlap is limited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– different customer, different locations</a:t>
            </a:r>
            <a:endParaRPr sz="1000"/>
          </a:p>
          <a:p>
            <a:pPr algn="l" marL="146304" indent="-146304">
              <a:spcAft>
                <a:spcPts val="6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00" b="1" i="0">
                <a:solidFill>
                  <a:srgbClr val="1F1F1F"/>
                </a:solidFill>
                <a:latin typeface="Arial"/>
              </a:rPr>
              <a:t>Pricing headroom: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premium of ~25% to Competitor A is backed by service breadth</a:t>
            </a:r>
            <a:endParaRPr sz="1000"/>
          </a:p>
          <a:p>
            <a:pPr algn="l" marL="146304" indent="-146304">
              <a:spcAft>
                <a:spcPts val="6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000" b="1" i="0">
                <a:solidFill>
                  <a:srgbClr val="1F1F1F"/>
                </a:solidFill>
                <a:latin typeface="Arial"/>
              </a:rPr>
              <a:t>White space:</a:t>
            </a:r>
            <a:r>
              <a:rPr sz="1000" b="0" i="0">
                <a:solidFill>
                  <a:srgbClr val="1F1F1F"/>
                </a:solidFill>
                <a:latin typeface="Arial"/>
              </a:rPr>
              <a:t> mid-priced concept in smaller cities</a:t>
            </a:r>
            <a:endParaRPr sz="1000"/>
          </a:p>
        </p:txBody>
      </p:sp>
      <p:sp>
        <p:nvSpPr>
          <p:cNvPr id="39" name="TextBox 38"/>
          <p:cNvSpPr txBox="1"/>
          <p:nvPr/>
        </p:nvSpPr>
        <p:spPr>
          <a:xfrm>
            <a:off x="7818120" y="4224528"/>
            <a:ext cx="3950208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How to build it</a:t>
            </a:r>
            <a:endParaRPr sz="1100"/>
          </a:p>
        </p:txBody>
      </p:sp>
      <p:cxnSp>
        <p:nvCxnSpPr>
          <p:cNvPr id="40" name="Connector 39"/>
          <p:cNvCxnSpPr/>
          <p:nvPr/>
        </p:nvCxnSpPr>
        <p:spPr>
          <a:xfrm>
            <a:off x="7818120" y="4526280"/>
            <a:ext cx="3904488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818120" y="4626864"/>
            <a:ext cx="3950208" cy="14630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Pick two axes customers actually choose on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Place peers first, then your company – be honest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Use bubble size for a third dimension (share, revenue)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Name the quadrants</a:t>
            </a:r>
            <a:endParaRPr sz="9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Framework library #4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Business model and value chain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Where the company makes its money: a subscription engine with add-on sales and scale benefits in every step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Frameworks are built from ordinary PowerPoint shapes and text boxes – click and type to edit. Content is illustrative for the fictional Example Company ASA.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17</a:t>
            </a:r>
            <a:endParaRPr sz="900"/>
          </a:p>
        </p:txBody>
      </p:sp>
      <p:sp>
        <p:nvSpPr>
          <p:cNvPr id="11" name="Pentagon 10"/>
          <p:cNvSpPr/>
          <p:nvPr/>
        </p:nvSpPr>
        <p:spPr>
          <a:xfrm>
            <a:off x="429768" y="1371600"/>
            <a:ext cx="2523744" cy="777240"/>
          </a:xfrm>
          <a:prstGeom prst="homePlat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Locations</a:t>
            </a:r>
            <a:endParaRPr sz="1050"/>
          </a:p>
        </p:txBody>
      </p:sp>
      <p:sp>
        <p:nvSpPr>
          <p:cNvPr id="12" name="TextBox 11"/>
          <p:cNvSpPr txBox="1"/>
          <p:nvPr/>
        </p:nvSpPr>
        <p:spPr>
          <a:xfrm>
            <a:off x="475488" y="2240280"/>
            <a:ext cx="2020824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Prime sites on long leases</a:t>
            </a:r>
            <a:endParaRPr sz="950"/>
          </a:p>
        </p:txBody>
      </p:sp>
      <p:sp>
        <p:nvSpPr>
          <p:cNvPr id="13" name="TextBox 12"/>
          <p:cNvSpPr txBox="1"/>
          <p:nvPr/>
        </p:nvSpPr>
        <p:spPr>
          <a:xfrm>
            <a:off x="475488" y="2487168"/>
            <a:ext cx="2020824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0" i="0">
                <a:solidFill>
                  <a:srgbClr val="1F1F1F"/>
                </a:solidFill>
                <a:latin typeface="Arial"/>
              </a:rPr>
              <a:t>217 locations</a:t>
            </a:r>
            <a:endParaRPr sz="90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0" i="0">
                <a:solidFill>
                  <a:srgbClr val="1F1F1F"/>
                </a:solidFill>
                <a:latin typeface="Arial"/>
              </a:rPr>
              <a:t>Cluster strategy in cities</a:t>
            </a:r>
            <a:endParaRPr sz="900"/>
          </a:p>
        </p:txBody>
      </p:sp>
      <p:sp>
        <p:nvSpPr>
          <p:cNvPr id="14" name="Chevron 13"/>
          <p:cNvSpPr/>
          <p:nvPr/>
        </p:nvSpPr>
        <p:spPr>
          <a:xfrm>
            <a:off x="2633472" y="1371600"/>
            <a:ext cx="2523744" cy="777240"/>
          </a:xfrm>
          <a:prstGeom prst="chevron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Concept &amp; product</a:t>
            </a:r>
            <a:endParaRPr sz="1050"/>
          </a:p>
        </p:txBody>
      </p:sp>
      <p:sp>
        <p:nvSpPr>
          <p:cNvPr id="15" name="TextBox 14"/>
          <p:cNvSpPr txBox="1"/>
          <p:nvPr/>
        </p:nvSpPr>
        <p:spPr>
          <a:xfrm>
            <a:off x="2953511" y="2240280"/>
            <a:ext cx="2020824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Tiered memberships</a:t>
            </a:r>
            <a:endParaRPr sz="950"/>
          </a:p>
        </p:txBody>
      </p:sp>
      <p:sp>
        <p:nvSpPr>
          <p:cNvPr id="16" name="TextBox 15"/>
          <p:cNvSpPr txBox="1"/>
          <p:nvPr/>
        </p:nvSpPr>
        <p:spPr>
          <a:xfrm>
            <a:off x="2953511" y="2487168"/>
            <a:ext cx="2020824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0" i="0">
                <a:solidFill>
                  <a:srgbClr val="1F1F1F"/>
                </a:solidFill>
                <a:latin typeface="Arial"/>
              </a:rPr>
              <a:t>3 price tiers</a:t>
            </a:r>
            <a:endParaRPr sz="90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0" i="0">
                <a:solidFill>
                  <a:srgbClr val="1F1F1F"/>
                </a:solidFill>
                <a:latin typeface="Arial"/>
              </a:rPr>
              <a:t>Own premium concepts</a:t>
            </a:r>
            <a:endParaRPr sz="900"/>
          </a:p>
        </p:txBody>
      </p:sp>
      <p:sp>
        <p:nvSpPr>
          <p:cNvPr id="17" name="Chevron 16"/>
          <p:cNvSpPr/>
          <p:nvPr/>
        </p:nvSpPr>
        <p:spPr>
          <a:xfrm>
            <a:off x="4837176" y="1371600"/>
            <a:ext cx="2523744" cy="777240"/>
          </a:xfrm>
          <a:prstGeom prst="chevron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Customer acquisition</a:t>
            </a:r>
            <a:endParaRPr sz="1050"/>
          </a:p>
        </p:txBody>
      </p:sp>
      <p:sp>
        <p:nvSpPr>
          <p:cNvPr id="18" name="TextBox 17"/>
          <p:cNvSpPr txBox="1"/>
          <p:nvPr/>
        </p:nvSpPr>
        <p:spPr>
          <a:xfrm>
            <a:off x="5157216" y="2240280"/>
            <a:ext cx="2020824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Digital-first sales</a:t>
            </a:r>
            <a:endParaRPr sz="950"/>
          </a:p>
        </p:txBody>
      </p:sp>
      <p:sp>
        <p:nvSpPr>
          <p:cNvPr id="19" name="TextBox 18"/>
          <p:cNvSpPr txBox="1"/>
          <p:nvPr/>
        </p:nvSpPr>
        <p:spPr>
          <a:xfrm>
            <a:off x="5157216" y="2487168"/>
            <a:ext cx="2020824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0" i="0">
                <a:solidFill>
                  <a:srgbClr val="1F1F1F"/>
                </a:solidFill>
                <a:latin typeface="Arial"/>
              </a:rPr>
              <a:t>70% join online</a:t>
            </a:r>
            <a:endParaRPr sz="90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0" i="0">
                <a:solidFill>
                  <a:srgbClr val="1F1F1F"/>
                </a:solidFill>
                <a:latin typeface="Arial"/>
              </a:rPr>
              <a:t>Falling acquisition cost</a:t>
            </a:r>
            <a:endParaRPr sz="900"/>
          </a:p>
        </p:txBody>
      </p:sp>
      <p:sp>
        <p:nvSpPr>
          <p:cNvPr id="20" name="Chevron 19"/>
          <p:cNvSpPr/>
          <p:nvPr/>
        </p:nvSpPr>
        <p:spPr>
          <a:xfrm>
            <a:off x="7040880" y="1371600"/>
            <a:ext cx="2523744" cy="777240"/>
          </a:xfrm>
          <a:prstGeom prst="chevron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Service delivery</a:t>
            </a:r>
            <a:endParaRPr sz="1050"/>
          </a:p>
        </p:txBody>
      </p:sp>
      <p:sp>
        <p:nvSpPr>
          <p:cNvPr id="21" name="TextBox 20"/>
          <p:cNvSpPr txBox="1"/>
          <p:nvPr/>
        </p:nvSpPr>
        <p:spPr>
          <a:xfrm>
            <a:off x="7360920" y="2240280"/>
            <a:ext cx="2020824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Staff and app</a:t>
            </a:r>
            <a:endParaRPr sz="950"/>
          </a:p>
        </p:txBody>
      </p:sp>
      <p:sp>
        <p:nvSpPr>
          <p:cNvPr id="22" name="TextBox 21"/>
          <p:cNvSpPr txBox="1"/>
          <p:nvPr/>
        </p:nvSpPr>
        <p:spPr>
          <a:xfrm>
            <a:off x="7360920" y="2487168"/>
            <a:ext cx="2020824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0" i="0">
                <a:solidFill>
                  <a:srgbClr val="1F1F1F"/>
                </a:solidFill>
                <a:latin typeface="Arial"/>
              </a:rPr>
              <a:t>3,730 FTEs</a:t>
            </a:r>
            <a:endParaRPr sz="90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0" i="0">
                <a:solidFill>
                  <a:srgbClr val="1F1F1F"/>
                </a:solidFill>
                <a:latin typeface="Arial"/>
              </a:rPr>
              <a:t>App included in all tiers</a:t>
            </a:r>
            <a:endParaRPr sz="900"/>
          </a:p>
        </p:txBody>
      </p:sp>
      <p:sp>
        <p:nvSpPr>
          <p:cNvPr id="23" name="Chevron 22"/>
          <p:cNvSpPr/>
          <p:nvPr/>
        </p:nvSpPr>
        <p:spPr>
          <a:xfrm>
            <a:off x="9244584" y="1371600"/>
            <a:ext cx="2523744" cy="777240"/>
          </a:xfrm>
          <a:prstGeom prst="chevron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Retention &amp; upsell</a:t>
            </a:r>
            <a:endParaRPr sz="1050"/>
          </a:p>
        </p:txBody>
      </p:sp>
      <p:sp>
        <p:nvSpPr>
          <p:cNvPr id="24" name="TextBox 23"/>
          <p:cNvSpPr txBox="1"/>
          <p:nvPr/>
        </p:nvSpPr>
        <p:spPr>
          <a:xfrm>
            <a:off x="9564624" y="2240280"/>
            <a:ext cx="2020824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Add-ons and loyalty</a:t>
            </a:r>
            <a:endParaRPr sz="950"/>
          </a:p>
        </p:txBody>
      </p:sp>
      <p:sp>
        <p:nvSpPr>
          <p:cNvPr id="25" name="TextBox 24"/>
          <p:cNvSpPr txBox="1"/>
          <p:nvPr/>
        </p:nvSpPr>
        <p:spPr>
          <a:xfrm>
            <a:off x="9564624" y="2487168"/>
            <a:ext cx="2020824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0" i="0">
                <a:solidFill>
                  <a:srgbClr val="1F1F1F"/>
                </a:solidFill>
                <a:latin typeface="Arial"/>
              </a:rPr>
              <a:t>~90% recurring revenue</a:t>
            </a:r>
            <a:endParaRPr sz="900"/>
          </a:p>
          <a:p>
            <a:pPr algn="l" marL="146304" indent="-146304">
              <a:spcAft>
                <a:spcPts val="2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00" b="0" i="0">
                <a:solidFill>
                  <a:srgbClr val="1F1F1F"/>
                </a:solidFill>
                <a:latin typeface="Arial"/>
              </a:rPr>
              <a:t>Add-ons 8% of sales</a:t>
            </a:r>
            <a:endParaRPr sz="900"/>
          </a:p>
        </p:txBody>
      </p:sp>
      <p:sp>
        <p:nvSpPr>
          <p:cNvPr id="26" name="TextBox 25"/>
          <p:cNvSpPr txBox="1"/>
          <p:nvPr/>
        </p:nvSpPr>
        <p:spPr>
          <a:xfrm>
            <a:off x="429768" y="3429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Revenue model (2025, % of revenue)</a:t>
            </a:r>
            <a:endParaRPr sz="1100"/>
          </a:p>
        </p:txBody>
      </p:sp>
      <p:cxnSp>
        <p:nvCxnSpPr>
          <p:cNvPr id="27" name="Connector 26"/>
          <p:cNvCxnSpPr/>
          <p:nvPr/>
        </p:nvCxnSpPr>
        <p:spPr>
          <a:xfrm>
            <a:off x="429768" y="3730752"/>
            <a:ext cx="544068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29768" y="3931920"/>
            <a:ext cx="1051560" cy="566928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29768" y="3931920"/>
            <a:ext cx="1051560" cy="5669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90%</a:t>
            </a:r>
            <a:endParaRPr sz="1800"/>
          </a:p>
        </p:txBody>
      </p:sp>
      <p:sp>
        <p:nvSpPr>
          <p:cNvPr id="30" name="TextBox 29"/>
          <p:cNvSpPr txBox="1"/>
          <p:nvPr/>
        </p:nvSpPr>
        <p:spPr>
          <a:xfrm>
            <a:off x="1600200" y="3950207"/>
            <a:ext cx="4297680" cy="5486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1050" b="1" i="0">
                <a:solidFill>
                  <a:srgbClr val="003255"/>
                </a:solidFill>
                <a:latin typeface="Arial"/>
              </a:rPr>
              <a:t>Subscriptions</a:t>
            </a:r>
            <a:endParaRPr sz="1050"/>
          </a:p>
          <a:p>
            <a:pPr algn="l">
              <a:buNone/>
            </a:pPr>
            <a:r>
              <a:rPr sz="900" b="0" i="0">
                <a:solidFill>
                  <a:srgbClr val="1F1F1F"/>
                </a:solidFill>
                <a:latin typeface="Arial"/>
              </a:rPr>
              <a:t>Monthly fees, three tiers, 12-month average tenure 4.2 years</a:t>
            </a:r>
            <a:endParaRPr sz="900"/>
          </a:p>
        </p:txBody>
      </p:sp>
      <p:sp>
        <p:nvSpPr>
          <p:cNvPr id="31" name="Rectangle 30"/>
          <p:cNvSpPr/>
          <p:nvPr/>
        </p:nvSpPr>
        <p:spPr>
          <a:xfrm>
            <a:off x="429768" y="4645152"/>
            <a:ext cx="1051560" cy="566928"/>
          </a:xfrm>
          <a:prstGeom prst="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29768" y="4645152"/>
            <a:ext cx="1051560" cy="5669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8%</a:t>
            </a:r>
            <a:endParaRPr sz="1800"/>
          </a:p>
        </p:txBody>
      </p:sp>
      <p:sp>
        <p:nvSpPr>
          <p:cNvPr id="33" name="TextBox 32"/>
          <p:cNvSpPr txBox="1"/>
          <p:nvPr/>
        </p:nvSpPr>
        <p:spPr>
          <a:xfrm>
            <a:off x="1600200" y="4663440"/>
            <a:ext cx="4297680" cy="5486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1050" b="1" i="0">
                <a:solidFill>
                  <a:srgbClr val="003255"/>
                </a:solidFill>
                <a:latin typeface="Arial"/>
              </a:rPr>
              <a:t>Add-on services</a:t>
            </a:r>
            <a:endParaRPr sz="1050"/>
          </a:p>
          <a:p>
            <a:pPr algn="l">
              <a:buNone/>
            </a:pPr>
            <a:r>
              <a:rPr sz="900" b="0" i="0">
                <a:solidFill>
                  <a:srgbClr val="1F1F1F"/>
                </a:solidFill>
                <a:latin typeface="Arial"/>
              </a:rPr>
              <a:t>Personal services, products and corporate agreements</a:t>
            </a:r>
            <a:endParaRPr sz="900"/>
          </a:p>
        </p:txBody>
      </p:sp>
      <p:sp>
        <p:nvSpPr>
          <p:cNvPr id="34" name="Rectangle 33"/>
          <p:cNvSpPr/>
          <p:nvPr/>
        </p:nvSpPr>
        <p:spPr>
          <a:xfrm>
            <a:off x="429768" y="5358383"/>
            <a:ext cx="1051560" cy="566928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29768" y="5358383"/>
            <a:ext cx="1051560" cy="5669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2%</a:t>
            </a:r>
            <a:endParaRPr sz="1800"/>
          </a:p>
        </p:txBody>
      </p:sp>
      <p:sp>
        <p:nvSpPr>
          <p:cNvPr id="36" name="TextBox 35"/>
          <p:cNvSpPr txBox="1"/>
          <p:nvPr/>
        </p:nvSpPr>
        <p:spPr>
          <a:xfrm>
            <a:off x="1600200" y="5376671"/>
            <a:ext cx="4297680" cy="5486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1050" b="1" i="0">
                <a:solidFill>
                  <a:srgbClr val="003255"/>
                </a:solidFill>
                <a:latin typeface="Arial"/>
              </a:rPr>
              <a:t>Other</a:t>
            </a:r>
            <a:endParaRPr sz="1050"/>
          </a:p>
          <a:p>
            <a:pPr algn="l">
              <a:buNone/>
            </a:pPr>
            <a:r>
              <a:rPr sz="900" b="0" i="0">
                <a:solidFill>
                  <a:srgbClr val="1F1F1F"/>
                </a:solidFill>
                <a:latin typeface="Arial"/>
              </a:rPr>
              <a:t>Franchise fees and sub-letting</a:t>
            </a:r>
            <a:endParaRPr sz="900"/>
          </a:p>
        </p:txBody>
      </p:sp>
      <p:sp>
        <p:nvSpPr>
          <p:cNvPr id="37" name="TextBox 36"/>
          <p:cNvSpPr txBox="1"/>
          <p:nvPr/>
        </p:nvSpPr>
        <p:spPr>
          <a:xfrm>
            <a:off x="6281928" y="3429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Unit economics per location (NOKm, 2025)</a:t>
            </a:r>
            <a:endParaRPr sz="1100"/>
          </a:p>
        </p:txBody>
      </p:sp>
      <p:cxnSp>
        <p:nvCxnSpPr>
          <p:cNvPr id="38" name="Connector 37"/>
          <p:cNvCxnSpPr/>
          <p:nvPr/>
        </p:nvCxnSpPr>
        <p:spPr>
          <a:xfrm>
            <a:off x="6281928" y="3730752"/>
            <a:ext cx="544068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6281928" y="3931920"/>
            <a:ext cx="1268730" cy="960120"/>
          </a:xfrm>
          <a:prstGeom prst="rect">
            <a:avLst/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81928" y="3977639"/>
            <a:ext cx="1268730" cy="5486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2200" b="1" i="0">
                <a:solidFill>
                  <a:srgbClr val="003255"/>
                </a:solidFill>
                <a:latin typeface="Arial"/>
              </a:rPr>
              <a:t>25.0</a:t>
            </a:r>
            <a:endParaRPr sz="2200"/>
          </a:p>
        </p:txBody>
      </p:sp>
      <p:sp>
        <p:nvSpPr>
          <p:cNvPr id="41" name="TextBox 40"/>
          <p:cNvSpPr txBox="1"/>
          <p:nvPr/>
        </p:nvSpPr>
        <p:spPr>
          <a:xfrm>
            <a:off x="6281928" y="4526280"/>
            <a:ext cx="126873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Revenue</a:t>
            </a:r>
            <a:endParaRPr sz="950"/>
          </a:p>
        </p:txBody>
      </p:sp>
      <p:sp>
        <p:nvSpPr>
          <p:cNvPr id="42" name="Rectangle 41"/>
          <p:cNvSpPr/>
          <p:nvPr/>
        </p:nvSpPr>
        <p:spPr>
          <a:xfrm>
            <a:off x="7687818" y="3931920"/>
            <a:ext cx="1268730" cy="960120"/>
          </a:xfrm>
          <a:prstGeom prst="rect">
            <a:avLst/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687818" y="3977639"/>
            <a:ext cx="1268730" cy="5486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2200" b="1" i="0">
                <a:solidFill>
                  <a:srgbClr val="003255"/>
                </a:solidFill>
                <a:latin typeface="Arial"/>
              </a:rPr>
              <a:t>5.5</a:t>
            </a:r>
            <a:endParaRPr sz="2200"/>
          </a:p>
        </p:txBody>
      </p:sp>
      <p:sp>
        <p:nvSpPr>
          <p:cNvPr id="44" name="TextBox 43"/>
          <p:cNvSpPr txBox="1"/>
          <p:nvPr/>
        </p:nvSpPr>
        <p:spPr>
          <a:xfrm>
            <a:off x="7687818" y="4526280"/>
            <a:ext cx="126873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EBITDAaL</a:t>
            </a:r>
            <a:endParaRPr sz="950"/>
          </a:p>
        </p:txBody>
      </p:sp>
      <p:sp>
        <p:nvSpPr>
          <p:cNvPr id="45" name="Rectangle 44"/>
          <p:cNvSpPr/>
          <p:nvPr/>
        </p:nvSpPr>
        <p:spPr>
          <a:xfrm>
            <a:off x="9093708" y="3931920"/>
            <a:ext cx="1268730" cy="960120"/>
          </a:xfrm>
          <a:prstGeom prst="rect">
            <a:avLst/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093708" y="3977639"/>
            <a:ext cx="1268730" cy="5486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2200" b="1" i="0">
                <a:solidFill>
                  <a:srgbClr val="003255"/>
                </a:solidFill>
                <a:latin typeface="Arial"/>
              </a:rPr>
              <a:t>22%</a:t>
            </a:r>
            <a:endParaRPr sz="2200"/>
          </a:p>
        </p:txBody>
      </p:sp>
      <p:sp>
        <p:nvSpPr>
          <p:cNvPr id="47" name="TextBox 46"/>
          <p:cNvSpPr txBox="1"/>
          <p:nvPr/>
        </p:nvSpPr>
        <p:spPr>
          <a:xfrm>
            <a:off x="9093708" y="4526280"/>
            <a:ext cx="126873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Margin</a:t>
            </a:r>
            <a:endParaRPr sz="950"/>
          </a:p>
        </p:txBody>
      </p:sp>
      <p:sp>
        <p:nvSpPr>
          <p:cNvPr id="48" name="Rectangle 47"/>
          <p:cNvSpPr/>
          <p:nvPr/>
        </p:nvSpPr>
        <p:spPr>
          <a:xfrm>
            <a:off x="10499598" y="3931920"/>
            <a:ext cx="1268730" cy="960120"/>
          </a:xfrm>
          <a:prstGeom prst="rect">
            <a:avLst/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0499598" y="3977639"/>
            <a:ext cx="1268730" cy="5486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2200" b="1" i="0">
                <a:solidFill>
                  <a:srgbClr val="003255"/>
                </a:solidFill>
                <a:latin typeface="Arial"/>
              </a:rPr>
              <a:t>1.3</a:t>
            </a:r>
            <a:endParaRPr sz="2200"/>
          </a:p>
        </p:txBody>
      </p:sp>
      <p:sp>
        <p:nvSpPr>
          <p:cNvPr id="50" name="TextBox 49"/>
          <p:cNvSpPr txBox="1"/>
          <p:nvPr/>
        </p:nvSpPr>
        <p:spPr>
          <a:xfrm>
            <a:off x="10499598" y="4526280"/>
            <a:ext cx="126873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Capex</a:t>
            </a:r>
            <a:endParaRPr sz="950"/>
          </a:p>
        </p:txBody>
      </p:sp>
      <p:sp>
        <p:nvSpPr>
          <p:cNvPr id="51" name="TextBox 50"/>
          <p:cNvSpPr txBox="1"/>
          <p:nvPr/>
        </p:nvSpPr>
        <p:spPr>
          <a:xfrm>
            <a:off x="6281928" y="5074920"/>
            <a:ext cx="5486400" cy="100584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New locations ramp up: 35% / 75% / 95% of mature volume in years 1-3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Capex of NOK 22m per new location vs. revenue of NOK 26m per location (2026E)</a:t>
            </a:r>
            <a:endParaRPr sz="950"/>
          </a:p>
          <a:p>
            <a:pPr algn="l" marL="146304" indent="-146304">
              <a:spcAft>
                <a:spcPts val="3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950" b="0" i="0">
                <a:solidFill>
                  <a:srgbClr val="1F1F1F"/>
                </a:solidFill>
                <a:latin typeface="Arial"/>
              </a:rPr>
              <a:t>Scale benefits: purchasing, marketing and the digital platform</a:t>
            </a:r>
            <a:endParaRPr sz="95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Framework library #5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Market sizing – TAM, SAM and SOM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A bottom-up view of the opportunity: the serviceable market is NOK 37bn and the company holds 15% of it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Frameworks are built from ordinary PowerPoint shapes and text boxes – click and type to edit. Content is illustrative for the fictional Example Company ASA.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18</a:t>
            </a:r>
            <a:endParaRPr sz="900"/>
          </a:p>
        </p:txBody>
      </p:sp>
      <p:sp>
        <p:nvSpPr>
          <p:cNvPr id="11" name="Manual Operation 10"/>
          <p:cNvSpPr/>
          <p:nvPr/>
        </p:nvSpPr>
        <p:spPr>
          <a:xfrm>
            <a:off x="429768" y="1417320"/>
            <a:ext cx="5669280" cy="896112"/>
          </a:xfrm>
          <a:prstGeom prst="flowChartManualOperation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TAM  ·  NOK 95bn</a:t>
            </a:r>
            <a:endParaRPr sz="1500"/>
          </a:p>
        </p:txBody>
      </p:sp>
      <p:sp>
        <p:nvSpPr>
          <p:cNvPr id="12" name="Manual Operation 11"/>
          <p:cNvSpPr/>
          <p:nvPr/>
        </p:nvSpPr>
        <p:spPr>
          <a:xfrm>
            <a:off x="1161288" y="2441448"/>
            <a:ext cx="4206240" cy="896112"/>
          </a:xfrm>
          <a:prstGeom prst="flowChartManualOperation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SAM  ·  NOK 37bn</a:t>
            </a:r>
            <a:endParaRPr sz="1500"/>
          </a:p>
        </p:txBody>
      </p:sp>
      <p:sp>
        <p:nvSpPr>
          <p:cNvPr id="13" name="Manual Operation 12"/>
          <p:cNvSpPr/>
          <p:nvPr/>
        </p:nvSpPr>
        <p:spPr>
          <a:xfrm>
            <a:off x="1892808" y="3465576"/>
            <a:ext cx="2743200" cy="896112"/>
          </a:xfrm>
          <a:prstGeom prst="flowChartManualOperation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SOM  ·  NOK 8bn</a:t>
            </a:r>
            <a:endParaRPr sz="1500"/>
          </a:p>
        </p:txBody>
      </p:sp>
      <p:sp>
        <p:nvSpPr>
          <p:cNvPr id="14" name="TextBox 13"/>
          <p:cNvSpPr txBox="1"/>
          <p:nvPr/>
        </p:nvSpPr>
        <p:spPr>
          <a:xfrm>
            <a:off x="6355080" y="1490472"/>
            <a:ext cx="5394960" cy="7772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spcAft>
                <a:spcPts val="200"/>
              </a:spcAft>
              <a:buNone/>
            </a:pPr>
            <a:r>
              <a:rPr sz="1150" b="1" i="0">
                <a:solidFill>
                  <a:srgbClr val="003255"/>
                </a:solidFill>
                <a:latin typeface="Arial"/>
              </a:rPr>
              <a:t>Total addressable market</a:t>
            </a:r>
            <a:endParaRPr sz="1150"/>
          </a:p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All spending on the category in the Nordics, incl. adjacent services</a:t>
            </a:r>
            <a:endParaRPr sz="1000"/>
          </a:p>
        </p:txBody>
      </p:sp>
      <p:cxnSp>
        <p:nvCxnSpPr>
          <p:cNvPr id="15" name="Connector 14"/>
          <p:cNvCxnSpPr/>
          <p:nvPr/>
        </p:nvCxnSpPr>
        <p:spPr>
          <a:xfrm>
            <a:off x="5961888" y="1865376"/>
            <a:ext cx="301752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55080" y="2514600"/>
            <a:ext cx="5394960" cy="7772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spcAft>
                <a:spcPts val="200"/>
              </a:spcAft>
              <a:buNone/>
            </a:pPr>
            <a:r>
              <a:rPr sz="1150" b="1" i="0">
                <a:solidFill>
                  <a:srgbClr val="003255"/>
                </a:solidFill>
                <a:latin typeface="Arial"/>
              </a:rPr>
              <a:t>Serviceable available market</a:t>
            </a:r>
            <a:endParaRPr sz="1150"/>
          </a:p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Subscription-based services in cities where the concept works</a:t>
            </a:r>
            <a:endParaRPr sz="1000"/>
          </a:p>
        </p:txBody>
      </p:sp>
      <p:cxnSp>
        <p:nvCxnSpPr>
          <p:cNvPr id="17" name="Connector 16"/>
          <p:cNvCxnSpPr/>
          <p:nvPr/>
        </p:nvCxnSpPr>
        <p:spPr>
          <a:xfrm>
            <a:off x="5230368" y="2889504"/>
            <a:ext cx="1033272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55080" y="3538728"/>
            <a:ext cx="5394960" cy="77724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spcAft>
                <a:spcPts val="200"/>
              </a:spcAft>
              <a:buNone/>
            </a:pPr>
            <a:r>
              <a:rPr sz="1150" b="1" i="0">
                <a:solidFill>
                  <a:srgbClr val="003255"/>
                </a:solidFill>
                <a:latin typeface="Arial"/>
              </a:rPr>
              <a:t>Serviceable obtainable market</a:t>
            </a:r>
            <a:endParaRPr sz="1150"/>
          </a:p>
          <a:p>
            <a:pPr algn="l">
              <a:buNone/>
            </a:pPr>
            <a:r>
              <a:rPr sz="1000" b="0" i="0">
                <a:solidFill>
                  <a:srgbClr val="1F1F1F"/>
                </a:solidFill>
                <a:latin typeface="Arial"/>
              </a:rPr>
              <a:t>Realistic share within 5 years: 20% of SAM (15% today)</a:t>
            </a:r>
            <a:endParaRPr sz="1000"/>
          </a:p>
        </p:txBody>
      </p:sp>
      <p:cxnSp>
        <p:nvCxnSpPr>
          <p:cNvPr id="19" name="Connector 18"/>
          <p:cNvCxnSpPr/>
          <p:nvPr/>
        </p:nvCxnSpPr>
        <p:spPr>
          <a:xfrm>
            <a:off x="4498848" y="3913632"/>
            <a:ext cx="1764792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9768" y="461772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Bottom-up build of the serviceable market (illustrative)</a:t>
            </a:r>
            <a:endParaRPr sz="1100"/>
          </a:p>
        </p:txBody>
      </p:sp>
      <p:cxnSp>
        <p:nvCxnSpPr>
          <p:cNvPr id="21" name="Connector 20"/>
          <p:cNvCxnSpPr/>
          <p:nvPr/>
        </p:nvCxnSpPr>
        <p:spPr>
          <a:xfrm>
            <a:off x="429768" y="4919472"/>
            <a:ext cx="1129284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29768" y="5029200"/>
          <a:ext cx="11338560" cy="1307592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828800"/>
                <a:gridCol w="1554480"/>
                <a:gridCol w="1280160"/>
                <a:gridCol w="1280160"/>
                <a:gridCol w="1463040"/>
                <a:gridCol w="2194560"/>
                <a:gridCol w="173736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Country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Adult population (m)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Urban share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Penetration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Customers (m)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Revenue per customer (NOK)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Arial"/>
                        </a:rPr>
                        <a:t>Market (NOKbn)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Norway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4.4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83%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22%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0.80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17,000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Sweden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8.3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21%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1.53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8,600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13.2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Denmark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88%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19%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0.79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7,400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5.8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10312">
                <a:tc>
                  <a:txBody>
                    <a:bodyPr wrap="square"/>
                    <a:lstStyle/>
                    <a:p>
                      <a:pPr algn="l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Finland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4.5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86%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17%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0.66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6,100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 i="0">
                          <a:solidFill>
                            <a:srgbClr val="1F1F1F"/>
                          </a:solidFill>
                          <a:latin typeface="Arial"/>
                        </a:rPr>
                        <a:t>4.0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22860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Nordics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3.78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1F1F1F"/>
                          </a:solidFill>
                          <a:latin typeface="Arial"/>
                        </a:rPr>
                        <a:t>36.7</a:t>
                      </a:r>
                      <a:endParaRPr sz="85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solidFill>
                        <a:srgbClr val="003255"/>
                      </a:solidFill>
                      <a:prstDash val="solid"/>
                    </a:lnT>
                    <a:lnB w="9525" cap="flat" cmpd="sng" algn="ctr">
                      <a:noFill/>
                    </a:lnB>
                    <a:solidFill>
                      <a:srgbClr val="E4EE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Framework library #6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Investment thesis in three pillars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BUY – target price NOK 146 (+20%): quality compounder, underestimated margins and a valuation gap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Frameworks are built from ordinary PowerPoint shapes and text boxes – click and type to edit. Content is illustrative for the fictional Example Company ASA.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19</a:t>
            </a:r>
            <a:endParaRPr sz="900"/>
          </a:p>
        </p:txBody>
      </p:sp>
      <p:sp>
        <p:nvSpPr>
          <p:cNvPr id="11" name="Rectangle 10"/>
          <p:cNvSpPr/>
          <p:nvPr/>
        </p:nvSpPr>
        <p:spPr>
          <a:xfrm>
            <a:off x="429768" y="1325880"/>
            <a:ext cx="3657600" cy="86868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566928" y="149047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03255"/>
                </a:solidFill>
                <a:latin typeface="Arial"/>
              </a:rPr>
              <a:t>1</a:t>
            </a:r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1252728" y="1325880"/>
            <a:ext cx="2743200" cy="8686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Growth engine intact</a:t>
            </a:r>
            <a:endParaRPr sz="1300"/>
          </a:p>
        </p:txBody>
      </p:sp>
      <p:sp>
        <p:nvSpPr>
          <p:cNvPr id="14" name="Rectangle 13"/>
          <p:cNvSpPr/>
          <p:nvPr/>
        </p:nvSpPr>
        <p:spPr>
          <a:xfrm>
            <a:off x="429768" y="2194560"/>
            <a:ext cx="3657600" cy="26974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6928" y="2267712"/>
            <a:ext cx="3383280" cy="5669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3000" b="1" i="0">
                <a:solidFill>
                  <a:srgbClr val="003255"/>
                </a:solidFill>
                <a:latin typeface="Arial"/>
              </a:rPr>
              <a:t>6.0%</a:t>
            </a:r>
            <a:endParaRPr sz="3000"/>
          </a:p>
        </p:txBody>
      </p:sp>
      <p:sp>
        <p:nvSpPr>
          <p:cNvPr id="16" name="TextBox 15"/>
          <p:cNvSpPr txBox="1"/>
          <p:nvPr/>
        </p:nvSpPr>
        <p:spPr>
          <a:xfrm>
            <a:off x="566928" y="2816352"/>
            <a:ext cx="33832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6B7480"/>
                </a:solidFill>
                <a:latin typeface="Arial"/>
              </a:rPr>
              <a:t>revenue CAGR 2025–30E</a:t>
            </a:r>
            <a:endParaRPr sz="1000"/>
          </a:p>
        </p:txBody>
      </p:sp>
      <p:sp>
        <p:nvSpPr>
          <p:cNvPr id="17" name="TextBox 16"/>
          <p:cNvSpPr txBox="1"/>
          <p:nvPr/>
        </p:nvSpPr>
        <p:spPr>
          <a:xfrm>
            <a:off x="566928" y="3154680"/>
            <a:ext cx="3383280" cy="12801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7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F1F1F"/>
                </a:solidFill>
                <a:latin typeface="Arial"/>
              </a:rPr>
              <a:t>32 new locations over 2026–30E</a:t>
            </a:r>
            <a:endParaRPr sz="1100"/>
          </a:p>
          <a:p>
            <a:pPr algn="l" marL="146304" indent="-146304">
              <a:spcAft>
                <a:spcPts val="7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F1F1F"/>
                </a:solidFill>
                <a:latin typeface="Arial"/>
              </a:rPr>
              <a:t>Like-for-like and price/mix on top</a:t>
            </a:r>
            <a:endParaRPr sz="1100"/>
          </a:p>
          <a:p>
            <a:pPr algn="l" marL="146304" indent="-146304">
              <a:spcAft>
                <a:spcPts val="7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F1F1F"/>
                </a:solidFill>
                <a:latin typeface="Arial"/>
              </a:rPr>
              <a:t>Bolt-on M&amp;A is pure upside</a:t>
            </a:r>
            <a:endParaRPr sz="1100"/>
          </a:p>
        </p:txBody>
      </p:sp>
      <p:sp>
        <p:nvSpPr>
          <p:cNvPr id="18" name="Rectangle 17"/>
          <p:cNvSpPr/>
          <p:nvPr/>
        </p:nvSpPr>
        <p:spPr>
          <a:xfrm>
            <a:off x="429768" y="4462272"/>
            <a:ext cx="3657600" cy="429768"/>
          </a:xfrm>
          <a:prstGeom prst="rect">
            <a:avLst/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6928" y="4462272"/>
            <a:ext cx="3383280" cy="42976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00" b="0" i="1">
                <a:solidFill>
                  <a:srgbClr val="003255"/>
                </a:solidFill>
                <a:latin typeface="Arial"/>
              </a:rPr>
              <a:t>Proof point: outgrew the market every year since 2022</a:t>
            </a:r>
            <a:endParaRPr sz="900"/>
          </a:p>
        </p:txBody>
      </p:sp>
      <p:sp>
        <p:nvSpPr>
          <p:cNvPr id="20" name="Rectangle 19"/>
          <p:cNvSpPr/>
          <p:nvPr/>
        </p:nvSpPr>
        <p:spPr>
          <a:xfrm>
            <a:off x="4270248" y="1325880"/>
            <a:ext cx="3657600" cy="86868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4407408" y="149047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03255"/>
                </a:solidFill>
                <a:latin typeface="Arial"/>
              </a:rPr>
              <a:t>2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5093208" y="1325880"/>
            <a:ext cx="2743200" cy="8686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Margins are underestimated</a:t>
            </a:r>
            <a:endParaRPr sz="1300"/>
          </a:p>
        </p:txBody>
      </p:sp>
      <p:sp>
        <p:nvSpPr>
          <p:cNvPr id="23" name="Rectangle 22"/>
          <p:cNvSpPr/>
          <p:nvPr/>
        </p:nvSpPr>
        <p:spPr>
          <a:xfrm>
            <a:off x="4270248" y="2194560"/>
            <a:ext cx="3657600" cy="26974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407408" y="2267712"/>
            <a:ext cx="3383280" cy="5669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3000" b="1" i="0">
                <a:solidFill>
                  <a:srgbClr val="003255"/>
                </a:solidFill>
                <a:latin typeface="Arial"/>
              </a:rPr>
              <a:t>18.6%</a:t>
            </a:r>
            <a:endParaRPr sz="3000"/>
          </a:p>
        </p:txBody>
      </p:sp>
      <p:sp>
        <p:nvSpPr>
          <p:cNvPr id="25" name="TextBox 24"/>
          <p:cNvSpPr txBox="1"/>
          <p:nvPr/>
        </p:nvSpPr>
        <p:spPr>
          <a:xfrm>
            <a:off x="4407408" y="2816352"/>
            <a:ext cx="33832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6B7480"/>
                </a:solidFill>
                <a:latin typeface="Arial"/>
              </a:rPr>
              <a:t>EBIT adj. margin 2030E</a:t>
            </a:r>
            <a:endParaRPr sz="1000"/>
          </a:p>
        </p:txBody>
      </p:sp>
      <p:sp>
        <p:nvSpPr>
          <p:cNvPr id="26" name="TextBox 25"/>
          <p:cNvSpPr txBox="1"/>
          <p:nvPr/>
        </p:nvSpPr>
        <p:spPr>
          <a:xfrm>
            <a:off x="4407408" y="3154680"/>
            <a:ext cx="3383280" cy="12801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7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F1F1F"/>
                </a:solidFill>
                <a:latin typeface="Arial"/>
              </a:rPr>
              <a:t>Fixed costs and rent grow with locations, not sales</a:t>
            </a:r>
            <a:endParaRPr sz="1100"/>
          </a:p>
          <a:p>
            <a:pPr algn="l" marL="146304" indent="-146304">
              <a:spcAft>
                <a:spcPts val="7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F1F1F"/>
                </a:solidFill>
                <a:latin typeface="Arial"/>
              </a:rPr>
              <a:t>The price implies 17.1% in 2033E</a:t>
            </a:r>
            <a:endParaRPr sz="1100"/>
          </a:p>
          <a:p>
            <a:pPr algn="l" marL="146304" indent="-146304">
              <a:spcAft>
                <a:spcPts val="7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F1F1F"/>
                </a:solidFill>
                <a:latin typeface="Arial"/>
              </a:rPr>
              <a:t>We are +3% / +6% vs. consensus EBIT 2027-28E</a:t>
            </a:r>
            <a:endParaRPr sz="1100"/>
          </a:p>
        </p:txBody>
      </p:sp>
      <p:sp>
        <p:nvSpPr>
          <p:cNvPr id="27" name="Rectangle 26"/>
          <p:cNvSpPr/>
          <p:nvPr/>
        </p:nvSpPr>
        <p:spPr>
          <a:xfrm>
            <a:off x="4270248" y="4462272"/>
            <a:ext cx="3657600" cy="429768"/>
          </a:xfrm>
          <a:prstGeom prst="rect">
            <a:avLst/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407408" y="4462272"/>
            <a:ext cx="3383280" cy="42976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00" b="0" i="1">
                <a:solidFill>
                  <a:srgbClr val="003255"/>
                </a:solidFill>
                <a:latin typeface="Arial"/>
              </a:rPr>
              <a:t>Proof point: margin up 5pp 2021–25</a:t>
            </a:r>
            <a:endParaRPr sz="900"/>
          </a:p>
        </p:txBody>
      </p:sp>
      <p:sp>
        <p:nvSpPr>
          <p:cNvPr id="29" name="Rectangle 28"/>
          <p:cNvSpPr/>
          <p:nvPr/>
        </p:nvSpPr>
        <p:spPr>
          <a:xfrm>
            <a:off x="8110727" y="1325880"/>
            <a:ext cx="3657600" cy="86868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247888" y="1490472"/>
            <a:ext cx="530352" cy="53035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03255"/>
                </a:solidFill>
                <a:latin typeface="Arial"/>
              </a:rPr>
              <a:t>3</a:t>
            </a:r>
            <a:endParaRPr sz="1600"/>
          </a:p>
        </p:txBody>
      </p:sp>
      <p:sp>
        <p:nvSpPr>
          <p:cNvPr id="31" name="TextBox 30"/>
          <p:cNvSpPr txBox="1"/>
          <p:nvPr/>
        </p:nvSpPr>
        <p:spPr>
          <a:xfrm>
            <a:off x="8933688" y="1325880"/>
            <a:ext cx="2743200" cy="86868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Valuation gap</a:t>
            </a:r>
            <a:endParaRPr sz="1300"/>
          </a:p>
        </p:txBody>
      </p:sp>
      <p:sp>
        <p:nvSpPr>
          <p:cNvPr id="32" name="Rectangle 31"/>
          <p:cNvSpPr/>
          <p:nvPr/>
        </p:nvSpPr>
        <p:spPr>
          <a:xfrm>
            <a:off x="8110727" y="2194560"/>
            <a:ext cx="3657600" cy="26974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47888" y="2267712"/>
            <a:ext cx="3383280" cy="5669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3000" b="1" i="0">
                <a:solidFill>
                  <a:srgbClr val="003255"/>
                </a:solidFill>
                <a:latin typeface="Arial"/>
              </a:rPr>
              <a:t>11%</a:t>
            </a:r>
            <a:endParaRPr sz="3000"/>
          </a:p>
        </p:txBody>
      </p:sp>
      <p:sp>
        <p:nvSpPr>
          <p:cNvPr id="34" name="TextBox 33"/>
          <p:cNvSpPr txBox="1"/>
          <p:nvPr/>
        </p:nvSpPr>
        <p:spPr>
          <a:xfrm>
            <a:off x="8247888" y="2816352"/>
            <a:ext cx="3383280" cy="23774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0" i="0">
                <a:solidFill>
                  <a:srgbClr val="6B7480"/>
                </a:solidFill>
                <a:latin typeface="Arial"/>
              </a:rPr>
              <a:t>EV/EBIT discount to peers</a:t>
            </a:r>
            <a:endParaRPr sz="1000"/>
          </a:p>
        </p:txBody>
      </p:sp>
      <p:sp>
        <p:nvSpPr>
          <p:cNvPr id="35" name="TextBox 34"/>
          <p:cNvSpPr txBox="1"/>
          <p:nvPr/>
        </p:nvSpPr>
        <p:spPr>
          <a:xfrm>
            <a:off x="8247888" y="3154680"/>
            <a:ext cx="3383280" cy="128016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 marL="146304" indent="-146304">
              <a:spcAft>
                <a:spcPts val="7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F1F1F"/>
                </a:solidFill>
                <a:latin typeface="Arial"/>
              </a:rPr>
              <a:t>Higher margins and ROIC than peers</a:t>
            </a:r>
            <a:endParaRPr sz="1100"/>
          </a:p>
          <a:p>
            <a:pPr algn="l" marL="146304" indent="-146304">
              <a:spcAft>
                <a:spcPts val="7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F1F1F"/>
                </a:solidFill>
                <a:latin typeface="Arial"/>
              </a:rPr>
              <a:t>DCF NOK 139, peers NOK 136</a:t>
            </a:r>
            <a:endParaRPr sz="1100"/>
          </a:p>
          <a:p>
            <a:pPr algn="l" marL="146304" indent="-146304">
              <a:spcAft>
                <a:spcPts val="700"/>
              </a:spcAft>
              <a:buClr>
                <a:srgbClr val="003255"/>
              </a:buClr>
              <a:buSzPct val="100000"/>
              <a:buFont typeface="Arial"/>
              <a:buChar char="▪"/>
            </a:pPr>
            <a:r>
              <a:rPr sz="1100" b="0" i="0">
                <a:solidFill>
                  <a:srgbClr val="1F1F1F"/>
                </a:solidFill>
                <a:latin typeface="Arial"/>
              </a:rPr>
              <a:t>Dividend yield 6.5% in 2028E</a:t>
            </a:r>
            <a:endParaRPr sz="1100"/>
          </a:p>
        </p:txBody>
      </p:sp>
      <p:sp>
        <p:nvSpPr>
          <p:cNvPr id="36" name="Rectangle 35"/>
          <p:cNvSpPr/>
          <p:nvPr/>
        </p:nvSpPr>
        <p:spPr>
          <a:xfrm>
            <a:off x="8110727" y="4462272"/>
            <a:ext cx="3657600" cy="429768"/>
          </a:xfrm>
          <a:prstGeom prst="rect">
            <a:avLst/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47888" y="4462272"/>
            <a:ext cx="3383280" cy="42976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00" b="0" i="1">
                <a:solidFill>
                  <a:srgbClr val="003255"/>
                </a:solidFill>
                <a:latin typeface="Arial"/>
              </a:rPr>
              <a:t>Proof point: both methods point 11-14% higher</a:t>
            </a:r>
            <a:endParaRPr sz="900"/>
          </a:p>
        </p:txBody>
      </p:sp>
      <p:sp>
        <p:nvSpPr>
          <p:cNvPr id="38" name="TextBox 37"/>
          <p:cNvSpPr txBox="1"/>
          <p:nvPr/>
        </p:nvSpPr>
        <p:spPr>
          <a:xfrm>
            <a:off x="429768" y="507492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Catalysts next 12 months</a:t>
            </a:r>
            <a:endParaRPr sz="1100"/>
          </a:p>
        </p:txBody>
      </p:sp>
      <p:cxnSp>
        <p:nvCxnSpPr>
          <p:cNvPr id="39" name="Connector 38"/>
          <p:cNvCxnSpPr/>
          <p:nvPr/>
        </p:nvCxnSpPr>
        <p:spPr>
          <a:xfrm>
            <a:off x="429768" y="5376672"/>
            <a:ext cx="1129284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29768" y="5504688"/>
            <a:ext cx="1600200" cy="237744"/>
          </a:xfrm>
          <a:prstGeom prst="round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Q3 report · Oct</a:t>
            </a:r>
            <a:endParaRPr sz="850"/>
          </a:p>
        </p:txBody>
      </p:sp>
      <p:sp>
        <p:nvSpPr>
          <p:cNvPr id="41" name="TextBox 40"/>
          <p:cNvSpPr txBox="1"/>
          <p:nvPr/>
        </p:nvSpPr>
        <p:spPr>
          <a:xfrm>
            <a:off x="429768" y="5779008"/>
            <a:ext cx="2731770" cy="4114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Price increases visible in revenue per customer</a:t>
            </a:r>
            <a:endParaRPr sz="950"/>
          </a:p>
        </p:txBody>
      </p:sp>
      <p:sp>
        <p:nvSpPr>
          <p:cNvPr id="42" name="Rounded Rectangle 41"/>
          <p:cNvSpPr/>
          <p:nvPr/>
        </p:nvSpPr>
        <p:spPr>
          <a:xfrm>
            <a:off x="3298698" y="5504688"/>
            <a:ext cx="1600200" cy="237744"/>
          </a:xfrm>
          <a:prstGeom prst="round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Capital markets day · Nov</a:t>
            </a:r>
            <a:endParaRPr sz="850"/>
          </a:p>
        </p:txBody>
      </p:sp>
      <p:sp>
        <p:nvSpPr>
          <p:cNvPr id="43" name="TextBox 42"/>
          <p:cNvSpPr txBox="1"/>
          <p:nvPr/>
        </p:nvSpPr>
        <p:spPr>
          <a:xfrm>
            <a:off x="3298698" y="5779008"/>
            <a:ext cx="2731770" cy="4114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New margin and ROIC targets</a:t>
            </a:r>
            <a:endParaRPr sz="950"/>
          </a:p>
        </p:txBody>
      </p:sp>
      <p:sp>
        <p:nvSpPr>
          <p:cNvPr id="44" name="Rounded Rectangle 43"/>
          <p:cNvSpPr/>
          <p:nvPr/>
        </p:nvSpPr>
        <p:spPr>
          <a:xfrm>
            <a:off x="6167628" y="5504688"/>
            <a:ext cx="1600200" cy="237744"/>
          </a:xfrm>
          <a:prstGeom prst="round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Q4 report · Feb</a:t>
            </a:r>
            <a:endParaRPr sz="850"/>
          </a:p>
        </p:txBody>
      </p:sp>
      <p:sp>
        <p:nvSpPr>
          <p:cNvPr id="45" name="TextBox 44"/>
          <p:cNvSpPr txBox="1"/>
          <p:nvPr/>
        </p:nvSpPr>
        <p:spPr>
          <a:xfrm>
            <a:off x="6167628" y="5779008"/>
            <a:ext cx="2731770" cy="4114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Dividend proposal and buyback mandate</a:t>
            </a:r>
            <a:endParaRPr sz="950"/>
          </a:p>
        </p:txBody>
      </p:sp>
      <p:sp>
        <p:nvSpPr>
          <p:cNvPr id="46" name="Rounded Rectangle 45"/>
          <p:cNvSpPr/>
          <p:nvPr/>
        </p:nvSpPr>
        <p:spPr>
          <a:xfrm>
            <a:off x="9036558" y="5504688"/>
            <a:ext cx="1600200" cy="237744"/>
          </a:xfrm>
          <a:prstGeom prst="round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850" b="1" i="0">
                <a:solidFill>
                  <a:srgbClr val="FFFFFF"/>
                </a:solidFill>
                <a:latin typeface="Arial"/>
              </a:rPr>
              <a:t>H1 2027</a:t>
            </a:r>
            <a:endParaRPr sz="850"/>
          </a:p>
        </p:txBody>
      </p:sp>
      <p:sp>
        <p:nvSpPr>
          <p:cNvPr id="47" name="TextBox 46"/>
          <p:cNvSpPr txBox="1"/>
          <p:nvPr/>
        </p:nvSpPr>
        <p:spPr>
          <a:xfrm>
            <a:off x="9036558" y="5779008"/>
            <a:ext cx="2731770" cy="4114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Closing of bolt-on acquisitions</a:t>
            </a:r>
            <a:endParaRPr sz="9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Framework library #7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Timeline and catalyst calendar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Where the company comes from – and the dated events that can close the valuation gap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Frameworks are built from ordinary PowerPoint shapes and text boxes – click and type to edit. Content is illustrative for the fictional Example Company ASA.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20</a:t>
            </a:r>
            <a:endParaRPr sz="900"/>
          </a:p>
        </p:txBody>
      </p:sp>
      <p:sp>
        <p:nvSpPr>
          <p:cNvPr id="11" name="TextBox 10"/>
          <p:cNvSpPr txBox="1"/>
          <p:nvPr/>
        </p:nvSpPr>
        <p:spPr>
          <a:xfrm>
            <a:off x="429768" y="1280160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Company history</a:t>
            </a:r>
            <a:endParaRPr sz="1100"/>
          </a:p>
        </p:txBody>
      </p:sp>
      <p:cxnSp>
        <p:nvCxnSpPr>
          <p:cNvPr id="12" name="Connector 11"/>
          <p:cNvCxnSpPr/>
          <p:nvPr/>
        </p:nvCxnSpPr>
        <p:spPr>
          <a:xfrm>
            <a:off x="429768" y="1581912"/>
            <a:ext cx="1129284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" y="2697480"/>
            <a:ext cx="10561320" cy="0"/>
          </a:xfrm>
          <a:prstGeom prst="line">
            <a:avLst/>
          </a:prstGeom>
          <a:ln w="31750">
            <a:solidFill>
              <a:srgbClr val="0032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13816" y="2596896"/>
            <a:ext cx="201168" cy="201168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914400" y="2313432"/>
            <a:ext cx="0" cy="283464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37160" y="1691640"/>
            <a:ext cx="1554480" cy="603504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ctr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1998</a:t>
            </a:r>
            <a:endParaRPr sz="1100"/>
          </a:p>
          <a:p>
            <a:pPr algn="ctr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Founded in Oslo</a:t>
            </a:r>
            <a:endParaRPr sz="850"/>
          </a:p>
        </p:txBody>
      </p:sp>
      <p:sp>
        <p:nvSpPr>
          <p:cNvPr id="17" name="Oval 16"/>
          <p:cNvSpPr/>
          <p:nvPr/>
        </p:nvSpPr>
        <p:spPr>
          <a:xfrm>
            <a:off x="2482596" y="2596896"/>
            <a:ext cx="201168" cy="201168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2583180" y="2798064"/>
            <a:ext cx="0" cy="283464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805940" y="3108960"/>
            <a:ext cx="1554480" cy="60350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2006</a:t>
            </a:r>
            <a:endParaRPr sz="1100"/>
          </a:p>
          <a:p>
            <a:pPr algn="ctr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Entered Sweden</a:t>
            </a:r>
            <a:endParaRPr sz="850"/>
          </a:p>
        </p:txBody>
      </p:sp>
      <p:sp>
        <p:nvSpPr>
          <p:cNvPr id="20" name="Oval 19"/>
          <p:cNvSpPr/>
          <p:nvPr/>
        </p:nvSpPr>
        <p:spPr>
          <a:xfrm>
            <a:off x="4151376" y="2596896"/>
            <a:ext cx="201168" cy="201168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4251960" y="2313432"/>
            <a:ext cx="0" cy="283464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74720" y="1691640"/>
            <a:ext cx="1554480" cy="603504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ctr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2014</a:t>
            </a:r>
            <a:endParaRPr sz="1100"/>
          </a:p>
          <a:p>
            <a:pPr algn="ctr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Private equity owner; roll-out accelerates</a:t>
            </a:r>
            <a:endParaRPr sz="850"/>
          </a:p>
        </p:txBody>
      </p:sp>
      <p:sp>
        <p:nvSpPr>
          <p:cNvPr id="23" name="Oval 22"/>
          <p:cNvSpPr/>
          <p:nvPr/>
        </p:nvSpPr>
        <p:spPr>
          <a:xfrm>
            <a:off x="5820155" y="2596896"/>
            <a:ext cx="201168" cy="201168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>
            <a:off x="5920739" y="2798064"/>
            <a:ext cx="0" cy="283464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43499" y="3108960"/>
            <a:ext cx="1554480" cy="60350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2019</a:t>
            </a:r>
            <a:endParaRPr sz="1100"/>
          </a:p>
          <a:p>
            <a:pPr algn="ctr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IPO on Oslo Børs</a:t>
            </a:r>
            <a:endParaRPr sz="850"/>
          </a:p>
        </p:txBody>
      </p:sp>
      <p:sp>
        <p:nvSpPr>
          <p:cNvPr id="26" name="Oval 25"/>
          <p:cNvSpPr/>
          <p:nvPr/>
        </p:nvSpPr>
        <p:spPr>
          <a:xfrm>
            <a:off x="7488936" y="2596896"/>
            <a:ext cx="201168" cy="201168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7589520" y="2313432"/>
            <a:ext cx="0" cy="283464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12280" y="1691640"/>
            <a:ext cx="1554480" cy="603504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ctr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2022</a:t>
            </a:r>
            <a:endParaRPr sz="1100"/>
          </a:p>
          <a:p>
            <a:pPr algn="ctr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Acquired Danish peer (NOK 800m)</a:t>
            </a:r>
            <a:endParaRPr sz="850"/>
          </a:p>
        </p:txBody>
      </p:sp>
      <p:sp>
        <p:nvSpPr>
          <p:cNvPr id="29" name="Oval 28"/>
          <p:cNvSpPr/>
          <p:nvPr/>
        </p:nvSpPr>
        <p:spPr>
          <a:xfrm>
            <a:off x="9157716" y="2596896"/>
            <a:ext cx="201168" cy="201168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Connector 29"/>
          <p:cNvCxnSpPr/>
          <p:nvPr/>
        </p:nvCxnSpPr>
        <p:spPr>
          <a:xfrm>
            <a:off x="9258300" y="2798064"/>
            <a:ext cx="0" cy="283464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81060" y="3108960"/>
            <a:ext cx="1554480" cy="60350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2024</a:t>
            </a:r>
            <a:endParaRPr sz="1100"/>
          </a:p>
          <a:p>
            <a:pPr algn="ctr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Bolt-on in Finland</a:t>
            </a:r>
            <a:endParaRPr sz="850"/>
          </a:p>
        </p:txBody>
      </p:sp>
      <p:sp>
        <p:nvSpPr>
          <p:cNvPr id="32" name="Oval 31"/>
          <p:cNvSpPr/>
          <p:nvPr/>
        </p:nvSpPr>
        <p:spPr>
          <a:xfrm>
            <a:off x="10826495" y="2596896"/>
            <a:ext cx="201168" cy="201168"/>
          </a:xfrm>
          <a:prstGeom prst="ellipse">
            <a:avLst/>
          </a:prstGeom>
          <a:solidFill>
            <a:srgbClr val="407061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3" name="Connector 32"/>
          <p:cNvCxnSpPr/>
          <p:nvPr/>
        </p:nvCxnSpPr>
        <p:spPr>
          <a:xfrm>
            <a:off x="10927079" y="2313432"/>
            <a:ext cx="0" cy="283464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0149839" y="1691640"/>
            <a:ext cx="1554480" cy="603504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ctr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2026</a:t>
            </a:r>
            <a:endParaRPr sz="1100"/>
          </a:p>
          <a:p>
            <a:pPr algn="ctr"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780k subscribers, 217 locations</a:t>
            </a:r>
            <a:endParaRPr sz="850"/>
          </a:p>
        </p:txBody>
      </p:sp>
      <p:sp>
        <p:nvSpPr>
          <p:cNvPr id="35" name="TextBox 34"/>
          <p:cNvSpPr txBox="1"/>
          <p:nvPr/>
        </p:nvSpPr>
        <p:spPr>
          <a:xfrm>
            <a:off x="429768" y="3977639"/>
            <a:ext cx="11338560" cy="2743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Catalyst calendar – next four quarters</a:t>
            </a:r>
            <a:endParaRPr sz="1100"/>
          </a:p>
        </p:txBody>
      </p:sp>
      <p:cxnSp>
        <p:nvCxnSpPr>
          <p:cNvPr id="36" name="Connector 35"/>
          <p:cNvCxnSpPr/>
          <p:nvPr/>
        </p:nvCxnSpPr>
        <p:spPr>
          <a:xfrm>
            <a:off x="429768" y="4279392"/>
            <a:ext cx="11292840" cy="0"/>
          </a:xfrm>
          <a:prstGeom prst="line">
            <a:avLst/>
          </a:prstGeom>
          <a:ln w="1587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3355848" y="4407407"/>
            <a:ext cx="2066543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Q4 2026</a:t>
            </a:r>
            <a:endParaRPr sz="900"/>
          </a:p>
        </p:txBody>
      </p:sp>
      <p:sp>
        <p:nvSpPr>
          <p:cNvPr id="38" name="Rectangle 37"/>
          <p:cNvSpPr/>
          <p:nvPr/>
        </p:nvSpPr>
        <p:spPr>
          <a:xfrm>
            <a:off x="5458968" y="4407407"/>
            <a:ext cx="2066543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Q1 2027</a:t>
            </a:r>
            <a:endParaRPr sz="900"/>
          </a:p>
        </p:txBody>
      </p:sp>
      <p:sp>
        <p:nvSpPr>
          <p:cNvPr id="39" name="Rectangle 38"/>
          <p:cNvSpPr/>
          <p:nvPr/>
        </p:nvSpPr>
        <p:spPr>
          <a:xfrm>
            <a:off x="7562088" y="4407407"/>
            <a:ext cx="2066543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Q2 2027</a:t>
            </a:r>
            <a:endParaRPr sz="900"/>
          </a:p>
        </p:txBody>
      </p:sp>
      <p:sp>
        <p:nvSpPr>
          <p:cNvPr id="40" name="Rectangle 39"/>
          <p:cNvSpPr/>
          <p:nvPr/>
        </p:nvSpPr>
        <p:spPr>
          <a:xfrm>
            <a:off x="9665208" y="4407407"/>
            <a:ext cx="2066543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Q3 2027</a:t>
            </a:r>
            <a:endParaRPr sz="900"/>
          </a:p>
        </p:txBody>
      </p:sp>
      <p:sp>
        <p:nvSpPr>
          <p:cNvPr id="41" name="TextBox 40"/>
          <p:cNvSpPr txBox="1"/>
          <p:nvPr/>
        </p:nvSpPr>
        <p:spPr>
          <a:xfrm>
            <a:off x="429768" y="4754879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Quarterly reports</a:t>
            </a:r>
            <a:endParaRPr sz="950"/>
          </a:p>
        </p:txBody>
      </p:sp>
      <p:cxnSp>
        <p:nvCxnSpPr>
          <p:cNvPr id="42" name="Connector 41"/>
          <p:cNvCxnSpPr/>
          <p:nvPr/>
        </p:nvCxnSpPr>
        <p:spPr>
          <a:xfrm>
            <a:off x="429768" y="5056631"/>
            <a:ext cx="11338560" cy="0"/>
          </a:xfrm>
          <a:prstGeom prst="line">
            <a:avLst/>
          </a:prstGeom>
          <a:ln w="635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3986783" y="4791455"/>
            <a:ext cx="457200" cy="228600"/>
          </a:xfrm>
          <a:prstGeom prst="round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Q3</a:t>
            </a:r>
            <a:endParaRPr sz="800"/>
          </a:p>
        </p:txBody>
      </p:sp>
      <p:sp>
        <p:nvSpPr>
          <p:cNvPr id="44" name="Rounded Rectangle 43"/>
          <p:cNvSpPr/>
          <p:nvPr/>
        </p:nvSpPr>
        <p:spPr>
          <a:xfrm>
            <a:off x="6300216" y="4791455"/>
            <a:ext cx="457200" cy="228600"/>
          </a:xfrm>
          <a:prstGeom prst="round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Q4</a:t>
            </a:r>
            <a:endParaRPr sz="800"/>
          </a:p>
        </p:txBody>
      </p:sp>
      <p:sp>
        <p:nvSpPr>
          <p:cNvPr id="45" name="Rounded Rectangle 44"/>
          <p:cNvSpPr/>
          <p:nvPr/>
        </p:nvSpPr>
        <p:spPr>
          <a:xfrm>
            <a:off x="8298179" y="4791455"/>
            <a:ext cx="457200" cy="228600"/>
          </a:xfrm>
          <a:prstGeom prst="round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Q1</a:t>
            </a:r>
            <a:endParaRPr sz="800"/>
          </a:p>
        </p:txBody>
      </p:sp>
      <p:sp>
        <p:nvSpPr>
          <p:cNvPr id="46" name="Rounded Rectangle 45"/>
          <p:cNvSpPr/>
          <p:nvPr/>
        </p:nvSpPr>
        <p:spPr>
          <a:xfrm>
            <a:off x="10821924" y="4791455"/>
            <a:ext cx="457200" cy="228600"/>
          </a:xfrm>
          <a:prstGeom prst="round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Q2</a:t>
            </a:r>
            <a:endParaRPr sz="800"/>
          </a:p>
        </p:txBody>
      </p:sp>
      <p:sp>
        <p:nvSpPr>
          <p:cNvPr id="47" name="TextBox 46"/>
          <p:cNvSpPr txBox="1"/>
          <p:nvPr/>
        </p:nvSpPr>
        <p:spPr>
          <a:xfrm>
            <a:off x="429768" y="5084064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Price increases take effect</a:t>
            </a:r>
            <a:endParaRPr sz="950"/>
          </a:p>
        </p:txBody>
      </p:sp>
      <p:cxnSp>
        <p:nvCxnSpPr>
          <p:cNvPr id="48" name="Connector 47"/>
          <p:cNvCxnSpPr/>
          <p:nvPr/>
        </p:nvCxnSpPr>
        <p:spPr>
          <a:xfrm>
            <a:off x="429768" y="5385816"/>
            <a:ext cx="11338560" cy="0"/>
          </a:xfrm>
          <a:prstGeom prst="line">
            <a:avLst/>
          </a:prstGeom>
          <a:ln w="635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353812" y="5120640"/>
            <a:ext cx="2313432" cy="228600"/>
          </a:xfrm>
          <a:prstGeom prst="roundRect">
            <a:avLst/>
          </a:prstGeom>
          <a:solidFill>
            <a:srgbClr val="407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+5% all markets</a:t>
            </a:r>
            <a:endParaRPr sz="800"/>
          </a:p>
        </p:txBody>
      </p:sp>
      <p:sp>
        <p:nvSpPr>
          <p:cNvPr id="50" name="TextBox 49"/>
          <p:cNvSpPr txBox="1"/>
          <p:nvPr/>
        </p:nvSpPr>
        <p:spPr>
          <a:xfrm>
            <a:off x="429768" y="5413247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Capital markets day</a:t>
            </a:r>
            <a:endParaRPr sz="950"/>
          </a:p>
        </p:txBody>
      </p:sp>
      <p:cxnSp>
        <p:nvCxnSpPr>
          <p:cNvPr id="51" name="Connector 50"/>
          <p:cNvCxnSpPr/>
          <p:nvPr/>
        </p:nvCxnSpPr>
        <p:spPr>
          <a:xfrm>
            <a:off x="429768" y="5714999"/>
            <a:ext cx="11338560" cy="0"/>
          </a:xfrm>
          <a:prstGeom prst="line">
            <a:avLst/>
          </a:prstGeom>
          <a:ln w="635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512564" y="5449823"/>
            <a:ext cx="462686" cy="228600"/>
          </a:xfrm>
          <a:prstGeom prst="round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CMD</a:t>
            </a:r>
            <a:endParaRPr sz="800"/>
          </a:p>
        </p:txBody>
      </p:sp>
      <p:sp>
        <p:nvSpPr>
          <p:cNvPr id="53" name="TextBox 52"/>
          <p:cNvSpPr txBox="1"/>
          <p:nvPr/>
        </p:nvSpPr>
        <p:spPr>
          <a:xfrm>
            <a:off x="429768" y="5742431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Dividend and buyback decision</a:t>
            </a:r>
            <a:endParaRPr sz="950"/>
          </a:p>
        </p:txBody>
      </p:sp>
      <p:cxnSp>
        <p:nvCxnSpPr>
          <p:cNvPr id="54" name="Connector 53"/>
          <p:cNvCxnSpPr/>
          <p:nvPr/>
        </p:nvCxnSpPr>
        <p:spPr>
          <a:xfrm>
            <a:off x="429768" y="6044183"/>
            <a:ext cx="11338560" cy="0"/>
          </a:xfrm>
          <a:prstGeom prst="line">
            <a:avLst/>
          </a:prstGeom>
          <a:ln w="635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195060" y="5779007"/>
            <a:ext cx="1997963" cy="228600"/>
          </a:xfrm>
          <a:prstGeom prst="round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 i="0">
                <a:solidFill>
                  <a:srgbClr val="003255"/>
                </a:solidFill>
                <a:latin typeface="Arial"/>
              </a:rPr>
              <a:t>Proposal → AGM</a:t>
            </a:r>
            <a:endParaRPr sz="800"/>
          </a:p>
        </p:txBody>
      </p:sp>
      <p:sp>
        <p:nvSpPr>
          <p:cNvPr id="56" name="TextBox 55"/>
          <p:cNvSpPr txBox="1"/>
          <p:nvPr/>
        </p:nvSpPr>
        <p:spPr>
          <a:xfrm>
            <a:off x="429768" y="6071615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Bolt-on M&amp;A closing</a:t>
            </a:r>
            <a:endParaRPr sz="950"/>
          </a:p>
        </p:txBody>
      </p:sp>
      <p:cxnSp>
        <p:nvCxnSpPr>
          <p:cNvPr id="57" name="Connector 56"/>
          <p:cNvCxnSpPr/>
          <p:nvPr/>
        </p:nvCxnSpPr>
        <p:spPr>
          <a:xfrm>
            <a:off x="429768" y="6373367"/>
            <a:ext cx="11338560" cy="0"/>
          </a:xfrm>
          <a:prstGeom prst="line">
            <a:avLst/>
          </a:prstGeom>
          <a:ln w="6350">
            <a:solidFill>
              <a:srgbClr val="E1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7772400" y="6108191"/>
            <a:ext cx="3154679" cy="228600"/>
          </a:xfrm>
          <a:prstGeom prst="roundRect">
            <a:avLst/>
          </a:prstGeom>
          <a:solidFill>
            <a:srgbClr val="4F7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Two targets in due diligence</a:t>
            </a:r>
            <a:endParaRPr sz="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Framework library #8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Risk matrix with mitigating factors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Show that you know what can go wrong – and why it does not break the case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Frameworks are built from ordinary PowerPoint shapes and text boxes – click and type to edit. Content is illustrative for the fictional Example Company ASA.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21</a:t>
            </a:r>
            <a:endParaRPr sz="900"/>
          </a:p>
        </p:txBody>
      </p:sp>
      <p:sp>
        <p:nvSpPr>
          <p:cNvPr id="11" name="Rectangle 10"/>
          <p:cNvSpPr/>
          <p:nvPr/>
        </p:nvSpPr>
        <p:spPr>
          <a:xfrm>
            <a:off x="1143000" y="1417320"/>
            <a:ext cx="1325880" cy="13258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514600" y="1417320"/>
            <a:ext cx="1325880" cy="1325880"/>
          </a:xfrm>
          <a:prstGeom prst="rect">
            <a:avLst/>
          </a:prstGeom>
          <a:solidFill>
            <a:srgbClr val="F0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886200" y="1417320"/>
            <a:ext cx="1325880" cy="1325880"/>
          </a:xfrm>
          <a:prstGeom prst="rect">
            <a:avLst/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43000" y="2788920"/>
            <a:ext cx="1325880" cy="1325880"/>
          </a:xfrm>
          <a:prstGeom prst="rect">
            <a:avLst/>
          </a:prstGeom>
          <a:solidFill>
            <a:srgbClr val="C7D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514600" y="2788920"/>
            <a:ext cx="1325880" cy="13258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886200" y="2788920"/>
            <a:ext cx="1325880" cy="1325880"/>
          </a:xfrm>
          <a:prstGeom prst="rect">
            <a:avLst/>
          </a:prstGeom>
          <a:solidFill>
            <a:srgbClr val="F0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143000" y="4160520"/>
            <a:ext cx="1325880" cy="1325880"/>
          </a:xfrm>
          <a:prstGeom prst="rect">
            <a:avLst/>
          </a:prstGeom>
          <a:solidFill>
            <a:srgbClr val="7DBB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514600" y="4160520"/>
            <a:ext cx="1325880" cy="1325880"/>
          </a:xfrm>
          <a:prstGeom prst="rect">
            <a:avLst/>
          </a:prstGeom>
          <a:solidFill>
            <a:srgbClr val="C7D6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886200" y="4160520"/>
            <a:ext cx="1325880" cy="1325880"/>
          </a:xfrm>
          <a:prstGeom prst="rect">
            <a:avLst/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4357116" y="1888236"/>
            <a:ext cx="384048" cy="384048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21" name="Oval 20"/>
          <p:cNvSpPr/>
          <p:nvPr/>
        </p:nvSpPr>
        <p:spPr>
          <a:xfrm>
            <a:off x="4357116" y="3259836"/>
            <a:ext cx="384048" cy="384048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22" name="Oval 21"/>
          <p:cNvSpPr/>
          <p:nvPr/>
        </p:nvSpPr>
        <p:spPr>
          <a:xfrm>
            <a:off x="2985516" y="1888236"/>
            <a:ext cx="384048" cy="384048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  <a:endParaRPr sz="1200"/>
          </a:p>
        </p:txBody>
      </p:sp>
      <p:sp>
        <p:nvSpPr>
          <p:cNvPr id="23" name="Oval 22"/>
          <p:cNvSpPr/>
          <p:nvPr/>
        </p:nvSpPr>
        <p:spPr>
          <a:xfrm>
            <a:off x="2985516" y="3259836"/>
            <a:ext cx="384048" cy="384048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24" name="Oval 23"/>
          <p:cNvSpPr/>
          <p:nvPr/>
        </p:nvSpPr>
        <p:spPr>
          <a:xfrm>
            <a:off x="2985516" y="4631436"/>
            <a:ext cx="384048" cy="384048"/>
          </a:xfrm>
          <a:prstGeom prst="ellipse">
            <a:avLst/>
          </a:prstGeom>
          <a:solidFill>
            <a:srgbClr val="00325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  <a:endParaRPr sz="1200"/>
          </a:p>
        </p:txBody>
      </p:sp>
      <p:sp>
        <p:nvSpPr>
          <p:cNvPr id="25" name="TextBox 24"/>
          <p:cNvSpPr txBox="1"/>
          <p:nvPr/>
        </p:nvSpPr>
        <p:spPr>
          <a:xfrm>
            <a:off x="1143000" y="5522975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Low</a:t>
            </a:r>
            <a:endParaRPr sz="900"/>
          </a:p>
        </p:txBody>
      </p:sp>
      <p:sp>
        <p:nvSpPr>
          <p:cNvPr id="26" name="TextBox 25"/>
          <p:cNvSpPr txBox="1"/>
          <p:nvPr/>
        </p:nvSpPr>
        <p:spPr>
          <a:xfrm>
            <a:off x="484632" y="4722875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Low</a:t>
            </a:r>
            <a:endParaRPr sz="900"/>
          </a:p>
        </p:txBody>
      </p:sp>
      <p:sp>
        <p:nvSpPr>
          <p:cNvPr id="27" name="TextBox 26"/>
          <p:cNvSpPr txBox="1"/>
          <p:nvPr/>
        </p:nvSpPr>
        <p:spPr>
          <a:xfrm>
            <a:off x="2514600" y="5522975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Medium</a:t>
            </a:r>
            <a:endParaRPr sz="900"/>
          </a:p>
        </p:txBody>
      </p:sp>
      <p:sp>
        <p:nvSpPr>
          <p:cNvPr id="28" name="TextBox 27"/>
          <p:cNvSpPr txBox="1"/>
          <p:nvPr/>
        </p:nvSpPr>
        <p:spPr>
          <a:xfrm>
            <a:off x="484632" y="3351276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Medium</a:t>
            </a:r>
            <a:endParaRPr sz="900"/>
          </a:p>
        </p:txBody>
      </p:sp>
      <p:sp>
        <p:nvSpPr>
          <p:cNvPr id="29" name="TextBox 28"/>
          <p:cNvSpPr txBox="1"/>
          <p:nvPr/>
        </p:nvSpPr>
        <p:spPr>
          <a:xfrm>
            <a:off x="3886200" y="5522975"/>
            <a:ext cx="132588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High</a:t>
            </a:r>
            <a:endParaRPr sz="900"/>
          </a:p>
        </p:txBody>
      </p:sp>
      <p:sp>
        <p:nvSpPr>
          <p:cNvPr id="30" name="TextBox 29"/>
          <p:cNvSpPr txBox="1"/>
          <p:nvPr/>
        </p:nvSpPr>
        <p:spPr>
          <a:xfrm>
            <a:off x="484632" y="1979676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High</a:t>
            </a:r>
            <a:endParaRPr sz="900"/>
          </a:p>
        </p:txBody>
      </p:sp>
      <p:sp>
        <p:nvSpPr>
          <p:cNvPr id="31" name="TextBox 30"/>
          <p:cNvSpPr txBox="1"/>
          <p:nvPr/>
        </p:nvSpPr>
        <p:spPr>
          <a:xfrm>
            <a:off x="1143000" y="5760719"/>
            <a:ext cx="4069079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100" b="1" i="0">
                <a:solidFill>
                  <a:srgbClr val="1F1F1F"/>
                </a:solidFill>
                <a:latin typeface="Arial"/>
              </a:rPr>
              <a:t>Impact →</a:t>
            </a:r>
            <a:endParaRPr sz="1100"/>
          </a:p>
        </p:txBody>
      </p:sp>
      <p:sp>
        <p:nvSpPr>
          <p:cNvPr id="32" name="TextBox 31"/>
          <p:cNvSpPr txBox="1"/>
          <p:nvPr/>
        </p:nvSpPr>
        <p:spPr>
          <a:xfrm rot="16200000">
            <a:off x="-457200" y="3314699"/>
            <a:ext cx="146304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1100" b="1" i="0">
                <a:solidFill>
                  <a:srgbClr val="1F1F1F"/>
                </a:solidFill>
                <a:latin typeface="Arial"/>
              </a:rPr>
              <a:t>Probability →</a:t>
            </a:r>
            <a:endParaRPr sz="110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5806440" y="1417320"/>
          <a:ext cx="5961885" cy="39319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321024"/>
                <a:gridCol w="1421680"/>
                <a:gridCol w="550328"/>
                <a:gridCol w="596188"/>
                <a:gridCol w="3072665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#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Risk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Prob.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Impact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Mitigating factors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noFill/>
                    </a:lnB>
                    <a:solidFill>
                      <a:srgbClr val="00325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3255"/>
                          </a:solidFill>
                          <a:latin typeface="Arial"/>
                        </a:rPr>
                        <a:t>1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03255"/>
                          </a:solidFill>
                          <a:latin typeface="Arial"/>
                        </a:rPr>
                        <a:t>Pricing pressure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A04040"/>
                          </a:solidFill>
                          <a:latin typeface="Arial"/>
                        </a:rPr>
                        <a:t>High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A04040"/>
                          </a:solidFill>
                          <a:latin typeface="Arial"/>
                        </a:rPr>
                        <a:t>High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Premium concept and locations differ from low-cost; bear case assumes −1pp price/mix p.a.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3255"/>
                          </a:solidFill>
                          <a:latin typeface="Arial"/>
                        </a:rPr>
                        <a:t>2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03255"/>
                          </a:solidFill>
                          <a:latin typeface="Arial"/>
                        </a:rPr>
                        <a:t>Consumer slowdown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9A7B0A"/>
                          </a:solidFill>
                          <a:latin typeface="Arial"/>
                        </a:rPr>
                        <a:t>Med.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A04040"/>
                          </a:solidFill>
                          <a:latin typeface="Arial"/>
                        </a:rPr>
                        <a:t>High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Subscriptions are sticky; 2020 shows the downside (−8.5% revenue) and the recovery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3255"/>
                          </a:solidFill>
                          <a:latin typeface="Arial"/>
                        </a:rPr>
                        <a:t>3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03255"/>
                          </a:solidFill>
                          <a:latin typeface="Arial"/>
                        </a:rPr>
                        <a:t>Cost inflation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A04040"/>
                          </a:solidFill>
                          <a:latin typeface="Arial"/>
                        </a:rPr>
                        <a:t>High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9A7B0A"/>
                          </a:solidFill>
                          <a:latin typeface="Arial"/>
                        </a:rPr>
                        <a:t>Med.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Annual price increases and 30% variable staffing; +0.5pp cost ratio in the bear case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3255"/>
                          </a:solidFill>
                          <a:latin typeface="Arial"/>
                        </a:rPr>
                        <a:t>4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03255"/>
                          </a:solidFill>
                          <a:latin typeface="Arial"/>
                        </a:rPr>
                        <a:t>Execution on growth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9A7B0A"/>
                          </a:solidFill>
                          <a:latin typeface="Arial"/>
                        </a:rPr>
                        <a:t>Med.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9A7B0A"/>
                          </a:solidFill>
                          <a:latin typeface="Arial"/>
                        </a:rPr>
                        <a:t>Med.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24-month ramp-up assumed; digital sales already 70% of new customers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003255"/>
                          </a:solidFill>
                          <a:latin typeface="Arial"/>
                        </a:rPr>
                        <a:t>5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003255"/>
                          </a:solidFill>
                          <a:latin typeface="Arial"/>
                        </a:rPr>
                        <a:t>Leverage and M&amp;A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407061"/>
                          </a:solidFill>
                          <a:latin typeface="Arial"/>
                        </a:rPr>
                        <a:t>Low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9A7B0A"/>
                          </a:solidFill>
                          <a:latin typeface="Arial"/>
                        </a:rPr>
                        <a:t>Med.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 i="0">
                          <a:solidFill>
                            <a:srgbClr val="1F1F1F"/>
                          </a:solidFill>
                          <a:latin typeface="Arial"/>
                        </a:rPr>
                        <a:t>NIBD/EBITDAaL 0.8x; bolt-ons only, funded from cash flow</a:t>
                      </a:r>
                      <a:endParaRPr sz="900"/>
                    </a:p>
                  </a:txBody>
                  <a:tcPr marL="36576" marR="36576" marT="0" marB="0" anchor="ctr">
                    <a:lnL w="9525" cap="flat" cmpd="sng" algn="ctr">
                      <a:noFill/>
                    </a:lnL>
                    <a:lnR w="9525" cap="flat" cmpd="sng" algn="ctr">
                      <a:noFill/>
                    </a:lnR>
                    <a:lnT w="9525" cap="flat" cmpd="sng" algn="ctr">
                      <a:noFill/>
                    </a:lnT>
                    <a:lnB w="9525" cap="flat" cmpd="sng" algn="ctr">
                      <a:solidFill>
                        <a:srgbClr val="E1E5E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5806440" y="5440680"/>
            <a:ext cx="5961888" cy="566928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0" y="5440680"/>
            <a:ext cx="5687568" cy="566928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Bottom line: with all major risks in play, our bear case DCF is NOK 62 (-49%) – against +20% to the target price.</a:t>
            </a:r>
            <a:endParaRPr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Framework library #9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Scenario tree and expected value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Three scenarios, explicit probabilities – the probability-weighted value is still above today's share price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Frameworks are built from ordinary PowerPoint shapes and text boxes – click and type to edit. Content is illustrative for the fictional Example Company ASA.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22</a:t>
            </a:r>
            <a:endParaRPr sz="900"/>
          </a:p>
        </p:txBody>
      </p:sp>
      <p:sp>
        <p:nvSpPr>
          <p:cNvPr id="11" name="Rectangle 10"/>
          <p:cNvSpPr/>
          <p:nvPr/>
        </p:nvSpPr>
        <p:spPr>
          <a:xfrm>
            <a:off x="429768" y="3154680"/>
            <a:ext cx="2011680" cy="114300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21207" y="3154680"/>
            <a:ext cx="1828800" cy="114300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1000" b="0" i="0">
                <a:solidFill>
                  <a:srgbClr val="C9D1D9"/>
                </a:solidFill>
                <a:latin typeface="Arial"/>
              </a:rPr>
              <a:t>Share price today</a:t>
            </a:r>
            <a:endParaRPr sz="1000"/>
          </a:p>
          <a:p>
            <a:pPr algn="ctr">
              <a:buNone/>
            </a:pPr>
            <a:r>
              <a:rPr sz="2200" b="1" i="0">
                <a:solidFill>
                  <a:srgbClr val="FFFFFF"/>
                </a:solidFill>
                <a:latin typeface="Arial"/>
              </a:rPr>
              <a:t>NOK 122</a:t>
            </a:r>
            <a:endParaRPr sz="2200"/>
          </a:p>
        </p:txBody>
      </p:sp>
      <p:cxnSp>
        <p:nvCxnSpPr>
          <p:cNvPr id="13" name="Connector 12"/>
          <p:cNvCxnSpPr/>
          <p:nvPr/>
        </p:nvCxnSpPr>
        <p:spPr>
          <a:xfrm>
            <a:off x="2441448" y="3726180"/>
            <a:ext cx="630936" cy="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072384" y="2171700"/>
            <a:ext cx="0" cy="155448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72384" y="2171700"/>
            <a:ext cx="630936" cy="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136391" y="1906524"/>
            <a:ext cx="502920" cy="219456"/>
          </a:xfrm>
          <a:prstGeom prst="roundRect">
            <a:avLst/>
          </a:prstGeom>
          <a:solidFill>
            <a:srgbClr val="A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25%</a:t>
            </a:r>
            <a:endParaRPr sz="900"/>
          </a:p>
        </p:txBody>
      </p:sp>
      <p:sp>
        <p:nvSpPr>
          <p:cNvPr id="17" name="Rectangle 16"/>
          <p:cNvSpPr/>
          <p:nvPr/>
        </p:nvSpPr>
        <p:spPr>
          <a:xfrm>
            <a:off x="3703320" y="1600200"/>
            <a:ext cx="2926080" cy="329184"/>
          </a:xfrm>
          <a:prstGeom prst="rect">
            <a:avLst/>
          </a:prstGeom>
          <a:solidFill>
            <a:srgbClr val="A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Bear case</a:t>
            </a:r>
            <a:endParaRPr sz="1100"/>
          </a:p>
        </p:txBody>
      </p:sp>
      <p:sp>
        <p:nvSpPr>
          <p:cNvPr id="18" name="Rectangle 17"/>
          <p:cNvSpPr/>
          <p:nvPr/>
        </p:nvSpPr>
        <p:spPr>
          <a:xfrm>
            <a:off x="3703320" y="1929384"/>
            <a:ext cx="2926080" cy="813816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794759" y="1965960"/>
            <a:ext cx="2743200" cy="74066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spcAft>
                <a:spcPts val="200"/>
              </a:spcAft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Low-cost chains take share in the big cities: price increases stall, churn rises and the roll-out slows</a:t>
            </a:r>
            <a:endParaRPr sz="850"/>
          </a:p>
          <a:p>
            <a:pPr algn="l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Revenue CAGR 1.7% · EBIT margin 11.2%</a:t>
            </a:r>
            <a:endParaRPr sz="900"/>
          </a:p>
        </p:txBody>
      </p:sp>
      <p:cxnSp>
        <p:nvCxnSpPr>
          <p:cNvPr id="20" name="Connector 19"/>
          <p:cNvCxnSpPr/>
          <p:nvPr/>
        </p:nvCxnSpPr>
        <p:spPr>
          <a:xfrm>
            <a:off x="6629400" y="2171700"/>
            <a:ext cx="457200" cy="0"/>
          </a:xfrm>
          <a:prstGeom prst="line">
            <a:avLst/>
          </a:prstGeom>
          <a:ln w="15875">
            <a:solidFill>
              <a:srgbClr val="6B7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086600" y="1600200"/>
            <a:ext cx="2103120" cy="1143000"/>
          </a:xfrm>
          <a:prstGeom prst="rect">
            <a:avLst/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78040" y="1600200"/>
            <a:ext cx="1920240" cy="114300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DCF value per share</a:t>
            </a:r>
            <a:endParaRPr sz="900"/>
          </a:p>
          <a:p>
            <a:pPr algn="ctr">
              <a:buNone/>
            </a:pPr>
            <a:r>
              <a:rPr sz="2000" b="1" i="0">
                <a:solidFill>
                  <a:srgbClr val="A04040"/>
                </a:solidFill>
                <a:latin typeface="Arial"/>
              </a:rPr>
              <a:t>NOK 62</a:t>
            </a:r>
            <a:endParaRPr sz="2000"/>
          </a:p>
          <a:p>
            <a:pPr algn="ctr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-49% vs. today</a:t>
            </a:r>
            <a:endParaRPr sz="950"/>
          </a:p>
        </p:txBody>
      </p:sp>
      <p:cxnSp>
        <p:nvCxnSpPr>
          <p:cNvPr id="23" name="Connector 22"/>
          <p:cNvCxnSpPr/>
          <p:nvPr/>
        </p:nvCxnSpPr>
        <p:spPr>
          <a:xfrm>
            <a:off x="9189720" y="2171700"/>
            <a:ext cx="320040" cy="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509760" y="2171700"/>
            <a:ext cx="0" cy="155448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09760" y="3726180"/>
            <a:ext cx="320040" cy="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41448" y="3726180"/>
            <a:ext cx="630936" cy="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072384" y="3726180"/>
            <a:ext cx="0" cy="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072384" y="3726180"/>
            <a:ext cx="630936" cy="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136391" y="3461004"/>
            <a:ext cx="502920" cy="219456"/>
          </a:xfrm>
          <a:prstGeom prst="round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50%</a:t>
            </a:r>
            <a:endParaRPr sz="900"/>
          </a:p>
        </p:txBody>
      </p:sp>
      <p:sp>
        <p:nvSpPr>
          <p:cNvPr id="30" name="Rectangle 29"/>
          <p:cNvSpPr/>
          <p:nvPr/>
        </p:nvSpPr>
        <p:spPr>
          <a:xfrm>
            <a:off x="3703320" y="3154680"/>
            <a:ext cx="2926080" cy="329184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Base case</a:t>
            </a:r>
            <a:endParaRPr sz="1100"/>
          </a:p>
        </p:txBody>
      </p:sp>
      <p:sp>
        <p:nvSpPr>
          <p:cNvPr id="31" name="Rectangle 30"/>
          <p:cNvSpPr/>
          <p:nvPr/>
        </p:nvSpPr>
        <p:spPr>
          <a:xfrm>
            <a:off x="3703320" y="3483864"/>
            <a:ext cx="2926080" cy="813816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794759" y="3520440"/>
            <a:ext cx="2743200" cy="74066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spcAft>
                <a:spcPts val="200"/>
              </a:spcAft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Steady like-for-like growth, around seven openings a year and operating leverage from a largely fixed cost base</a:t>
            </a:r>
            <a:endParaRPr sz="850"/>
          </a:p>
          <a:p>
            <a:pPr algn="l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Revenue CAGR 5.4% · EBIT margin 19.1%</a:t>
            </a:r>
            <a:endParaRPr sz="900"/>
          </a:p>
        </p:txBody>
      </p:sp>
      <p:cxnSp>
        <p:nvCxnSpPr>
          <p:cNvPr id="33" name="Connector 32"/>
          <p:cNvCxnSpPr/>
          <p:nvPr/>
        </p:nvCxnSpPr>
        <p:spPr>
          <a:xfrm>
            <a:off x="6629400" y="3726180"/>
            <a:ext cx="457200" cy="0"/>
          </a:xfrm>
          <a:prstGeom prst="line">
            <a:avLst/>
          </a:prstGeom>
          <a:ln w="15875">
            <a:solidFill>
              <a:srgbClr val="6B7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086600" y="3154680"/>
            <a:ext cx="2103120" cy="1143000"/>
          </a:xfrm>
          <a:prstGeom prst="rect">
            <a:avLst/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78040" y="3154680"/>
            <a:ext cx="1920240" cy="114300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DCF value per share</a:t>
            </a:r>
            <a:endParaRPr sz="900"/>
          </a:p>
          <a:p>
            <a:pPr algn="ctr">
              <a:buNone/>
            </a:pPr>
            <a:r>
              <a:rPr sz="2000" b="1" i="0">
                <a:solidFill>
                  <a:srgbClr val="003255"/>
                </a:solidFill>
                <a:latin typeface="Arial"/>
              </a:rPr>
              <a:t>NOK 139</a:t>
            </a:r>
            <a:endParaRPr sz="2000"/>
          </a:p>
          <a:p>
            <a:pPr algn="ctr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+14% vs. today</a:t>
            </a:r>
            <a:endParaRPr sz="950"/>
          </a:p>
        </p:txBody>
      </p:sp>
      <p:cxnSp>
        <p:nvCxnSpPr>
          <p:cNvPr id="36" name="Connector 35"/>
          <p:cNvCxnSpPr/>
          <p:nvPr/>
        </p:nvCxnSpPr>
        <p:spPr>
          <a:xfrm>
            <a:off x="9189720" y="3726180"/>
            <a:ext cx="320040" cy="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509760" y="3726180"/>
            <a:ext cx="0" cy="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509760" y="3726180"/>
            <a:ext cx="320040" cy="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41448" y="3726180"/>
            <a:ext cx="630936" cy="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072384" y="3726180"/>
            <a:ext cx="0" cy="155448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072384" y="5280660"/>
            <a:ext cx="630936" cy="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136391" y="5015484"/>
            <a:ext cx="502920" cy="219456"/>
          </a:xfrm>
          <a:prstGeom prst="roundRect">
            <a:avLst/>
          </a:prstGeom>
          <a:solidFill>
            <a:srgbClr val="407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25%</a:t>
            </a:r>
            <a:endParaRPr sz="900"/>
          </a:p>
        </p:txBody>
      </p:sp>
      <p:sp>
        <p:nvSpPr>
          <p:cNvPr id="43" name="Rectangle 42"/>
          <p:cNvSpPr/>
          <p:nvPr/>
        </p:nvSpPr>
        <p:spPr>
          <a:xfrm>
            <a:off x="3703320" y="4709160"/>
            <a:ext cx="2926080" cy="329184"/>
          </a:xfrm>
          <a:prstGeom prst="rect">
            <a:avLst/>
          </a:prstGeom>
          <a:solidFill>
            <a:srgbClr val="4070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/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Bull case</a:t>
            </a:r>
            <a:endParaRPr sz="1100"/>
          </a:p>
        </p:txBody>
      </p:sp>
      <p:sp>
        <p:nvSpPr>
          <p:cNvPr id="44" name="Rectangle 43"/>
          <p:cNvSpPr/>
          <p:nvPr/>
        </p:nvSpPr>
        <p:spPr>
          <a:xfrm>
            <a:off x="3703320" y="5038344"/>
            <a:ext cx="2926080" cy="813816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794759" y="5074920"/>
            <a:ext cx="2743200" cy="740664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spcAft>
                <a:spcPts val="200"/>
              </a:spcAft>
              <a:buNone/>
            </a:pPr>
            <a:r>
              <a:rPr sz="850" b="0" i="0">
                <a:solidFill>
                  <a:srgbClr val="1F1F1F"/>
                </a:solidFill>
                <a:latin typeface="Arial"/>
              </a:rPr>
              <a:t>Faster roll-out and premium tiers: more openings at similar returns and higher revenue per member</a:t>
            </a:r>
            <a:endParaRPr sz="850"/>
          </a:p>
          <a:p>
            <a:pPr algn="l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Revenue CAGR 8.0% · EBIT margin 23.1%</a:t>
            </a:r>
            <a:endParaRPr sz="900"/>
          </a:p>
        </p:txBody>
      </p:sp>
      <p:cxnSp>
        <p:nvCxnSpPr>
          <p:cNvPr id="46" name="Connector 45"/>
          <p:cNvCxnSpPr/>
          <p:nvPr/>
        </p:nvCxnSpPr>
        <p:spPr>
          <a:xfrm>
            <a:off x="6629400" y="5280660"/>
            <a:ext cx="457200" cy="0"/>
          </a:xfrm>
          <a:prstGeom prst="line">
            <a:avLst/>
          </a:prstGeom>
          <a:ln w="15875">
            <a:solidFill>
              <a:srgbClr val="6B74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7086600" y="4709160"/>
            <a:ext cx="2103120" cy="1143000"/>
          </a:xfrm>
          <a:prstGeom prst="rect">
            <a:avLst/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178040" y="4709160"/>
            <a:ext cx="1920240" cy="114300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DCF value per share</a:t>
            </a:r>
            <a:endParaRPr sz="900"/>
          </a:p>
          <a:p>
            <a:pPr algn="ctr">
              <a:buNone/>
            </a:pPr>
            <a:r>
              <a:rPr sz="2000" b="1" i="0">
                <a:solidFill>
                  <a:srgbClr val="407061"/>
                </a:solidFill>
                <a:latin typeface="Arial"/>
              </a:rPr>
              <a:t>NOK 201</a:t>
            </a:r>
            <a:endParaRPr sz="2000"/>
          </a:p>
          <a:p>
            <a:pPr algn="ctr">
              <a:buNone/>
            </a:pPr>
            <a:r>
              <a:rPr sz="950" b="0" i="0">
                <a:solidFill>
                  <a:srgbClr val="1F1F1F"/>
                </a:solidFill>
                <a:latin typeface="Arial"/>
              </a:rPr>
              <a:t>+65% vs. today</a:t>
            </a:r>
            <a:endParaRPr sz="950"/>
          </a:p>
        </p:txBody>
      </p:sp>
      <p:cxnSp>
        <p:nvCxnSpPr>
          <p:cNvPr id="49" name="Connector 48"/>
          <p:cNvCxnSpPr/>
          <p:nvPr/>
        </p:nvCxnSpPr>
        <p:spPr>
          <a:xfrm>
            <a:off x="9189720" y="5280660"/>
            <a:ext cx="320040" cy="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9509760" y="3726180"/>
            <a:ext cx="0" cy="155448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509760" y="3726180"/>
            <a:ext cx="320040" cy="0"/>
          </a:xfrm>
          <a:prstGeom prst="line">
            <a:avLst/>
          </a:prstGeom>
          <a:ln w="15875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9829800" y="2971800"/>
            <a:ext cx="1938528" cy="150876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902952" y="2971800"/>
            <a:ext cx="1792224" cy="15087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ctr">
              <a:buNone/>
            </a:pPr>
            <a:r>
              <a:rPr sz="950" b="0" i="0">
                <a:solidFill>
                  <a:srgbClr val="C9D1D9"/>
                </a:solidFill>
                <a:latin typeface="Arial"/>
              </a:rPr>
              <a:t>Probability-weighted value</a:t>
            </a:r>
            <a:endParaRPr sz="950"/>
          </a:p>
          <a:p>
            <a:pPr algn="ctr">
              <a:buNone/>
            </a:pPr>
            <a:r>
              <a:rPr sz="2400" b="1" i="0">
                <a:solidFill>
                  <a:srgbClr val="FFFFFF"/>
                </a:solidFill>
                <a:latin typeface="Arial"/>
              </a:rPr>
              <a:t>NOK 135</a:t>
            </a:r>
            <a:endParaRPr sz="2400"/>
          </a:p>
          <a:p>
            <a:pPr algn="ctr">
              <a:buNone/>
            </a:pPr>
            <a:r>
              <a:rPr sz="1000" b="0" i="0">
                <a:solidFill>
                  <a:srgbClr val="FFFFFF"/>
                </a:solidFill>
                <a:latin typeface="Arial"/>
              </a:rPr>
              <a:t>+11% vs. today</a:t>
            </a:r>
            <a:endParaRPr sz="1000"/>
          </a:p>
        </p:txBody>
      </p:sp>
      <p:sp>
        <p:nvSpPr>
          <p:cNvPr id="54" name="TextBox 53"/>
          <p:cNvSpPr txBox="1"/>
          <p:nvPr/>
        </p:nvSpPr>
        <p:spPr>
          <a:xfrm>
            <a:off x="9555480" y="5029200"/>
            <a:ext cx="2377440" cy="64008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ctr">
              <a:buNone/>
            </a:pPr>
            <a:r>
              <a:rPr sz="900" b="0" i="1">
                <a:solidFill>
                  <a:srgbClr val="6B7480"/>
                </a:solidFill>
                <a:latin typeface="Arial"/>
              </a:rPr>
              <a:t>25% × 62 + 50% × 139 + 25% × 201</a:t>
            </a:r>
            <a:endParaRPr sz="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3425" y="180136"/>
            <a:ext cx="5449824" cy="203911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800" b="1" i="0">
                <a:solidFill>
                  <a:srgbClr val="003255"/>
                </a:solidFill>
                <a:latin typeface="Arial"/>
              </a:rPr>
              <a:t>Framework library #10</a:t>
            </a:r>
            <a:endParaRPr sz="800"/>
          </a:p>
        </p:txBody>
      </p:sp>
      <p:cxnSp>
        <p:nvCxnSpPr>
          <p:cNvPr id="3" name="Connector 2"/>
          <p:cNvCxnSpPr/>
          <p:nvPr/>
        </p:nvCxnSpPr>
        <p:spPr>
          <a:xfrm>
            <a:off x="433425" y="369417"/>
            <a:ext cx="5943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28853" y="457200"/>
            <a:ext cx="11333988" cy="438912"/>
          </a:xfrm>
          <a:prstGeom prst="rect">
            <a:avLst/>
          </a:prstGeom>
          <a:noFill/>
        </p:spPr>
        <p:txBody>
          <a:bodyPr wrap="square" lIns="18288" rIns="18288" tIns="18288" bIns="18288" anchor="b"/>
          <a:lstStyle/>
          <a:p>
            <a:pPr algn="l">
              <a:buNone/>
            </a:pPr>
            <a:r>
              <a:rPr sz="2600" b="0" i="0">
                <a:solidFill>
                  <a:srgbClr val="003255"/>
                </a:solidFill>
                <a:latin typeface="Cambria"/>
              </a:rPr>
              <a:t>Value driver tree (ROIC decomposition)</a:t>
            </a:r>
            <a:endParaRPr sz="2600"/>
          </a:p>
        </p:txBody>
      </p:sp>
      <p:sp>
        <p:nvSpPr>
          <p:cNvPr id="5" name="TextBox 4"/>
          <p:cNvSpPr txBox="1"/>
          <p:nvPr/>
        </p:nvSpPr>
        <p:spPr>
          <a:xfrm>
            <a:off x="428853" y="907999"/>
            <a:ext cx="1133856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400" b="0" i="0">
                <a:solidFill>
                  <a:srgbClr val="003255"/>
                </a:solidFill>
                <a:latin typeface="Arial"/>
              </a:rPr>
              <a:t>What has to be true for the returns to hold? Break ROIC into margin and capital turnover, then into operating drivers</a:t>
            </a:r>
            <a:endParaRPr sz="1400"/>
          </a:p>
        </p:txBody>
      </p:sp>
      <p:cxnSp>
        <p:nvCxnSpPr>
          <p:cNvPr id="6" name="Connector 5"/>
          <p:cNvCxnSpPr/>
          <p:nvPr/>
        </p:nvCxnSpPr>
        <p:spPr>
          <a:xfrm>
            <a:off x="419709" y="6381597"/>
            <a:ext cx="9903867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742371" y="6381597"/>
            <a:ext cx="1027785" cy="0"/>
          </a:xfrm>
          <a:prstGeom prst="line">
            <a:avLst/>
          </a:prstGeom>
          <a:ln w="9525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33425" y="6433718"/>
            <a:ext cx="9837115" cy="3493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0" i="1">
                <a:solidFill>
                  <a:srgbClr val="1F1F1F"/>
                </a:solidFill>
                <a:latin typeface="Arial"/>
              </a:rPr>
              <a:t>Frameworks are built from ordinary PowerPoint shapes and text boxes – click and type to edit. Content is illustrative for the fictional Example Company ASA. Figures: 2025A → 2028E from the DCF toolkit.</a:t>
            </a:r>
            <a:endParaRPr sz="700"/>
          </a:p>
        </p:txBody>
      </p:sp>
      <p:sp>
        <p:nvSpPr>
          <p:cNvPr id="9" name="TextBox 8"/>
          <p:cNvSpPr txBox="1"/>
          <p:nvPr/>
        </p:nvSpPr>
        <p:spPr>
          <a:xfrm>
            <a:off x="10698480" y="6437376"/>
            <a:ext cx="777240" cy="329184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Equity Research</a:t>
            </a:r>
            <a:endParaRPr sz="700"/>
          </a:p>
          <a:p>
            <a:pPr algn="l">
              <a:buNone/>
            </a:pPr>
            <a:r>
              <a:rPr sz="700" b="1" i="0">
                <a:solidFill>
                  <a:srgbClr val="003255"/>
                </a:solidFill>
                <a:latin typeface="Cambria"/>
              </a:rPr>
              <a:t>Toolkit</a:t>
            </a:r>
            <a:endParaRPr sz="700"/>
          </a:p>
        </p:txBody>
      </p:sp>
      <p:sp>
        <p:nvSpPr>
          <p:cNvPr id="10" name="TextBox 9"/>
          <p:cNvSpPr txBox="1"/>
          <p:nvPr/>
        </p:nvSpPr>
        <p:spPr>
          <a:xfrm>
            <a:off x="11456517" y="6497726"/>
            <a:ext cx="310896" cy="215798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r">
              <a:buNone/>
            </a:pPr>
            <a:r>
              <a:rPr sz="900" b="0" i="0">
                <a:solidFill>
                  <a:srgbClr val="003255"/>
                </a:solidFill>
                <a:latin typeface="Arial"/>
              </a:rPr>
              <a:t>23</a:t>
            </a:r>
            <a:endParaRPr sz="900"/>
          </a:p>
        </p:txBody>
      </p:sp>
      <p:sp>
        <p:nvSpPr>
          <p:cNvPr id="11" name="Rectangle 10"/>
          <p:cNvSpPr/>
          <p:nvPr/>
        </p:nvSpPr>
        <p:spPr>
          <a:xfrm>
            <a:off x="429768" y="3246120"/>
            <a:ext cx="2514600" cy="7132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21207" y="3273551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FFFFFF"/>
                </a:solidFill>
                <a:latin typeface="Arial"/>
              </a:rPr>
              <a:t>ROIC</a:t>
            </a:r>
            <a:endParaRPr sz="950"/>
          </a:p>
        </p:txBody>
      </p:sp>
      <p:sp>
        <p:nvSpPr>
          <p:cNvPr id="13" name="TextBox 12"/>
          <p:cNvSpPr txBox="1"/>
          <p:nvPr/>
        </p:nvSpPr>
        <p:spPr>
          <a:xfrm>
            <a:off x="521207" y="3538727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0" i="0">
                <a:solidFill>
                  <a:srgbClr val="FFFFFF"/>
                </a:solidFill>
                <a:latin typeface="Arial"/>
              </a:rPr>
              <a:t>19.3%  →  </a:t>
            </a:r>
            <a:r>
              <a:rPr sz="1100" b="1" i="0">
                <a:solidFill>
                  <a:srgbClr val="FFFFFF"/>
                </a:solidFill>
                <a:latin typeface="Arial"/>
              </a:rPr>
              <a:t>21.3%</a:t>
            </a:r>
            <a:endParaRPr sz="1100"/>
          </a:p>
        </p:txBody>
      </p:sp>
      <p:sp>
        <p:nvSpPr>
          <p:cNvPr id="14" name="Rectangle 13"/>
          <p:cNvSpPr/>
          <p:nvPr/>
        </p:nvSpPr>
        <p:spPr>
          <a:xfrm>
            <a:off x="3429000" y="2057400"/>
            <a:ext cx="2514600" cy="640080"/>
          </a:xfrm>
          <a:prstGeom prst="rect">
            <a:avLst/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20440" y="2084831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NOPAT margin</a:t>
            </a:r>
            <a:endParaRPr sz="950"/>
          </a:p>
        </p:txBody>
      </p:sp>
      <p:sp>
        <p:nvSpPr>
          <p:cNvPr id="16" name="TextBox 15"/>
          <p:cNvSpPr txBox="1"/>
          <p:nvPr/>
        </p:nvSpPr>
        <p:spPr>
          <a:xfrm>
            <a:off x="3520440" y="2350008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0" i="0">
                <a:solidFill>
                  <a:srgbClr val="1F1F1F"/>
                </a:solidFill>
                <a:latin typeface="Arial"/>
              </a:rPr>
              <a:t>13.6%  →  </a:t>
            </a:r>
            <a:r>
              <a:rPr sz="1100" b="1" i="0">
                <a:solidFill>
                  <a:srgbClr val="1F1F1F"/>
                </a:solidFill>
                <a:latin typeface="Arial"/>
              </a:rPr>
              <a:t>14.1%</a:t>
            </a:r>
            <a:endParaRPr sz="1100"/>
          </a:p>
        </p:txBody>
      </p:sp>
      <p:sp>
        <p:nvSpPr>
          <p:cNvPr id="17" name="Rectangle 16"/>
          <p:cNvSpPr/>
          <p:nvPr/>
        </p:nvSpPr>
        <p:spPr>
          <a:xfrm>
            <a:off x="3429000" y="4617720"/>
            <a:ext cx="2514600" cy="640080"/>
          </a:xfrm>
          <a:prstGeom prst="rect">
            <a:avLst/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520440" y="4645152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Capital turnover</a:t>
            </a:r>
            <a:endParaRPr sz="950"/>
          </a:p>
        </p:txBody>
      </p:sp>
      <p:sp>
        <p:nvSpPr>
          <p:cNvPr id="19" name="TextBox 18"/>
          <p:cNvSpPr txBox="1"/>
          <p:nvPr/>
        </p:nvSpPr>
        <p:spPr>
          <a:xfrm>
            <a:off x="3520440" y="4910328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0" i="0">
                <a:solidFill>
                  <a:srgbClr val="1F1F1F"/>
                </a:solidFill>
                <a:latin typeface="Arial"/>
              </a:rPr>
              <a:t>1.41x  →  </a:t>
            </a:r>
            <a:r>
              <a:rPr sz="1100" b="1" i="0">
                <a:solidFill>
                  <a:srgbClr val="1F1F1F"/>
                </a:solidFill>
                <a:latin typeface="Arial"/>
              </a:rPr>
              <a:t>1.52x</a:t>
            </a:r>
            <a:endParaRPr sz="1100"/>
          </a:p>
        </p:txBody>
      </p:sp>
      <p:sp>
        <p:nvSpPr>
          <p:cNvPr id="20" name="Rectangle 19"/>
          <p:cNvSpPr/>
          <p:nvPr/>
        </p:nvSpPr>
        <p:spPr>
          <a:xfrm>
            <a:off x="6400800" y="1600200"/>
            <a:ext cx="2514600" cy="6400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92240" y="1627632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EBIT adj. margin</a:t>
            </a:r>
            <a:endParaRPr sz="950"/>
          </a:p>
        </p:txBody>
      </p:sp>
      <p:sp>
        <p:nvSpPr>
          <p:cNvPr id="22" name="TextBox 21"/>
          <p:cNvSpPr txBox="1"/>
          <p:nvPr/>
        </p:nvSpPr>
        <p:spPr>
          <a:xfrm>
            <a:off x="6492240" y="1892807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0" i="0">
                <a:solidFill>
                  <a:srgbClr val="1F1F1F"/>
                </a:solidFill>
                <a:latin typeface="Arial"/>
              </a:rPr>
              <a:t>17.5%  →  </a:t>
            </a:r>
            <a:r>
              <a:rPr sz="1100" b="1" i="0">
                <a:solidFill>
                  <a:srgbClr val="1F1F1F"/>
                </a:solidFill>
                <a:latin typeface="Arial"/>
              </a:rPr>
              <a:t>18.0%</a:t>
            </a:r>
            <a:endParaRPr sz="1100"/>
          </a:p>
        </p:txBody>
      </p:sp>
      <p:sp>
        <p:nvSpPr>
          <p:cNvPr id="23" name="Rectangle 22"/>
          <p:cNvSpPr/>
          <p:nvPr/>
        </p:nvSpPr>
        <p:spPr>
          <a:xfrm>
            <a:off x="6400800" y="2514600"/>
            <a:ext cx="2514600" cy="6400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92240" y="2542032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Tax rate</a:t>
            </a:r>
            <a:endParaRPr sz="950"/>
          </a:p>
        </p:txBody>
      </p:sp>
      <p:sp>
        <p:nvSpPr>
          <p:cNvPr id="25" name="TextBox 24"/>
          <p:cNvSpPr txBox="1"/>
          <p:nvPr/>
        </p:nvSpPr>
        <p:spPr>
          <a:xfrm>
            <a:off x="6492240" y="2807208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0" i="0">
                <a:solidFill>
                  <a:srgbClr val="1F1F1F"/>
                </a:solidFill>
                <a:latin typeface="Arial"/>
              </a:rPr>
              <a:t>22.0%  →  </a:t>
            </a:r>
            <a:r>
              <a:rPr sz="1100" b="1" i="0">
                <a:solidFill>
                  <a:srgbClr val="1F1F1F"/>
                </a:solidFill>
                <a:latin typeface="Arial"/>
              </a:rPr>
              <a:t>22.0%</a:t>
            </a:r>
            <a:endParaRPr sz="1100"/>
          </a:p>
        </p:txBody>
      </p:sp>
      <p:sp>
        <p:nvSpPr>
          <p:cNvPr id="26" name="Rectangle 25"/>
          <p:cNvSpPr/>
          <p:nvPr/>
        </p:nvSpPr>
        <p:spPr>
          <a:xfrm>
            <a:off x="6400800" y="4160520"/>
            <a:ext cx="2514600" cy="6400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92240" y="4187952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NWC / revenue</a:t>
            </a:r>
            <a:endParaRPr sz="950"/>
          </a:p>
        </p:txBody>
      </p:sp>
      <p:sp>
        <p:nvSpPr>
          <p:cNvPr id="28" name="TextBox 27"/>
          <p:cNvSpPr txBox="1"/>
          <p:nvPr/>
        </p:nvSpPr>
        <p:spPr>
          <a:xfrm>
            <a:off x="6492240" y="4453128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0" i="0">
                <a:solidFill>
                  <a:srgbClr val="1F1F1F"/>
                </a:solidFill>
                <a:latin typeface="Arial"/>
              </a:rPr>
              <a:t>-6.5%  →  </a:t>
            </a:r>
            <a:r>
              <a:rPr sz="1100" b="1" i="0">
                <a:solidFill>
                  <a:srgbClr val="1F1F1F"/>
                </a:solidFill>
                <a:latin typeface="Arial"/>
              </a:rPr>
              <a:t>-6.5%</a:t>
            </a:r>
            <a:endParaRPr sz="1100"/>
          </a:p>
        </p:txBody>
      </p:sp>
      <p:sp>
        <p:nvSpPr>
          <p:cNvPr id="29" name="Rectangle 28"/>
          <p:cNvSpPr/>
          <p:nvPr/>
        </p:nvSpPr>
        <p:spPr>
          <a:xfrm>
            <a:off x="6400800" y="5074920"/>
            <a:ext cx="2514600" cy="640080"/>
          </a:xfrm>
          <a:prstGeom prst="rect">
            <a:avLst/>
          </a:prstGeom>
          <a:solidFill>
            <a:srgbClr val="EC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92240" y="5102352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Fixed capital / revenue</a:t>
            </a:r>
            <a:endParaRPr sz="950"/>
          </a:p>
        </p:txBody>
      </p:sp>
      <p:sp>
        <p:nvSpPr>
          <p:cNvPr id="31" name="TextBox 30"/>
          <p:cNvSpPr txBox="1"/>
          <p:nvPr/>
        </p:nvSpPr>
        <p:spPr>
          <a:xfrm>
            <a:off x="6492240" y="5367528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0" i="0">
                <a:solidFill>
                  <a:srgbClr val="1F1F1F"/>
                </a:solidFill>
                <a:latin typeface="Arial"/>
              </a:rPr>
              <a:t>77.3%  →  </a:t>
            </a:r>
            <a:r>
              <a:rPr sz="1100" b="1" i="0">
                <a:solidFill>
                  <a:srgbClr val="1F1F1F"/>
                </a:solidFill>
                <a:latin typeface="Arial"/>
              </a:rPr>
              <a:t>73.8%</a:t>
            </a:r>
            <a:endParaRPr sz="1100"/>
          </a:p>
        </p:txBody>
      </p:sp>
      <p:sp>
        <p:nvSpPr>
          <p:cNvPr id="32" name="Rectangle 31"/>
          <p:cNvSpPr/>
          <p:nvPr/>
        </p:nvSpPr>
        <p:spPr>
          <a:xfrm>
            <a:off x="9253728" y="1325880"/>
            <a:ext cx="2514600" cy="6035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45167" y="1353312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Gross margin</a:t>
            </a:r>
            <a:endParaRPr sz="950"/>
          </a:p>
        </p:txBody>
      </p:sp>
      <p:sp>
        <p:nvSpPr>
          <p:cNvPr id="34" name="TextBox 33"/>
          <p:cNvSpPr txBox="1"/>
          <p:nvPr/>
        </p:nvSpPr>
        <p:spPr>
          <a:xfrm>
            <a:off x="9345167" y="1618488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0" i="0">
                <a:solidFill>
                  <a:srgbClr val="1F1F1F"/>
                </a:solidFill>
                <a:latin typeface="Arial"/>
              </a:rPr>
              <a:t>63.4%  →  </a:t>
            </a:r>
            <a:r>
              <a:rPr sz="1100" b="1" i="0">
                <a:solidFill>
                  <a:srgbClr val="1F1F1F"/>
                </a:solidFill>
                <a:latin typeface="Arial"/>
              </a:rPr>
              <a:t>63.4%</a:t>
            </a:r>
            <a:endParaRPr sz="1100"/>
          </a:p>
        </p:txBody>
      </p:sp>
      <p:cxnSp>
        <p:nvCxnSpPr>
          <p:cNvPr id="35" name="Connector 34"/>
          <p:cNvCxnSpPr/>
          <p:nvPr/>
        </p:nvCxnSpPr>
        <p:spPr>
          <a:xfrm>
            <a:off x="8915400" y="1920240"/>
            <a:ext cx="169163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084563" y="1627632"/>
            <a:ext cx="0" cy="292608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084563" y="1627632"/>
            <a:ext cx="169165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253728" y="2029968"/>
            <a:ext cx="2514600" cy="6035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345167" y="2057400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Personnel / revenue</a:t>
            </a:r>
            <a:endParaRPr sz="950"/>
          </a:p>
        </p:txBody>
      </p:sp>
      <p:sp>
        <p:nvSpPr>
          <p:cNvPr id="40" name="TextBox 39"/>
          <p:cNvSpPr txBox="1"/>
          <p:nvPr/>
        </p:nvSpPr>
        <p:spPr>
          <a:xfrm>
            <a:off x="9345167" y="2322576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0" i="0">
                <a:solidFill>
                  <a:srgbClr val="1F1F1F"/>
                </a:solidFill>
                <a:latin typeface="Arial"/>
              </a:rPr>
              <a:t>21.8%  →  </a:t>
            </a:r>
            <a:r>
              <a:rPr sz="1100" b="1" i="0">
                <a:solidFill>
                  <a:srgbClr val="1F1F1F"/>
                </a:solidFill>
                <a:latin typeface="Arial"/>
              </a:rPr>
              <a:t>21.5%</a:t>
            </a:r>
            <a:endParaRPr sz="1100"/>
          </a:p>
        </p:txBody>
      </p:sp>
      <p:cxnSp>
        <p:nvCxnSpPr>
          <p:cNvPr id="41" name="Connector 40"/>
          <p:cNvCxnSpPr/>
          <p:nvPr/>
        </p:nvCxnSpPr>
        <p:spPr>
          <a:xfrm>
            <a:off x="8915400" y="1920240"/>
            <a:ext cx="169163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084563" y="1920240"/>
            <a:ext cx="0" cy="41148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084563" y="2331720"/>
            <a:ext cx="169165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9253728" y="2734056"/>
            <a:ext cx="2514600" cy="6035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345167" y="2761488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Other opex / revenue</a:t>
            </a:r>
            <a:endParaRPr sz="950"/>
          </a:p>
        </p:txBody>
      </p:sp>
      <p:sp>
        <p:nvSpPr>
          <p:cNvPr id="46" name="TextBox 45"/>
          <p:cNvSpPr txBox="1"/>
          <p:nvPr/>
        </p:nvSpPr>
        <p:spPr>
          <a:xfrm>
            <a:off x="9345167" y="3026664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0" i="0">
                <a:solidFill>
                  <a:srgbClr val="1F1F1F"/>
                </a:solidFill>
                <a:latin typeface="Arial"/>
              </a:rPr>
              <a:t>11.9%  →  </a:t>
            </a:r>
            <a:r>
              <a:rPr sz="1100" b="1" i="0">
                <a:solidFill>
                  <a:srgbClr val="1F1F1F"/>
                </a:solidFill>
                <a:latin typeface="Arial"/>
              </a:rPr>
              <a:t>11.7%</a:t>
            </a:r>
            <a:endParaRPr sz="1100"/>
          </a:p>
        </p:txBody>
      </p:sp>
      <p:cxnSp>
        <p:nvCxnSpPr>
          <p:cNvPr id="47" name="Connector 46"/>
          <p:cNvCxnSpPr/>
          <p:nvPr/>
        </p:nvCxnSpPr>
        <p:spPr>
          <a:xfrm>
            <a:off x="8915400" y="1920240"/>
            <a:ext cx="169163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84563" y="1920240"/>
            <a:ext cx="0" cy="1115568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84563" y="3035808"/>
            <a:ext cx="169165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9253728" y="3438144"/>
            <a:ext cx="2514600" cy="6035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345167" y="3465575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Leases + D&amp;A / revenue</a:t>
            </a:r>
            <a:endParaRPr sz="950"/>
          </a:p>
        </p:txBody>
      </p:sp>
      <p:sp>
        <p:nvSpPr>
          <p:cNvPr id="52" name="TextBox 51"/>
          <p:cNvSpPr txBox="1"/>
          <p:nvPr/>
        </p:nvSpPr>
        <p:spPr>
          <a:xfrm>
            <a:off x="9345167" y="3730752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0" i="0">
                <a:solidFill>
                  <a:srgbClr val="1F1F1F"/>
                </a:solidFill>
                <a:latin typeface="Arial"/>
              </a:rPr>
              <a:t>12.2%  →  </a:t>
            </a:r>
            <a:r>
              <a:rPr sz="1100" b="1" i="0">
                <a:solidFill>
                  <a:srgbClr val="1F1F1F"/>
                </a:solidFill>
                <a:latin typeface="Arial"/>
              </a:rPr>
              <a:t>12.2%</a:t>
            </a:r>
            <a:endParaRPr sz="1100"/>
          </a:p>
        </p:txBody>
      </p:sp>
      <p:cxnSp>
        <p:nvCxnSpPr>
          <p:cNvPr id="53" name="Connector 52"/>
          <p:cNvCxnSpPr/>
          <p:nvPr/>
        </p:nvCxnSpPr>
        <p:spPr>
          <a:xfrm>
            <a:off x="8915400" y="1920240"/>
            <a:ext cx="169163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084563" y="1920240"/>
            <a:ext cx="0" cy="1819656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084563" y="3739896"/>
            <a:ext cx="169165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9253728" y="4434840"/>
            <a:ext cx="2514600" cy="6035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345167" y="4462272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Capex / revenue</a:t>
            </a:r>
            <a:endParaRPr sz="950"/>
          </a:p>
        </p:txBody>
      </p:sp>
      <p:sp>
        <p:nvSpPr>
          <p:cNvPr id="58" name="TextBox 57"/>
          <p:cNvSpPr txBox="1"/>
          <p:nvPr/>
        </p:nvSpPr>
        <p:spPr>
          <a:xfrm>
            <a:off x="9345167" y="4727448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0" i="0">
                <a:solidFill>
                  <a:srgbClr val="1F1F1F"/>
                </a:solidFill>
                <a:latin typeface="Arial"/>
              </a:rPr>
              <a:t>5.0%  →  </a:t>
            </a:r>
            <a:r>
              <a:rPr sz="1100" b="1" i="0">
                <a:solidFill>
                  <a:srgbClr val="1F1F1F"/>
                </a:solidFill>
                <a:latin typeface="Arial"/>
              </a:rPr>
              <a:t>7.5%</a:t>
            </a:r>
            <a:endParaRPr sz="1100"/>
          </a:p>
        </p:txBody>
      </p:sp>
      <p:sp>
        <p:nvSpPr>
          <p:cNvPr id="59" name="Rectangle 58"/>
          <p:cNvSpPr/>
          <p:nvPr/>
        </p:nvSpPr>
        <p:spPr>
          <a:xfrm>
            <a:off x="9253728" y="5138928"/>
            <a:ext cx="2514600" cy="603504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345167" y="5166360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950" b="1" i="0">
                <a:solidFill>
                  <a:srgbClr val="003255"/>
                </a:solidFill>
                <a:latin typeface="Arial"/>
              </a:rPr>
              <a:t>Capex / D&amp;A</a:t>
            </a:r>
            <a:endParaRPr sz="950"/>
          </a:p>
        </p:txBody>
      </p:sp>
      <p:sp>
        <p:nvSpPr>
          <p:cNvPr id="61" name="TextBox 60"/>
          <p:cNvSpPr txBox="1"/>
          <p:nvPr/>
        </p:nvSpPr>
        <p:spPr>
          <a:xfrm>
            <a:off x="9345167" y="5431536"/>
            <a:ext cx="2331720" cy="31089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100" b="0" i="0">
                <a:solidFill>
                  <a:srgbClr val="1F1F1F"/>
                </a:solidFill>
                <a:latin typeface="Arial"/>
              </a:rPr>
              <a:t>1.14x  →  </a:t>
            </a:r>
            <a:r>
              <a:rPr sz="1100" b="1" i="0">
                <a:solidFill>
                  <a:srgbClr val="1F1F1F"/>
                </a:solidFill>
                <a:latin typeface="Arial"/>
              </a:rPr>
              <a:t>1.70x</a:t>
            </a:r>
            <a:endParaRPr sz="1100"/>
          </a:p>
        </p:txBody>
      </p:sp>
      <p:cxnSp>
        <p:nvCxnSpPr>
          <p:cNvPr id="62" name="Connector 61"/>
          <p:cNvCxnSpPr/>
          <p:nvPr/>
        </p:nvCxnSpPr>
        <p:spPr>
          <a:xfrm>
            <a:off x="8915400" y="5394959"/>
            <a:ext cx="169163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9084563" y="4736592"/>
            <a:ext cx="0" cy="658367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084563" y="4736592"/>
            <a:ext cx="169165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915400" y="5394959"/>
            <a:ext cx="169163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084563" y="5394959"/>
            <a:ext cx="0" cy="45721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084563" y="5440680"/>
            <a:ext cx="169165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2944368" y="3602736"/>
            <a:ext cx="242316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186684" y="2377440"/>
            <a:ext cx="0" cy="1225296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186684" y="2377440"/>
            <a:ext cx="242316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944368" y="3602736"/>
            <a:ext cx="242316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186684" y="3602736"/>
            <a:ext cx="0" cy="1335023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186684" y="4937759"/>
            <a:ext cx="242316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943600" y="2377440"/>
            <a:ext cx="228600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172200" y="1920240"/>
            <a:ext cx="0" cy="45720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172200" y="1920240"/>
            <a:ext cx="228600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943600" y="2377440"/>
            <a:ext cx="228600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172200" y="2377440"/>
            <a:ext cx="0" cy="45720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172200" y="2834640"/>
            <a:ext cx="228600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943600" y="4937759"/>
            <a:ext cx="228600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6172200" y="4480559"/>
            <a:ext cx="0" cy="45720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172200" y="4480559"/>
            <a:ext cx="228600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5943600" y="4937759"/>
            <a:ext cx="228600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172200" y="4937759"/>
            <a:ext cx="0" cy="45720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6172200" y="5394959"/>
            <a:ext cx="228600" cy="0"/>
          </a:xfrm>
          <a:prstGeom prst="line">
            <a:avLst/>
          </a:prstGeom>
          <a:ln w="12700">
            <a:solidFill>
              <a:srgbClr val="BFC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Oval 85"/>
          <p:cNvSpPr/>
          <p:nvPr/>
        </p:nvSpPr>
        <p:spPr>
          <a:xfrm>
            <a:off x="4480560" y="3401568"/>
            <a:ext cx="402336" cy="4023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03255"/>
                </a:solidFill>
                <a:latin typeface="Arial"/>
              </a:rPr>
              <a:t>×</a:t>
            </a:r>
            <a:endParaRPr sz="1600"/>
          </a:p>
        </p:txBody>
      </p:sp>
      <p:sp>
        <p:nvSpPr>
          <p:cNvPr id="87" name="Rectangle 86"/>
          <p:cNvSpPr/>
          <p:nvPr/>
        </p:nvSpPr>
        <p:spPr>
          <a:xfrm>
            <a:off x="429768" y="5257800"/>
            <a:ext cx="2514600" cy="868680"/>
          </a:xfrm>
          <a:prstGeom prst="rect">
            <a:avLst/>
          </a:prstGeom>
          <a:solidFill>
            <a:srgbClr val="DC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521207" y="5285232"/>
            <a:ext cx="2331720" cy="822960"/>
          </a:xfrm>
          <a:prstGeom prst="rect">
            <a:avLst/>
          </a:prstGeom>
          <a:noFill/>
        </p:spPr>
        <p:txBody>
          <a:bodyPr wrap="square" lIns="18288" rIns="18288" tIns="18288" bIns="18288" anchor="ctr"/>
          <a:lstStyle/>
          <a:p>
            <a:pPr algn="l">
              <a:buNone/>
            </a:pPr>
            <a:r>
              <a:rPr sz="1100" b="1" i="0">
                <a:solidFill>
                  <a:srgbClr val="003255"/>
                </a:solidFill>
                <a:latin typeface="Arial"/>
              </a:rPr>
              <a:t>WACC 9.0%</a:t>
            </a:r>
            <a:endParaRPr sz="1100"/>
          </a:p>
          <a:p>
            <a:pPr algn="l">
              <a:buNone/>
            </a:pPr>
            <a:r>
              <a:rPr sz="900" b="0" i="0">
                <a:solidFill>
                  <a:srgbClr val="1F1F1F"/>
                </a:solidFill>
                <a:latin typeface="Arial"/>
              </a:rPr>
              <a:t>Spread to ROIC: 12pp in 2028E – growth creates value.</a:t>
            </a:r>
            <a:endParaRPr sz="900"/>
          </a:p>
        </p:txBody>
      </p:sp>
      <p:sp>
        <p:nvSpPr>
          <p:cNvPr id="89" name="TextBox 88"/>
          <p:cNvSpPr txBox="1"/>
          <p:nvPr/>
        </p:nvSpPr>
        <p:spPr>
          <a:xfrm>
            <a:off x="429768" y="1325880"/>
            <a:ext cx="2651760" cy="457200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>
              <a:buNone/>
            </a:pPr>
            <a:r>
              <a:rPr sz="1000" b="1" i="0">
                <a:solidFill>
                  <a:srgbClr val="003255"/>
                </a:solidFill>
                <a:latin typeface="Arial"/>
              </a:rPr>
              <a:t>How to read</a:t>
            </a:r>
            <a:endParaRPr sz="1000"/>
          </a:p>
          <a:p>
            <a:pPr algn="l">
              <a:buNone/>
            </a:pPr>
            <a:r>
              <a:rPr sz="900" b="0" i="0">
                <a:solidFill>
                  <a:srgbClr val="6B7480"/>
                </a:solidFill>
                <a:latin typeface="Arial"/>
              </a:rPr>
              <a:t>2025A → 2028E for each driver</a:t>
            </a:r>
            <a:endParaRPr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and framework library – equity research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
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Denmark &amp; Finland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2690</c:v>
                </c:pt>
                <c:pt idx="1">
                  <c:v>1785</c:v>
                </c:pt>
                <c:pt idx="2">
                  <c:v>958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Denmark &amp; Finland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347</c:v>
                </c:pt>
                <c:pt idx="1">
                  <c:v>274</c:v>
                </c:pt>
                <c:pt idx="2">
                  <c:v>158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1700"/>
          <c:w val="0.9600"/>
          <c:h val="0.7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3668</c:v>
                </c:pt>
                <c:pt idx="1">
                  <c:v>4262</c:v>
                </c:pt>
                <c:pt idx="2">
                  <c:v>4687</c:v>
                </c:pt>
                <c:pt idx="3">
                  <c:v>5045</c:v>
                </c:pt>
                <c:pt idx="4">
                  <c:v>5433</c:v>
                </c:pt>
                <c:pt idx="5">
                  <c:v>5726.447959148221</c:v>
                </c:pt>
                <c:pt idx="6">
                  <c:v>6083.842720592843</c:v>
                </c:pt>
                <c:pt idx="7">
                  <c:v>6479.028157707458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adj.(1)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443.8</c:v>
                </c:pt>
                <c:pt idx="1">
                  <c:v>579.5999999999998</c:v>
                </c:pt>
                <c:pt idx="2">
                  <c:v>712.3999999999997</c:v>
                </c:pt>
                <c:pt idx="3">
                  <c:v>827.4000000000001</c:v>
                </c:pt>
                <c:pt idx="4">
                  <c:v>950.6999999999999</c:v>
                </c:pt>
                <c:pt idx="5">
                  <c:v>999.5961047647056</c:v>
                </c:pt>
                <c:pt idx="6">
                  <c:v>1075.181160423324</c:v>
                </c:pt>
                <c:pt idx="7">
                  <c:v>1167.7030689374428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 adj. margin</c:v>
                </c:pt>
              </c:strCache>
            </c:strRef>
          </c:tx>
          <c:spPr>
            <a:ln w="28575" cap="rnd">
              <a:solidFill>
                <a:srgbClr val="C9A227"/>
              </a:solidFill>
              <a:round/>
            </a:ln>
          </c:spPr>
          <c:marker>
            <c:symbol val="circle"/>
            <c:size val="5"/>
            <c:spPr>
              <a:solidFill>
                <a:srgbClr val="C9A227"/>
              </a:solidFill>
              <a:ln>
                <a:noFill/>
              </a:ln>
            </c:spPr>
          </c:marker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7A6A1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Sheet1!$D$2:$D$9</c:f>
              <c:numCache>
                <c:formatCode>0</c:formatCode>
                <c:ptCount val="8"/>
                <c:pt idx="0">
                  <c:v>0.12099236641221374</c:v>
                </c:pt>
                <c:pt idx="1">
                  <c:v>0.13599249178789297</c:v>
                </c:pt>
                <c:pt idx="2">
                  <c:v>0.15199487945380835</c:v>
                </c:pt>
                <c:pt idx="3">
                  <c:v>0.16400396432111003</c:v>
                </c:pt>
                <c:pt idx="4">
                  <c:v>0.17498619547211483</c:v>
                </c:pt>
                <c:pt idx="5">
                  <c:v>0.17455779077985198</c:v>
                </c:pt>
                <c:pt idx="6">
                  <c:v>0.1767273103204996</c:v>
                </c:pt>
                <c:pt idx="7">
                  <c:v>0.1802281207172008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42.49364444656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0.2296"/>
          <c:min val="-0.264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0400"/>
          <c:w val="0.9600"/>
          <c:h val="0.84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003255"/>
              </a:solidFill>
            </c:spPr>
          </c:dPt>
          <c:dPt>
            <c:idx val="1"/>
            <c:invertIfNegative val="0"/>
            <c:spPr>
              <a:solidFill>
                <a:srgbClr val="003255"/>
              </a:solidFill>
            </c:spPr>
          </c:dPt>
          <c:dPt>
            <c:idx val="2"/>
            <c:invertIfNegative val="0"/>
            <c:spPr>
              <a:solidFill>
                <a:srgbClr val="003255"/>
              </a:solidFill>
            </c:spPr>
          </c:dPt>
          <c:dPt>
            <c:idx val="3"/>
            <c:invertIfNegative val="0"/>
            <c:spPr>
              <a:solidFill>
                <a:srgbClr val="003255"/>
              </a:solidFill>
            </c:spPr>
          </c:dPt>
          <c:dPt>
            <c:idx val="4"/>
            <c:invertIfNegative val="0"/>
            <c:spPr>
              <a:solidFill>
                <a:srgbClr val="003255"/>
              </a:solidFill>
            </c:spPr>
          </c:dPt>
          <c:dPt>
            <c:idx val="5"/>
            <c:invertIfNegative val="0"/>
            <c:spPr>
              <a:solidFill>
                <a:srgbClr val="003255"/>
              </a:solidFill>
            </c:spPr>
          </c:dPt>
          <c:dPt>
            <c:idx val="6"/>
            <c:invertIfNegative val="0"/>
            <c:spPr>
              <a:solidFill>
                <a:srgbClr val="003255"/>
              </a:solidFill>
            </c:spPr>
          </c:dPt>
          <c:dPt>
            <c:idx val="7"/>
            <c:invertIfNegative val="0"/>
            <c:spPr>
              <a:solidFill>
                <a:srgbClr val="81B0C0"/>
              </a:solidFill>
            </c:spPr>
          </c:dPt>
          <c:dPt>
            <c:idx val="8"/>
            <c:invertIfNegative val="0"/>
            <c:spPr>
              <a:solidFill>
                <a:srgbClr val="81B0C0"/>
              </a:solidFill>
            </c:spPr>
          </c:dPt>
          <c:dPt>
            <c:idx val="9"/>
            <c:invertIfNegative val="0"/>
            <c:spPr>
              <a:solidFill>
                <a:srgbClr val="81B0C0"/>
              </a:solidFill>
            </c:spPr>
          </c:dPt>
          <c:dPt>
            <c:idx val="10"/>
            <c:invertIfNegative val="0"/>
            <c:spPr>
              <a:solidFill>
                <a:srgbClr val="81B0C0"/>
              </a:solidFill>
            </c:spPr>
          </c:dPt>
          <c:dPt>
            <c:idx val="11"/>
            <c:invertIfNegative val="0"/>
            <c:spPr>
              <a:solidFill>
                <a:srgbClr val="81B0C0"/>
              </a:solidFill>
            </c:spPr>
          </c:dPt>
          <c:cat>
            <c:strRef>
              <c:f>Sheet1!$A$2:$A$13</c:f>
              <c:strCache>
                <c:ptCount val="12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2026E</c:v>
                </c:pt>
                <c:pt idx="8">
                  <c:v>2027E</c:v>
                </c:pt>
                <c:pt idx="9">
                  <c:v>2028E</c:v>
                </c:pt>
                <c:pt idx="10">
                  <c:v>2029E</c:v>
                </c:pt>
                <c:pt idx="11">
                  <c:v>2030E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29.0</c:v>
                </c:pt>
                <c:pt idx="1">
                  <c:v>26.5</c:v>
                </c:pt>
                <c:pt idx="2">
                  <c:v>28.0</c:v>
                </c:pt>
                <c:pt idx="3">
                  <c:v>31.4</c:v>
                </c:pt>
                <c:pt idx="4">
                  <c:v>33.6</c:v>
                </c:pt>
                <c:pt idx="5">
                  <c:v>35.2</c:v>
                </c:pt>
                <c:pt idx="6">
                  <c:v>36.8</c:v>
                </c:pt>
                <c:pt idx="7">
                  <c:v>38.3</c:v>
                </c:pt>
                <c:pt idx="8">
                  <c:v>39.8</c:v>
                </c:pt>
                <c:pt idx="9">
                  <c:v>41.4</c:v>
                </c:pt>
                <c:pt idx="10">
                  <c:v>42.9</c:v>
                </c:pt>
                <c:pt idx="11">
                  <c:v>44.5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Example Company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0.16194111232279162</c:v>
                </c:pt>
                <c:pt idx="1">
                  <c:v>0.09971844204598779</c:v>
                </c:pt>
                <c:pt idx="2">
                  <c:v>0.0763814806912737</c:v>
                </c:pt>
                <c:pt idx="3">
                  <c:v>0.07690782953419228</c:v>
                </c:pt>
                <c:pt idx="4">
                  <c:v>0.054012140465345304</c:v>
                </c:pt>
                <c:pt idx="5">
                  <c:v>0.062411247599599706</c:v>
                </c:pt>
                <c:pt idx="6">
                  <c:v>0.06495655053293459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0.12142857142857144</c:v>
                </c:pt>
                <c:pt idx="1">
                  <c:v>0.07006369426751591</c:v>
                </c:pt>
                <c:pt idx="2">
                  <c:v>0.04761904761904767</c:v>
                </c:pt>
                <c:pt idx="3">
                  <c:v>0.04545454545454519</c:v>
                </c:pt>
                <c:pt idx="4">
                  <c:v>0.040760869565217295</c:v>
                </c:pt>
                <c:pt idx="5">
                  <c:v>0.039164490861618884</c:v>
                </c:pt>
                <c:pt idx="6">
                  <c:v>0.04020100502512558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</c:spPr>
          </c:dPt>
          <c:dPt>
            <c:idx val="1"/>
            <c:spPr>
              <a:solidFill>
                <a:srgbClr val="4F7FA0"/>
              </a:solidFill>
            </c:spPr>
          </c:dPt>
          <c:dPt>
            <c:idx val="2"/>
            <c:spPr>
              <a:solidFill>
                <a:srgbClr val="81B0C0"/>
              </a:solidFill>
            </c:spPr>
          </c:dPt>
          <c:dPt>
            <c:idx val="3"/>
            <c:spPr>
              <a:solidFill>
                <a:srgbClr val="A9C8D3"/>
              </a:solidFill>
            </c:spPr>
          </c:dPt>
          <c:dPt>
            <c:idx val="4"/>
            <c:spPr>
              <a:solidFill>
                <a:srgbClr val="C9D1D9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Example Company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0.15</c:v>
                </c:pt>
                <c:pt idx="1">
                  <c:v>0.12</c:v>
                </c:pt>
                <c:pt idx="2">
                  <c:v>0.09</c:v>
                </c:pt>
                <c:pt idx="3">
                  <c:v>0.06</c:v>
                </c:pt>
                <c:pt idx="4">
                  <c:v>0.58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locations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0.02308493255874712</c:v>
                </c:pt>
                <c:pt idx="1">
                  <c:v>0.02376248044663918</c:v>
                </c:pt>
                <c:pt idx="2">
                  <c:v>0.028595250662435498</c:v>
                </c:pt>
                <c:pt idx="3">
                  <c:v>0.01069879972855466</c:v>
                </c:pt>
                <c:pt idx="4">
                  <c:v>0.022696934188118734</c:v>
                </c:pt>
                <c:pt idx="5">
                  <c:v>0.02813588864578872</c:v>
                </c:pt>
                <c:pt idx="6">
                  <c:v>0.027556368273978376</c:v>
                </c:pt>
                <c:pt idx="7">
                  <c:v>0.024045892554278712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0.02754831351209397</c:v>
                </c:pt>
                <c:pt idx="1">
                  <c:v>0.0069352889216947496</c:v>
                </c:pt>
                <c:pt idx="2">
                  <c:v>0.004041160888322626</c:v>
                </c:pt>
                <c:pt idx="3">
                  <c:v>0.010011142815384913</c:v>
                </c:pt>
                <c:pt idx="4">
                  <c:v>0.009139361839639686</c:v>
                </c:pt>
                <c:pt idx="5">
                  <c:v>0.0080055795361181</c:v>
                </c:pt>
                <c:pt idx="6">
                  <c:v>0.006802830274505855</c:v>
                </c:pt>
                <c:pt idx="7">
                  <c:v>0.0057729802779034195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Price/mix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Sheet1!$D$2:$D$9</c:f>
              <c:numCache>
                <c:formatCode>0%</c:formatCode>
                <c:ptCount val="8"/>
                <c:pt idx="0">
                  <c:v>0.0490851959751467</c:v>
                </c:pt>
                <c:pt idx="1">
                  <c:v>0.045683711322939774</c:v>
                </c:pt>
                <c:pt idx="2">
                  <c:v>0.04427141798343416</c:v>
                </c:pt>
                <c:pt idx="3">
                  <c:v>0.033302197921405735</c:v>
                </c:pt>
                <c:pt idx="4">
                  <c:v>0.030574951571841286</c:v>
                </c:pt>
                <c:pt idx="5">
                  <c:v>0.028815082351027768</c:v>
                </c:pt>
                <c:pt idx="6">
                  <c:v>0.026893339162260672</c:v>
                </c:pt>
                <c:pt idx="7">
                  <c:v>0.02574547182080441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ln w="2540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5433</c:v>
                </c:pt>
                <c:pt idx="1">
                  <c:v>5560.891777811328</c:v>
                </c:pt>
                <c:pt idx="2">
                  <c:v>5707.966356168339</c:v>
                </c:pt>
                <c:pt idx="3">
                  <c:v>5860.3254482267375</c:v>
                </c:pt>
                <c:pt idx="4">
                  <c:v>5994.7705419172635</c:v>
                </c:pt>
                <c:pt idx="5">
                  <c:v>6101.371924078791</c:v>
                </c:pt>
                <c:pt idx="6">
                  <c:v>6171.858884321899</c:v>
                </c:pt>
                <c:pt idx="7">
                  <c:v>6206.207673136613</c:v>
                </c:pt>
                <c:pt idx="8">
                  <c:v>6214.973852094804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5433</c:v>
                </c:pt>
                <c:pt idx="1">
                  <c:v>5726.447959148221</c:v>
                </c:pt>
                <c:pt idx="2">
                  <c:v>6083.842720592843</c:v>
                </c:pt>
                <c:pt idx="3">
                  <c:v>6479.028157707458</c:v>
                </c:pt>
                <c:pt idx="4">
                  <c:v>6875.885074266413</c:v>
                </c:pt>
                <c:pt idx="5">
                  <c:v>7257.939122327278</c:v>
                </c:pt>
                <c:pt idx="6">
                  <c:v>7613.3094600679</c:v>
                </c:pt>
                <c:pt idx="7">
                  <c:v>7938.822604765159</c:v>
                </c:pt>
                <c:pt idx="8">
                  <c:v>8244.174514192426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ln w="25400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0">
                  <c:v>5433</c:v>
                </c:pt>
                <c:pt idx="1">
                  <c:v>5838.062002852031</c:v>
                </c:pt>
                <c:pt idx="2">
                  <c:v>6354.503402660296</c:v>
                </c:pt>
                <c:pt idx="3">
                  <c:v>6946.087876302471</c:v>
                </c:pt>
                <c:pt idx="4">
                  <c:v>7565.521220590915</c:v>
                </c:pt>
                <c:pt idx="5">
                  <c:v>8191.50102555118</c:v>
                </c:pt>
                <c:pt idx="6">
                  <c:v>8810.636633769045</c:v>
                </c:pt>
                <c:pt idx="7">
                  <c:v>9418.373475172555</c:v>
                </c:pt>
                <c:pt idx="8">
                  <c:v>10024.515035978922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500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200"/>
          <c:y val="0.1000"/>
          <c:w val="0.5000"/>
          <c:h val="0.8600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51.2</c:v>
                </c:pt>
                <c:pt idx="1">
                  <c:v>78.02245063583874</c:v>
                </c:pt>
                <c:pt idx="2">
                  <c:v>12.143148555295909</c:v>
                </c:pt>
                <c:pt idx="3">
                  <c:v>57.70265507126233</c:v>
                </c:pt>
                <c:pt idx="4">
                  <c:v>73.94837470984311</c:v>
                </c:pt>
                <c:pt idx="5">
                  <c:v>78.72240332927612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33.39999999999999</c:v>
                </c:pt>
                <c:pt idx="1">
                  <c:v>24.60427072386753</c:v>
                </c:pt>
                <c:pt idx="2">
                  <c:v>139.34750844043876</c:v>
                </c:pt>
                <c:pt idx="3">
                  <c:v>35.60256953853839</c:v>
                </c:pt>
                <c:pt idx="4">
                  <c:v>31.4502767377642</c:v>
                </c:pt>
                <c:pt idx="5">
                  <c:v>29.395171294346625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6.6397226953081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500"/>
          <c:y val="0.0500"/>
          <c:w val="0.9000"/>
          <c:h val="0.8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NOK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00000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DCF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122</c:v>
                </c:pt>
                <c:pt idx="1">
                  <c:v>139.11050532301047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7.79918218606414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DCF value per share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  <c:size val="6"/>
            <c:spPr>
              <a:solidFill>
                <a:srgbClr val="003255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96.33437080094569</c:v>
                </c:pt>
                <c:pt idx="1">
                  <c:v>104.88959770535864</c:v>
                </c:pt>
                <c:pt idx="2">
                  <c:v>113.4448246097716</c:v>
                </c:pt>
                <c:pt idx="3">
                  <c:v>122.0</c:v>
                </c:pt>
                <c:pt idx="4">
                  <c:v>130.5552784185975</c:v>
                </c:pt>
                <c:pt idx="5">
                  <c:v>139.11050532301047</c:v>
                </c:pt>
                <c:pt idx="6">
                  <c:v>147.66573222742343</c:v>
                </c:pt>
                <c:pt idx="7">
                  <c:v>156.22095913183637</c:v>
                </c:pt>
                <c:pt idx="8">
                  <c:v>164.77618603624933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price</c:v>
                </c:pt>
              </c:strCache>
            </c:strRef>
          </c:tx>
          <c:spPr>
            <a:ln w="19050">
              <a:solidFill>
                <a:srgbClr val="C00000"/>
              </a:solidFill>
              <a:prstDash val="dash"/>
            </a:ln>
          </c:spPr>
          <c:marker>
            <c:symbol val="none"/>
            <c:size val="6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122</c:v>
                </c:pt>
                <c:pt idx="1">
                  <c:v>122</c:v>
                </c:pt>
                <c:pt idx="2">
                  <c:v>122</c:v>
                </c:pt>
                <c:pt idx="3">
                  <c:v>122</c:v>
                </c:pt>
                <c:pt idx="4">
                  <c:v>122</c:v>
                </c:pt>
                <c:pt idx="5">
                  <c:v>122</c:v>
                </c:pt>
                <c:pt idx="6">
                  <c:v>122</c:v>
                </c:pt>
                <c:pt idx="7">
                  <c:v>122</c:v>
                </c:pt>
                <c:pt idx="8">
                  <c:v>122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Market-implied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1"/>
            <c:spPr>
              <a:solidFill>
                <a:srgbClr val="C0000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3">
                  <c:v>122.0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 base case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1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Sheet1!$E$2:$E$10</c:f>
              <c:numCache>
                <c:formatCode>0</c:formatCode>
                <c:ptCount val="9"/>
                <c:pt idx="5">
                  <c:v>139.11050532301047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500"/>
          <c:w val="0.9400"/>
          <c:h val="0.8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DCF value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C00000"/>
              </a:solidFill>
            </c:spPr>
          </c:dPt>
          <c:dPt>
            <c:idx val="1"/>
            <c:invertIfNegative val="0"/>
            <c:spPr>
              <a:solidFill>
                <a:srgbClr val="003255"/>
              </a:solidFill>
            </c:spPr>
          </c:dPt>
          <c:dPt>
            <c:idx val="2"/>
            <c:invertIfNegative val="0"/>
            <c:spPr>
              <a:solidFill>
                <a:srgbClr val="2E7D32"/>
              </a:solidFill>
            </c:spPr>
          </c:dPt>
          <c:cat>
            <c:strRef>
              <c:f>Sheet1!$A$2:$A$4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62.14314855529591</c:v>
                </c:pt>
                <c:pt idx="1">
                  <c:v>139.11050532301047</c:v>
                </c:pt>
                <c:pt idx="2">
                  <c:v>201.49065699573467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1.86332124466833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locations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0.06657617939611661</c:v>
                </c:pt>
                <c:pt idx="1">
                  <c:v>0.02308493255874712</c:v>
                </c:pt>
                <c:pt idx="2">
                  <c:v>0.02376248044663918</c:v>
                </c:pt>
                <c:pt idx="3">
                  <c:v>0.028595250662435498</c:v>
                </c:pt>
                <c:pt idx="4">
                  <c:v>0.01069879972855466</c:v>
                </c:pt>
                <c:pt idx="5">
                  <c:v>0.022696934188118734</c:v>
                </c:pt>
                <c:pt idx="6">
                  <c:v>0.02813588864578872</c:v>
                </c:pt>
                <c:pt idx="7">
                  <c:v>0.027556368273978376</c:v>
                </c:pt>
                <c:pt idx="8">
                  <c:v>0.024045892554278712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 volume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0.0436890670042194</c:v>
                </c:pt>
                <c:pt idx="1">
                  <c:v>0.02754831351209397</c:v>
                </c:pt>
                <c:pt idx="2">
                  <c:v>0.0069352889216947496</c:v>
                </c:pt>
                <c:pt idx="3">
                  <c:v>0.004041160888322626</c:v>
                </c:pt>
                <c:pt idx="4">
                  <c:v>0.010011142815384913</c:v>
                </c:pt>
                <c:pt idx="5">
                  <c:v>0.009139361839639686</c:v>
                </c:pt>
                <c:pt idx="6">
                  <c:v>0.0080055795361181</c:v>
                </c:pt>
                <c:pt idx="7">
                  <c:v>0.006802830274505855</c:v>
                </c:pt>
                <c:pt idx="8">
                  <c:v>0.0057729802779034195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Price/mix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Sheet1!$D$2:$D$10</c:f>
              <c:numCache>
                <c:formatCode>0%</c:formatCode>
                <c:ptCount val="9"/>
                <c:pt idx="0">
                  <c:v>0.05167586592245561</c:v>
                </c:pt>
                <c:pt idx="1">
                  <c:v>0.0490851959751467</c:v>
                </c:pt>
                <c:pt idx="2">
                  <c:v>0.045683711322939774</c:v>
                </c:pt>
                <c:pt idx="3">
                  <c:v>0.04427141798343416</c:v>
                </c:pt>
                <c:pt idx="4">
                  <c:v>0.033302197921405735</c:v>
                </c:pt>
                <c:pt idx="5">
                  <c:v>0.030574951571841286</c:v>
                </c:pt>
                <c:pt idx="6">
                  <c:v>0.028815082351027768</c:v>
                </c:pt>
                <c:pt idx="7">
                  <c:v>0.026893339162260672</c:v>
                </c:pt>
                <c:pt idx="8">
                  <c:v>0.02574547182080441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5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50"/>
          </a:pPr>
        </a:p>
      </c:txPr>
    </c:legend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Locations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Sheet1!$B$2:$B$12</c:f>
              <c:numCache>
                <c:formatCode>0</c:formatCode>
                <c:ptCount val="11"/>
                <c:pt idx="0">
                  <c:v>184</c:v>
                </c:pt>
                <c:pt idx="1">
                  <c:v>188</c:v>
                </c:pt>
                <c:pt idx="2">
                  <c:v>201</c:v>
                </c:pt>
                <c:pt idx="3">
                  <c:v>206</c:v>
                </c:pt>
                <c:pt idx="4">
                  <c:v>211</c:v>
                </c:pt>
                <c:pt idx="5">
                  <c:v>217</c:v>
                </c:pt>
                <c:pt idx="6">
                  <c:v>224</c:v>
                </c:pt>
                <c:pt idx="7">
                  <c:v>231</c:v>
                </c:pt>
                <c:pt idx="8">
                  <c:v>238</c:v>
                </c:pt>
                <c:pt idx="9">
                  <c:v>244</c:v>
                </c:pt>
                <c:pt idx="10">
                  <c:v>249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50">
                  <a:solidFill>
                    <a:srgbClr val="003255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per average location (rhs)</c:v>
                </c:pt>
              </c:strCache>
            </c:strRef>
          </c:tx>
          <c:spPr>
            <a:ln w="28575" cap="rnd">
              <a:solidFill>
                <a:srgbClr val="003255"/>
              </a:solidFill>
              <a:round/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50" b="1">
                    <a:solidFill>
                      <a:srgbClr val="0032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Sheet1!$C$2:$C$12</c:f>
              <c:numCache>
                <c:formatCode>0</c:formatCode>
                <c:ptCount val="11"/>
                <c:pt idx="0">
                  <c:v>18.950819672131146</c:v>
                </c:pt>
                <c:pt idx="1">
                  <c:v>19.72043010752688</c:v>
                </c:pt>
                <c:pt idx="2">
                  <c:v>21.912596401028278</c:v>
                </c:pt>
                <c:pt idx="3">
                  <c:v>23.03194103194103</c:v>
                </c:pt>
                <c:pt idx="4">
                  <c:v>24.19664268585132</c:v>
                </c:pt>
                <c:pt idx="5">
                  <c:v>25.38785046728972</c:v>
                </c:pt>
                <c:pt idx="6">
                  <c:v>25.970285529016877</c:v>
                </c:pt>
                <c:pt idx="7">
                  <c:v>26.742165804803705</c:v>
                </c:pt>
                <c:pt idx="8">
                  <c:v>27.62911794331539</c:v>
                </c:pt>
                <c:pt idx="9">
                  <c:v>28.53064346168636</c:v>
                </c:pt>
                <c:pt idx="10">
                  <c:v>29.443972098690782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1.0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35.32013745756418"/>
          <c:min val="-23.021790034107397"/>
        </c:scaling>
        <c:delete val="0"/>
        <c:axPos val="r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50"/>
          </a:pPr>
        </a:p>
      </c:txPr>
    </c:legend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0500"/>
          <c:w val="0.9600"/>
          <c:h val="0.72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EV/EBIT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dPt>
            <c:idx val="0"/>
            <c:invertIfNegative val="0"/>
            <c:spPr>
              <a:solidFill>
                <a:srgbClr val="81B0C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dPt>
            <c:idx val="2"/>
            <c:invertIfNegative val="0"/>
            <c:spPr>
              <a:solidFill>
                <a:srgbClr val="81B0C0"/>
              </a:solidFill>
            </c:spPr>
          </c:dPt>
          <c:dPt>
            <c:idx val="3"/>
            <c:invertIfNegative val="0"/>
            <c:spPr>
              <a:solidFill>
                <a:srgbClr val="81B0C0"/>
              </a:solidFill>
            </c:spPr>
          </c:dPt>
          <c:dPt>
            <c:idx val="4"/>
            <c:invertIfNegative val="0"/>
            <c:spPr>
              <a:solidFill>
                <a:srgbClr val="81B0C0"/>
              </a:solidFill>
            </c:spPr>
          </c:dPt>
          <c:dPt>
            <c:idx val="5"/>
            <c:invertIfNegative val="0"/>
            <c:spPr>
              <a:solidFill>
                <a:srgbClr val="81B0C0"/>
              </a:solidFill>
            </c:spPr>
          </c:dPt>
          <c:dPt>
            <c:idx val="6"/>
            <c:invertIfNegative val="0"/>
            <c:spPr>
              <a:solidFill>
                <a:srgbClr val="81B0C0"/>
              </a:solidFill>
            </c:spPr>
          </c:dPt>
          <c:dPt>
            <c:idx val="7"/>
            <c:invertIfNegative val="0"/>
            <c:spPr>
              <a:solidFill>
                <a:srgbClr val="81B0C0"/>
              </a:solidFill>
            </c:spPr>
          </c:dPt>
          <c:dPt>
            <c:idx val="8"/>
            <c:invertIfNegative val="0"/>
            <c:spPr>
              <a:solidFill>
                <a:srgbClr val="003255"/>
              </a:solidFill>
            </c:spPr>
          </c:dPt>
          <c:cat>
            <c:strRef>
              <c:f>Sheet1!$A$2:$A$10</c:f>
              <c:strCache>
                <c:ptCount val="9"/>
                <c:pt idx="0">
                  <c:v>Peer E</c:v>
                </c:pt>
                <c:pt idx="1">
                  <c:v>Peer F</c:v>
                </c:pt>
                <c:pt idx="2">
                  <c:v>Peer A</c:v>
                </c:pt>
                <c:pt idx="3">
                  <c:v>Peer B</c:v>
                </c:pt>
                <c:pt idx="4">
                  <c:v>Peer G</c:v>
                </c:pt>
                <c:pt idx="5">
                  <c:v>Peer C</c:v>
                </c:pt>
                <c:pt idx="6">
                  <c:v>Peer H</c:v>
                </c:pt>
                <c:pt idx="7">
                  <c:v>Peer D</c:v>
                </c:pt>
                <c:pt idx="8">
                  <c:v>Example Company</c:v>
                </c:pt>
              </c:strCache>
            </c:strRef>
          </c:cat>
          <c:val>
            <c:numRef>
              <c:f>Sheet1!$B$2:$B$10</c:f>
              <c:numCache>
                <c:formatCode>0.0"x"</c:formatCode>
                <c:ptCount val="9"/>
                <c:pt idx="0">
                  <c:v>15.6</c:v>
                </c:pt>
                <c:pt idx="1">
                  <c:v>14.5</c:v>
                </c:pt>
                <c:pt idx="2">
                  <c:v>13.6</c:v>
                </c:pt>
                <c:pt idx="3">
                  <c:v>12.9</c:v>
                </c:pt>
                <c:pt idx="4">
                  <c:v>12.4</c:v>
                </c:pt>
                <c:pt idx="5">
                  <c:v>11.6</c:v>
                </c:pt>
                <c:pt idx="6">
                  <c:v>11.3</c:v>
                </c:pt>
                <c:pt idx="7">
                  <c:v>10.6</c:v>
                </c:pt>
                <c:pt idx="8">
                  <c:v>11.319975277441578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800">
                  <a:solidFill>
                    <a:srgbClr val="FFFFFF"/>
                  </a:solidFill>
                </a:defRPr>
              </a:pPr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Replace the title with your own equity story in 4-6 words (e.g. 'SATS – Healthy body, healthy margins'). Keep the competition name. Update the date line.</a:t>
            </a:r>
          </a:p>
          <a:p/>
          <a:p>
            <a:r>
              <a:t>TALKING POINT: One sentence on who we are and our recommendation: 'We recommend BUY with a target price of NOK 146.'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Update year of study, experience and photos if the team changes. The Pareto rules do not count this slide or the cover towards the 4-slide limit.</a:t>
            </a:r>
          </a:p>
          <a:p/>
          <a:p>
            <a:r>
              <a:t>TALKING POINT: Keep the introduction under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'Company overview' (Pareto rule). Replace the key message, snapshot facts, management and segment names. Charts read from the model (Model sheet).</a:t>
            </a:r>
          </a:p>
          <a:p/>
          <a:p>
            <a:r>
              <a:t>TALKING POINTS: (1) What the company does and why it wins. (2) Growth has been driven by both volume and price. (3) Margins have expanded and returns are far above WACC – quality at a reasonable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All market data on this slide is illustrative. Replace with sourced data (cite every source in the footnote). Keep the heading 'Market overview'.</a:t>
            </a:r>
          </a:p>
          <a:p/>
          <a:p>
            <a:r>
              <a:t>TALKING POINTS: (1) Market size and growth. (2) The company has taken share every year. (3) Fragmented market = consolidation optionality. (4) Opportunities outweigh threats; name the one threat that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'Financials and estimates'. Tables and charts are generated from the model – re-run the deck builder or copy from the Deck_Feed sheet after changing the model.</a:t>
            </a:r>
          </a:p>
          <a:p/>
          <a:p>
            <a:r>
              <a:t>TALKING POINTS: (1) History proves the model works. (2) Growth from new locations, like-for-like and price. (3) Margin expansion from operating leverage – and it is paid for with capex. (4) Strong cash conversion and ROIC. (5) We are above consensus, and the gap widens – that is our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Keep the heading 'Valuation and recommendation'. The sensitivity table, football field and bar charts come from the Sensitivity, Football and Comps sheets.</a:t>
            </a:r>
          </a:p>
          <a:p/>
          <a:p>
            <a:r>
              <a:t>TALKING POINTS: (1) Recommendation and target price first. (2) DCF: NOK 139 with WACC 9.0% and g 2.0%; 25 of 35 cells in the sensitivity grid are above today's price (the value falls below it only at a WACC of 10.0% or more). (3) What the market prices in: an EBIT margin of 17.1% in 2033E vs. our 19.1% – the debate is margins. (4) Peers confirm the gap; target price = blend rolled forward 12 months. (5) Close with the risk/reward: bear vs. bull.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Check the case rules before including an appendix – Pareto's 2026 rules allowed a maximum of four content slides. Keep the appendix as back-up for Q&amp;A if it cannot be submitted.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Copy from the DCF sheet. Be ready to explain the stub period, the mid-year convention and why leases are handled pre-IFRS 16 – judges often ask about terminal value and WACC.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Numbers come from the Reverse_DCF sheet. Lead with the margin: it is the one driver where we have a view. Be ready to explain why the market is too cautious – and what would prove it (Thesis sheet).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Scenario adjustments and probabilities live on the Drivers sheet (section B); outcomes come from the scenario data table on the Sensitivity sheet; stories and signposts from the Thesis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Kill criteria and signposts live on the Thesis sheet. Update the latest actuals after every report – a BROKEN status is a reason to revisit the recommendation, not to argue with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Consensus inputs and the variant perception live on the Consensus sheet. A pitch without a clear difference to consensus has no edge – say what the market misses, why, and when it will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Location mode (Inputs: revenue build = 2). Openings, like-for-like growth and capex per location are on Drivers A; the ramp-up curve on Drivers F. Check the ramp-up against the company's own disclosures.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Paste the case peer table into the Comps sheet (rows 6-13). Choose the multiples to include (column J) and the forecast year (Inputs). Explain why the peers are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Drivers come from the Drivers sheet (section A) with the 3-year historical average for reference. Explain any driver that deviates from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TEMPLATE: Replace with company-specific risks and place them on the matrix (probability, impact). Link each major risk to the bear case so the audience sees it is priced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Delete this slide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34847" y="868680"/>
            <a:ext cx="548640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Cambria"/>
              </a:rPr>
              <a:t>Equity Research Toolkit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221638" y="2817266"/>
            <a:ext cx="8778240" cy="1079906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Example Company ASA – Compounding quality at a discount</a:t>
            </a:r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1221638" y="4201668"/>
            <a:ext cx="8778240" cy="82753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Pareto Equity Research Competition 2026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21638" y="5661050"/>
            <a:ext cx="8778240" cy="30815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[Case dates, e.g. 09 – 12.02.26]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Case-team</a:t>
            </a:r>
            <a:endParaRPr sz="2600"/>
          </a:p>
        </p:txBody>
      </p:sp>
      <p:sp>
        <p:nvSpPr>
          <p:cNvPr id="3" name="TextBox 2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CBS case team with a passion for equity research – presenting a model-driven investment case</a:t>
            </a:r>
            <a:endParaRPr sz="1400"/>
          </a:p>
        </p:txBody>
      </p:sp>
      <p:cxnSp>
        <p:nvCxnSpPr>
          <p:cNvPr id="4" name="Connector 3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7" name="TextBox 6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</a:t>
            </a:r>
            <a:endParaRPr sz="900"/>
          </a:p>
        </p:txBody>
      </p:sp>
      <p:sp>
        <p:nvSpPr>
          <p:cNvPr id="8" name="Rectangle 7"/>
          <p:cNvSpPr/>
          <p:nvPr/>
        </p:nvSpPr>
        <p:spPr>
          <a:xfrm>
            <a:off x="429768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9" name="TextBox 8"/>
          <p:cNvSpPr txBox="1"/>
          <p:nvPr/>
        </p:nvSpPr>
        <p:spPr>
          <a:xfrm>
            <a:off x="1984248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0" name="Rectangle 9"/>
          <p:cNvSpPr/>
          <p:nvPr/>
        </p:nvSpPr>
        <p:spPr>
          <a:xfrm>
            <a:off x="429768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1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4270248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12" name="TextBox 11"/>
          <p:cNvSpPr txBox="1"/>
          <p:nvPr/>
        </p:nvSpPr>
        <p:spPr>
          <a:xfrm>
            <a:off x="5824728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3" name="Rectangle 12"/>
          <p:cNvSpPr/>
          <p:nvPr/>
        </p:nvSpPr>
        <p:spPr>
          <a:xfrm>
            <a:off x="4270248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2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8110727" y="1600200"/>
            <a:ext cx="1389888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2200" b="1" i="0">
                <a:solidFill>
                  <a:srgbClr val="6B7480"/>
                </a:solidFill>
                <a:latin typeface="Arial"/>
              </a:rPr>
              <a:t>TM</a:t>
            </a:r>
            <a:endParaRPr sz="2200"/>
          </a:p>
        </p:txBody>
      </p:sp>
      <p:sp>
        <p:nvSpPr>
          <p:cNvPr id="15" name="TextBox 14"/>
          <p:cNvSpPr txBox="1"/>
          <p:nvPr/>
        </p:nvSpPr>
        <p:spPr>
          <a:xfrm>
            <a:off x="9665207" y="1645920"/>
            <a:ext cx="2057400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University: [your university]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Year of study: [year]</a:t>
            </a:r>
            <a:endParaRPr sz="1050"/>
          </a:p>
          <a:p>
            <a:pPr algn="l">
              <a:spcAft>
                <a:spcPts val="500"/>
              </a:spcAft>
              <a:buNone/>
            </a:pPr>
            <a:r>
              <a:rPr sz="1050" b="0" i="0">
                <a:solidFill>
                  <a:srgbClr val="1F1F1F"/>
                </a:solidFill>
                <a:latin typeface="Arial"/>
              </a:rPr>
              <a:t>Experience: [relevant experience]</a:t>
            </a:r>
            <a:endParaRPr sz="1050"/>
          </a:p>
        </p:txBody>
      </p:sp>
      <p:sp>
        <p:nvSpPr>
          <p:cNvPr id="16" name="Rectangle 15"/>
          <p:cNvSpPr/>
          <p:nvPr/>
        </p:nvSpPr>
        <p:spPr>
          <a:xfrm>
            <a:off x="8110727" y="3447288"/>
            <a:ext cx="3611880" cy="365760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Team member 3</a:t>
            </a:r>
            <a:endParaRPr sz="1200"/>
          </a:p>
        </p:txBody>
      </p:sp>
      <p:sp>
        <p:nvSpPr>
          <p:cNvPr id="17" name="Rectangle 16"/>
          <p:cNvSpPr/>
          <p:nvPr/>
        </p:nvSpPr>
        <p:spPr>
          <a:xfrm>
            <a:off x="429768" y="4389120"/>
            <a:ext cx="11338560" cy="14173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452628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Why we chose this company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658368" y="4846320"/>
            <a:ext cx="521208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Clear equity story: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market leader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with pricing power and a scalable cost base</a:t>
            </a:r>
            <a:endParaRPr sz="10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A market that underestimates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margin expansion and cash generation</a:t>
            </a:r>
            <a:endParaRPr sz="10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Valuation gap we can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quantify and stress-test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in scenarios</a:t>
            </a:r>
            <a:endParaRPr sz="1050"/>
          </a:p>
        </p:txBody>
      </p:sp>
      <p:sp>
        <p:nvSpPr>
          <p:cNvPr id="20" name="TextBox 19"/>
          <p:cNvSpPr txBox="1"/>
          <p:nvPr/>
        </p:nvSpPr>
        <p:spPr>
          <a:xfrm>
            <a:off x="6281928" y="4526280"/>
            <a:ext cx="51206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How we worked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6281928" y="4846320"/>
            <a:ext cx="530352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Bottom-up model: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locations x volume x price</a:t>
            </a:r>
            <a:r>
              <a:rPr sz="1050" b="0" i="0">
                <a:solidFill>
                  <a:srgbClr val="1F1F1F"/>
                </a:solidFill>
                <a:latin typeface="Arial"/>
              </a:rPr>
              <a:t> per segment, IFRS 16-consistent DCF</a:t>
            </a:r>
            <a:endParaRPr sz="10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Reverse DCF,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consensus gap</a:t>
            </a:r>
            <a:r>
              <a:rPr sz="1050" b="0" i="0">
                <a:solidFill>
                  <a:srgbClr val="1F1F1F"/>
                </a:solidFill>
                <a:latin typeface="Arial"/>
              </a:rPr>
              <a:t>, peers, scenarios and 30 integrity checks</a:t>
            </a:r>
            <a:endParaRPr sz="10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50" b="0" i="0">
                <a:solidFill>
                  <a:srgbClr val="1F1F1F"/>
                </a:solidFill>
                <a:latin typeface="Arial"/>
              </a:rPr>
              <a:t>Every number in this deck ties back to </a:t>
            </a:r>
            <a:r>
              <a:rPr sz="1050" b="1" i="0">
                <a:solidFill>
                  <a:srgbClr val="1F1F1F"/>
                </a:solidFill>
                <a:latin typeface="Arial"/>
              </a:rPr>
              <a:t>one Excel model</a:t>
            </a:r>
            <a:endParaRPr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#1 The equity story of a Nordic market leader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Example Company ASA – the Nordic leader in subscription-based consumer services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Company reports, case team estimates. Example Company ASA is a fictional company – all figures are illustrative.  (1) EBIT adjusted: pre-IFRS 16 and excl. special items.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3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243584"/>
            <a:ext cx="11338559" cy="5029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Example Company ASA is the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#1 operator in the Nordics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with ~15% market share,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779k subscribers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and 217 locations. A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recurring revenue model</a:t>
            </a:r>
            <a:r>
              <a:rPr sz="1100" b="0" i="0">
                <a:solidFill>
                  <a:srgbClr val="FFFFFF"/>
                </a:solidFill>
                <a:latin typeface="Arial"/>
              </a:rPr>
              <a:t>, proven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pricing power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and a scalable cost base support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~19% EBIT margins</a:t>
            </a:r>
            <a:r>
              <a:rPr sz="1100" b="0" i="0">
                <a:solidFill>
                  <a:srgbClr val="FFFFFF"/>
                </a:solidFill>
                <a:latin typeface="Arial"/>
              </a:rPr>
              <a:t> and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ROIC well above WACC</a:t>
            </a:r>
            <a:r>
              <a:rPr sz="1100" b="0" i="0">
                <a:solidFill>
                  <a:srgbClr val="FFFFFF"/>
                </a:solidFill>
                <a:latin typeface="Arial"/>
              </a:rPr>
              <a:t>.</a:t>
            </a:r>
            <a:endParaRPr sz="1100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Company snapshot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148840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3075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5" name="Rectangle 14"/>
          <p:cNvSpPr/>
          <p:nvPr/>
        </p:nvSpPr>
        <p:spPr>
          <a:xfrm>
            <a:off x="429768" y="2231136"/>
            <a:ext cx="36118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39496" y="2322576"/>
          <a:ext cx="3392423" cy="16459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42055"/>
                <a:gridCol w="1650368"/>
              </a:tblGrid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Sector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Consumer services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Headquarters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Oslo, Norway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Listing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Oslo Børs (EXMPL)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Subscribers (2025)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779k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Locations (2025)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217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Employees (FTE)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3,730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Market cap (NOKm)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10,370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0574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1F1F1F"/>
                          </a:solidFill>
                          <a:latin typeface="Arial"/>
                        </a:rPr>
                        <a:t>Enterprise value (NOKm)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 i="0">
                          <a:solidFill>
                            <a:srgbClr val="1F1F1F"/>
                          </a:solidFill>
                          <a:latin typeface="Arial"/>
                        </a:rPr>
                        <a:t>11,445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70248" y="18470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Scalable model with pricing power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70248" y="2148840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57123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0" name="Rectangle 19"/>
          <p:cNvSpPr/>
          <p:nvPr/>
        </p:nvSpPr>
        <p:spPr>
          <a:xfrm>
            <a:off x="4270248" y="2231136"/>
            <a:ext cx="36118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379976" y="2322576"/>
            <a:ext cx="3392424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Recurring revenue: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~90% of sales from monthly subscriptions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Pricing power: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price/mix has added 4-5% p.a. since 2022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Operating leverage: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EBIT adj. margin up from 12.1% (2021A) to 17.5% (2025A)</a:t>
            </a:r>
            <a:endParaRPr sz="95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Capital light: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capex 5.0% of sales and negative working capital</a:t>
            </a:r>
            <a:endParaRPr sz="950"/>
          </a:p>
        </p:txBody>
      </p:sp>
      <p:sp>
        <p:nvSpPr>
          <p:cNvPr id="22" name="TextBox 21"/>
          <p:cNvSpPr txBox="1"/>
          <p:nvPr/>
        </p:nvSpPr>
        <p:spPr>
          <a:xfrm>
            <a:off x="8110727" y="1847088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Experienced management team</a:t>
            </a:r>
            <a:endParaRPr sz="1200"/>
          </a:p>
        </p:txBody>
      </p:sp>
      <p:cxnSp>
        <p:nvCxnSpPr>
          <p:cNvPr id="23" name="Connector 22"/>
          <p:cNvCxnSpPr/>
          <p:nvPr/>
        </p:nvCxnSpPr>
        <p:spPr>
          <a:xfrm>
            <a:off x="8110727" y="2148840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457432" y="1892807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5" name="Rectangle 24"/>
          <p:cNvSpPr/>
          <p:nvPr/>
        </p:nvSpPr>
        <p:spPr>
          <a:xfrm>
            <a:off x="8110727" y="2231136"/>
            <a:ext cx="365760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75319" y="2350008"/>
            <a:ext cx="457200" cy="457200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KN</a:t>
            </a:r>
            <a:endParaRPr sz="1100"/>
          </a:p>
        </p:txBody>
      </p:sp>
      <p:sp>
        <p:nvSpPr>
          <p:cNvPr id="27" name="TextBox 26"/>
          <p:cNvSpPr txBox="1"/>
          <p:nvPr/>
        </p:nvSpPr>
        <p:spPr>
          <a:xfrm>
            <a:off x="8887967" y="2368296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CEO – Kari Nordmann</a:t>
            </a:r>
            <a:endParaRPr sz="1050"/>
          </a:p>
        </p:txBody>
      </p:sp>
      <p:sp>
        <p:nvSpPr>
          <p:cNvPr id="28" name="TextBox 27"/>
          <p:cNvSpPr txBox="1"/>
          <p:nvPr/>
        </p:nvSpPr>
        <p:spPr>
          <a:xfrm>
            <a:off x="8887967" y="2578608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2018; former COO of a Nordic retailer</a:t>
            </a:r>
            <a:endParaRPr sz="900"/>
          </a:p>
        </p:txBody>
      </p:sp>
      <p:sp>
        <p:nvSpPr>
          <p:cNvPr id="29" name="Oval 28"/>
          <p:cNvSpPr/>
          <p:nvPr/>
        </p:nvSpPr>
        <p:spPr>
          <a:xfrm>
            <a:off x="8275319" y="2916936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ON</a:t>
            </a:r>
            <a:endParaRPr sz="1100"/>
          </a:p>
        </p:txBody>
      </p:sp>
      <p:sp>
        <p:nvSpPr>
          <p:cNvPr id="30" name="TextBox 29"/>
          <p:cNvSpPr txBox="1"/>
          <p:nvPr/>
        </p:nvSpPr>
        <p:spPr>
          <a:xfrm>
            <a:off x="8887967" y="2935224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CFO – Ola Nordmann</a:t>
            </a:r>
            <a:endParaRPr sz="1050"/>
          </a:p>
        </p:txBody>
      </p:sp>
      <p:sp>
        <p:nvSpPr>
          <p:cNvPr id="31" name="TextBox 30"/>
          <p:cNvSpPr txBox="1"/>
          <p:nvPr/>
        </p:nvSpPr>
        <p:spPr>
          <a:xfrm>
            <a:off x="8887967" y="3145536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2020; 15 years in corporate finance</a:t>
            </a:r>
            <a:endParaRPr sz="900"/>
          </a:p>
        </p:txBody>
      </p:sp>
      <p:sp>
        <p:nvSpPr>
          <p:cNvPr id="32" name="Oval 31"/>
          <p:cNvSpPr/>
          <p:nvPr/>
        </p:nvSpPr>
        <p:spPr>
          <a:xfrm>
            <a:off x="8275319" y="3483864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MN</a:t>
            </a:r>
            <a:endParaRPr sz="1100"/>
          </a:p>
        </p:txBody>
      </p:sp>
      <p:sp>
        <p:nvSpPr>
          <p:cNvPr id="33" name="TextBox 32"/>
          <p:cNvSpPr txBox="1"/>
          <p:nvPr/>
        </p:nvSpPr>
        <p:spPr>
          <a:xfrm>
            <a:off x="8887967" y="3502152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COO – Mari Nordmann</a:t>
            </a:r>
            <a:endParaRPr sz="1050"/>
          </a:p>
        </p:txBody>
      </p:sp>
      <p:sp>
        <p:nvSpPr>
          <p:cNvPr id="34" name="TextBox 33"/>
          <p:cNvSpPr txBox="1"/>
          <p:nvPr/>
        </p:nvSpPr>
        <p:spPr>
          <a:xfrm>
            <a:off x="8887967" y="3712464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Joined 2016; led the Nordic roll-out</a:t>
            </a:r>
            <a:endParaRPr sz="900"/>
          </a:p>
        </p:txBody>
      </p:sp>
      <p:sp>
        <p:nvSpPr>
          <p:cNvPr id="35" name="TextBox 34"/>
          <p:cNvSpPr txBox="1"/>
          <p:nvPr/>
        </p:nvSpPr>
        <p:spPr>
          <a:xfrm>
            <a:off x="429768" y="41605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and subscriber mix (2025)</a:t>
            </a:r>
            <a:endParaRPr sz="1200"/>
          </a:p>
        </p:txBody>
      </p:sp>
      <p:cxnSp>
        <p:nvCxnSpPr>
          <p:cNvPr id="36" name="Connector 35"/>
          <p:cNvCxnSpPr/>
          <p:nvPr/>
        </p:nvCxnSpPr>
        <p:spPr>
          <a:xfrm>
            <a:off x="429768" y="4462272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73075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8" name="Rectangle 37"/>
          <p:cNvSpPr/>
          <p:nvPr/>
        </p:nvSpPr>
        <p:spPr>
          <a:xfrm>
            <a:off x="429768" y="4544568"/>
            <a:ext cx="3611880" cy="17647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475488" y="4727448"/>
          <a:ext cx="1691640" cy="1325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886968" y="5202936"/>
            <a:ext cx="8686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NOKm</a:t>
            </a:r>
            <a:endParaRPr sz="800"/>
          </a:p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5,433</a:t>
            </a:r>
            <a:endParaRPr sz="800"/>
          </a:p>
        </p:txBody>
      </p:sp>
      <p:sp>
        <p:nvSpPr>
          <p:cNvPr id="41" name="TextBox 40"/>
          <p:cNvSpPr txBox="1"/>
          <p:nvPr/>
        </p:nvSpPr>
        <p:spPr>
          <a:xfrm>
            <a:off x="475488" y="457200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Revenue</a:t>
            </a:r>
            <a:endParaRPr sz="900"/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2258568" y="4727448"/>
          <a:ext cx="1691640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2670048" y="5202936"/>
            <a:ext cx="868680" cy="38404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779k</a:t>
            </a:r>
            <a:endParaRPr sz="800"/>
          </a:p>
        </p:txBody>
      </p:sp>
      <p:sp>
        <p:nvSpPr>
          <p:cNvPr id="44" name="TextBox 43"/>
          <p:cNvSpPr txBox="1"/>
          <p:nvPr/>
        </p:nvSpPr>
        <p:spPr>
          <a:xfrm>
            <a:off x="2258568" y="4572000"/>
            <a:ext cx="16916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Subscribers</a:t>
            </a:r>
            <a:endParaRPr sz="900"/>
          </a:p>
        </p:txBody>
      </p:sp>
      <p:sp>
        <p:nvSpPr>
          <p:cNvPr id="45" name="Rectangle 44"/>
          <p:cNvSpPr/>
          <p:nvPr/>
        </p:nvSpPr>
        <p:spPr>
          <a:xfrm>
            <a:off x="658368" y="6108192"/>
            <a:ext cx="109728" cy="10972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04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Norway</a:t>
            </a:r>
            <a:endParaRPr sz="800"/>
          </a:p>
        </p:txBody>
      </p:sp>
      <p:sp>
        <p:nvSpPr>
          <p:cNvPr id="47" name="Rectangle 46"/>
          <p:cNvSpPr/>
          <p:nvPr/>
        </p:nvSpPr>
        <p:spPr>
          <a:xfrm>
            <a:off x="1801368" y="6108192"/>
            <a:ext cx="109728" cy="10972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947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Sweden</a:t>
            </a:r>
            <a:endParaRPr sz="800"/>
          </a:p>
        </p:txBody>
      </p:sp>
      <p:sp>
        <p:nvSpPr>
          <p:cNvPr id="49" name="Rectangle 48"/>
          <p:cNvSpPr/>
          <p:nvPr/>
        </p:nvSpPr>
        <p:spPr>
          <a:xfrm>
            <a:off x="2944368" y="6108192"/>
            <a:ext cx="109728" cy="109728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090672" y="60624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Denmark &amp; Finland</a:t>
            </a:r>
            <a:endParaRPr sz="800"/>
          </a:p>
        </p:txBody>
      </p:sp>
      <p:sp>
        <p:nvSpPr>
          <p:cNvPr id="51" name="TextBox 50"/>
          <p:cNvSpPr txBox="1"/>
          <p:nvPr/>
        </p:nvSpPr>
        <p:spPr>
          <a:xfrm>
            <a:off x="4270248" y="416052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Consistent growth with margin expansion</a:t>
            </a:r>
            <a:endParaRPr sz="1200"/>
          </a:p>
        </p:txBody>
      </p:sp>
      <p:cxnSp>
        <p:nvCxnSpPr>
          <p:cNvPr id="52" name="Connector 51"/>
          <p:cNvCxnSpPr/>
          <p:nvPr/>
        </p:nvCxnSpPr>
        <p:spPr>
          <a:xfrm>
            <a:off x="4270248" y="4462272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757123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graphicFrame>
        <p:nvGraphicFramePr>
          <p:cNvPr id="54" name="Chart 53"/>
          <p:cNvGraphicFramePr>
            <a:graphicFrameLocks noGrp="1"/>
          </p:cNvGraphicFramePr>
          <p:nvPr/>
        </p:nvGraphicFramePr>
        <p:xfrm>
          <a:off x="4270248" y="4572000"/>
          <a:ext cx="3611880" cy="17830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8110727" y="416052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…and returns well above the cost of capital</a:t>
            </a:r>
            <a:endParaRPr sz="1200"/>
          </a:p>
        </p:txBody>
      </p:sp>
      <p:cxnSp>
        <p:nvCxnSpPr>
          <p:cNvPr id="56" name="Connector 55"/>
          <p:cNvCxnSpPr/>
          <p:nvPr/>
        </p:nvCxnSpPr>
        <p:spPr>
          <a:xfrm>
            <a:off x="8110727" y="446227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457432" y="420624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6</a:t>
            </a:r>
            <a:endParaRPr sz="1200"/>
          </a:p>
        </p:txBody>
      </p:sp>
      <p:sp>
        <p:nvSpPr>
          <p:cNvPr id="58" name="Rectangle 57"/>
          <p:cNvSpPr/>
          <p:nvPr/>
        </p:nvSpPr>
        <p:spPr>
          <a:xfrm>
            <a:off x="8110727" y="4544568"/>
            <a:ext cx="3657600" cy="1764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8110727" y="4572000"/>
          <a:ext cx="3657597" cy="17922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237533"/>
                <a:gridCol w="403344"/>
                <a:gridCol w="403344"/>
                <a:gridCol w="403344"/>
                <a:gridCol w="403344"/>
                <a:gridCol w="403344"/>
                <a:gridCol w="403344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Profitability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28.8%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29.9%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30.2%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Returns &amp; cash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ROIC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17.8%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19.3%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19.8%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20.4%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21.3%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FCF yield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Dividend yield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#2 Attractive market supported by structural tailwinds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 NOK 37bn Nordic market growing ~4% p.a. – Example Company is positioned to keep outgrowing it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Illustrative market data for the template (replace with e.g. SSB, Eurostat, industry reports and company reports). Company growth from the case team model.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4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Nordic market size (NOKbn)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3075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429768" y="1664207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75488" y="1938528"/>
          <a:ext cx="3520440" cy="18105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6" name="Connector 15"/>
          <p:cNvCxnSpPr/>
          <p:nvPr/>
        </p:nvCxnSpPr>
        <p:spPr>
          <a:xfrm flipV="1">
            <a:off x="2376525" y="2129509"/>
            <a:ext cx="1408176" cy="195173"/>
          </a:xfrm>
          <a:prstGeom prst="line">
            <a:avLst/>
          </a:prstGeom>
          <a:ln w="15875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41701" y="1861336"/>
            <a:ext cx="877824" cy="23774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1F1F1F"/>
                </a:solidFill>
                <a:latin typeface="Arial"/>
              </a:rPr>
              <a:t>CAGR +3.9%</a:t>
            </a:r>
            <a:endParaRPr sz="800"/>
          </a:p>
        </p:txBody>
      </p:sp>
      <p:sp>
        <p:nvSpPr>
          <p:cNvPr id="18" name="TextBox 17"/>
          <p:cNvSpPr txBox="1"/>
          <p:nvPr/>
        </p:nvSpPr>
        <p:spPr>
          <a:xfrm>
            <a:off x="539496" y="1737360"/>
            <a:ext cx="18288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Actual (navy) and forecast (light blue)</a:t>
            </a:r>
            <a:endParaRPr sz="750"/>
          </a:p>
        </p:txBody>
      </p:sp>
      <p:sp>
        <p:nvSpPr>
          <p:cNvPr id="19" name="TextBox 18"/>
          <p:cNvSpPr txBox="1"/>
          <p:nvPr/>
        </p:nvSpPr>
        <p:spPr>
          <a:xfrm>
            <a:off x="4270248" y="1280160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Consistently outgrowing the market</a:t>
            </a:r>
            <a:endParaRPr sz="1200"/>
          </a:p>
        </p:txBody>
      </p:sp>
      <p:cxnSp>
        <p:nvCxnSpPr>
          <p:cNvPr id="20" name="Connector 19"/>
          <p:cNvCxnSpPr/>
          <p:nvPr/>
        </p:nvCxnSpPr>
        <p:spPr>
          <a:xfrm>
            <a:off x="4270248" y="1581912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5712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2" name="Rectangle 21"/>
          <p:cNvSpPr/>
          <p:nvPr/>
        </p:nvSpPr>
        <p:spPr>
          <a:xfrm>
            <a:off x="4270248" y="1664207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315968" y="1737360"/>
          <a:ext cx="3520440" cy="2011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29768" y="3822191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Fragmented market – #1 with ~15% share</a:t>
            </a:r>
            <a:endParaRPr sz="1200"/>
          </a:p>
        </p:txBody>
      </p:sp>
      <p:cxnSp>
        <p:nvCxnSpPr>
          <p:cNvPr id="25" name="Connector 24"/>
          <p:cNvCxnSpPr/>
          <p:nvPr/>
        </p:nvCxnSpPr>
        <p:spPr>
          <a:xfrm>
            <a:off x="429768" y="4123944"/>
            <a:ext cx="318211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73075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7" name="Rectangle 26"/>
          <p:cNvSpPr/>
          <p:nvPr/>
        </p:nvSpPr>
        <p:spPr>
          <a:xfrm>
            <a:off x="429768" y="4206240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21207" y="4325112"/>
          <a:ext cx="1828800" cy="187451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88136" y="5084064"/>
            <a:ext cx="694944" cy="365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750" b="1" i="0">
                <a:solidFill>
                  <a:srgbClr val="003255"/>
                </a:solidFill>
                <a:latin typeface="Arial"/>
              </a:rPr>
              <a:t>2025</a:t>
            </a:r>
            <a:endParaRPr sz="750"/>
          </a:p>
          <a:p>
            <a:pPr algn="ctr">
              <a:buNone/>
            </a:pPr>
            <a:r>
              <a:rPr sz="750" b="1" i="0">
                <a:solidFill>
                  <a:srgbClr val="003255"/>
                </a:solidFill>
                <a:latin typeface="Arial"/>
              </a:rPr>
              <a:t>NOK 37bn</a:t>
            </a:r>
            <a:endParaRPr sz="750"/>
          </a:p>
        </p:txBody>
      </p:sp>
      <p:sp>
        <p:nvSpPr>
          <p:cNvPr id="30" name="Rectangle 29"/>
          <p:cNvSpPr/>
          <p:nvPr/>
        </p:nvSpPr>
        <p:spPr>
          <a:xfrm>
            <a:off x="2487168" y="4572000"/>
            <a:ext cx="118872" cy="11887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51760" y="4535424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Example Company</a:t>
            </a:r>
            <a:endParaRPr sz="850"/>
          </a:p>
        </p:txBody>
      </p:sp>
      <p:sp>
        <p:nvSpPr>
          <p:cNvPr id="32" name="Rectangle 31"/>
          <p:cNvSpPr/>
          <p:nvPr/>
        </p:nvSpPr>
        <p:spPr>
          <a:xfrm>
            <a:off x="2487168" y="4846320"/>
            <a:ext cx="118872" cy="118872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651760" y="4809744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Competitor A</a:t>
            </a:r>
            <a:endParaRPr sz="850"/>
          </a:p>
        </p:txBody>
      </p:sp>
      <p:sp>
        <p:nvSpPr>
          <p:cNvPr id="34" name="Rectangle 33"/>
          <p:cNvSpPr/>
          <p:nvPr/>
        </p:nvSpPr>
        <p:spPr>
          <a:xfrm>
            <a:off x="2487168" y="5120640"/>
            <a:ext cx="118872" cy="118872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651760" y="5084064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Competitor B</a:t>
            </a:r>
            <a:endParaRPr sz="850"/>
          </a:p>
        </p:txBody>
      </p:sp>
      <p:sp>
        <p:nvSpPr>
          <p:cNvPr id="36" name="Rectangle 35"/>
          <p:cNvSpPr/>
          <p:nvPr/>
        </p:nvSpPr>
        <p:spPr>
          <a:xfrm>
            <a:off x="2487168" y="5394959"/>
            <a:ext cx="118872" cy="118872"/>
          </a:xfrm>
          <a:prstGeom prst="rect">
            <a:avLst/>
          </a:prstGeom>
          <a:solidFill>
            <a:srgbClr val="A9C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2651760" y="5358383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Competitor C</a:t>
            </a:r>
            <a:endParaRPr sz="850"/>
          </a:p>
        </p:txBody>
      </p:sp>
      <p:sp>
        <p:nvSpPr>
          <p:cNvPr id="38" name="Rectangle 37"/>
          <p:cNvSpPr/>
          <p:nvPr/>
        </p:nvSpPr>
        <p:spPr>
          <a:xfrm>
            <a:off x="2487168" y="5669280"/>
            <a:ext cx="118872" cy="118872"/>
          </a:xfrm>
          <a:prstGeom prst="rect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651760" y="5632704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Others</a:t>
            </a:r>
            <a:endParaRPr sz="850"/>
          </a:p>
        </p:txBody>
      </p:sp>
      <p:sp>
        <p:nvSpPr>
          <p:cNvPr id="40" name="TextBox 39"/>
          <p:cNvSpPr txBox="1"/>
          <p:nvPr/>
        </p:nvSpPr>
        <p:spPr>
          <a:xfrm>
            <a:off x="4270248" y="3822191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Structural tailwinds support demand</a:t>
            </a:r>
            <a:endParaRPr sz="1200"/>
          </a:p>
        </p:txBody>
      </p:sp>
      <p:cxnSp>
        <p:nvCxnSpPr>
          <p:cNvPr id="41" name="Connector 40"/>
          <p:cNvCxnSpPr/>
          <p:nvPr/>
        </p:nvCxnSpPr>
        <p:spPr>
          <a:xfrm>
            <a:off x="4270248" y="4123944"/>
            <a:ext cx="318211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5712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43" name="Rectangle 42"/>
          <p:cNvSpPr/>
          <p:nvPr/>
        </p:nvSpPr>
        <p:spPr>
          <a:xfrm>
            <a:off x="4270248" y="4206240"/>
            <a:ext cx="3611880" cy="21031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4407408" y="4325112"/>
            <a:ext cx="530352" cy="530352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+3%</a:t>
            </a:r>
            <a:endParaRPr sz="1100"/>
          </a:p>
        </p:txBody>
      </p:sp>
      <p:sp>
        <p:nvSpPr>
          <p:cNvPr id="45" name="TextBox 44"/>
          <p:cNvSpPr txBox="1"/>
          <p:nvPr/>
        </p:nvSpPr>
        <p:spPr>
          <a:xfrm>
            <a:off x="5074920" y="434339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Real disposable income growth p.a. supports willingness to pay</a:t>
            </a:r>
            <a:endParaRPr sz="950"/>
          </a:p>
        </p:txBody>
      </p:sp>
      <p:sp>
        <p:nvSpPr>
          <p:cNvPr id="46" name="Oval 45"/>
          <p:cNvSpPr/>
          <p:nvPr/>
        </p:nvSpPr>
        <p:spPr>
          <a:xfrm>
            <a:off x="4407408" y="4965192"/>
            <a:ext cx="530352" cy="530352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70%</a:t>
            </a:r>
            <a:endParaRPr sz="1100"/>
          </a:p>
        </p:txBody>
      </p:sp>
      <p:sp>
        <p:nvSpPr>
          <p:cNvPr id="47" name="TextBox 46"/>
          <p:cNvSpPr txBox="1"/>
          <p:nvPr/>
        </p:nvSpPr>
        <p:spPr>
          <a:xfrm>
            <a:off x="5074920" y="498347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of new subscribers now join via digital channels – lower acquisition cost</a:t>
            </a:r>
            <a:endParaRPr sz="950"/>
          </a:p>
        </p:txBody>
      </p:sp>
      <p:sp>
        <p:nvSpPr>
          <p:cNvPr id="48" name="Oval 47"/>
          <p:cNvSpPr/>
          <p:nvPr/>
        </p:nvSpPr>
        <p:spPr>
          <a:xfrm>
            <a:off x="4407408" y="5605271"/>
            <a:ext cx="530352" cy="530352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M&amp;A</a:t>
            </a:r>
            <a:endParaRPr sz="1100"/>
          </a:p>
        </p:txBody>
      </p:sp>
      <p:sp>
        <p:nvSpPr>
          <p:cNvPr id="49" name="TextBox 48"/>
          <p:cNvSpPr txBox="1"/>
          <p:nvPr/>
        </p:nvSpPr>
        <p:spPr>
          <a:xfrm>
            <a:off x="5074920" y="5623559"/>
            <a:ext cx="2697480" cy="5120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Fragmented market gives room for bolt-on acquisitions</a:t>
            </a:r>
            <a:endParaRPr sz="950"/>
          </a:p>
        </p:txBody>
      </p:sp>
      <p:sp>
        <p:nvSpPr>
          <p:cNvPr id="50" name="Rectangle 49"/>
          <p:cNvSpPr/>
          <p:nvPr/>
        </p:nvSpPr>
        <p:spPr>
          <a:xfrm>
            <a:off x="8110727" y="1280160"/>
            <a:ext cx="365760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Opportunities</a:t>
            </a:r>
            <a:endParaRPr sz="1200"/>
          </a:p>
        </p:txBody>
      </p:sp>
      <p:sp>
        <p:nvSpPr>
          <p:cNvPr id="51" name="Rectangle 50"/>
          <p:cNvSpPr/>
          <p:nvPr/>
        </p:nvSpPr>
        <p:spPr>
          <a:xfrm>
            <a:off x="8110727" y="1627631"/>
            <a:ext cx="3657600" cy="13716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20455" y="1709928"/>
            <a:ext cx="3438144" cy="12344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Price increases above CPI</a:t>
            </a:r>
            <a:r>
              <a:rPr sz="950" b="0" i="0">
                <a:solidFill>
                  <a:srgbClr val="1F1F1F"/>
                </a:solidFill>
                <a:latin typeface="Arial"/>
              </a:rPr>
              <a:t> backed by product tiers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Premium concepts</a:t>
            </a:r>
            <a:r>
              <a:rPr sz="950" b="0" i="0">
                <a:solidFill>
                  <a:srgbClr val="1F1F1F"/>
                </a:solidFill>
                <a:latin typeface="Arial"/>
              </a:rPr>
              <a:t> lift revenue per subscriber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Bolt-on M&amp;A</a:t>
            </a:r>
            <a:r>
              <a:rPr sz="950" b="0" i="0">
                <a:solidFill>
                  <a:srgbClr val="1F1F1F"/>
                </a:solidFill>
                <a:latin typeface="Arial"/>
              </a:rPr>
              <a:t> in Denmark &amp; Finland</a:t>
            </a:r>
            <a:endParaRPr sz="950"/>
          </a:p>
        </p:txBody>
      </p:sp>
      <p:sp>
        <p:nvSpPr>
          <p:cNvPr id="53" name="Rectangle 52"/>
          <p:cNvSpPr/>
          <p:nvPr/>
        </p:nvSpPr>
        <p:spPr>
          <a:xfrm>
            <a:off x="8110727" y="3136391"/>
            <a:ext cx="3657600" cy="310896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Disruption</a:t>
            </a:r>
            <a:endParaRPr sz="1200"/>
          </a:p>
        </p:txBody>
      </p:sp>
      <p:sp>
        <p:nvSpPr>
          <p:cNvPr id="54" name="Rectangle 53"/>
          <p:cNvSpPr/>
          <p:nvPr/>
        </p:nvSpPr>
        <p:spPr>
          <a:xfrm>
            <a:off x="8110727" y="3483863"/>
            <a:ext cx="3657600" cy="10515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220455" y="3566159"/>
            <a:ext cx="3438144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Digital-only offerings</a:t>
            </a:r>
            <a:r>
              <a:rPr sz="950" b="0" i="0">
                <a:solidFill>
                  <a:srgbClr val="1F1F1F"/>
                </a:solidFill>
                <a:latin typeface="Arial"/>
              </a:rPr>
              <a:t> – countered with an app included in all tiers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Data-driven pricing</a:t>
            </a:r>
            <a:r>
              <a:rPr sz="950" b="0" i="0">
                <a:solidFill>
                  <a:srgbClr val="1F1F1F"/>
                </a:solidFill>
                <a:latin typeface="Arial"/>
              </a:rPr>
              <a:t> to reduce churn</a:t>
            </a:r>
            <a:endParaRPr sz="950"/>
          </a:p>
        </p:txBody>
      </p:sp>
      <p:sp>
        <p:nvSpPr>
          <p:cNvPr id="56" name="Rectangle 55"/>
          <p:cNvSpPr/>
          <p:nvPr/>
        </p:nvSpPr>
        <p:spPr>
          <a:xfrm>
            <a:off x="8110727" y="4672583"/>
            <a:ext cx="365760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Threats</a:t>
            </a:r>
            <a:endParaRPr sz="1200"/>
          </a:p>
        </p:txBody>
      </p:sp>
      <p:sp>
        <p:nvSpPr>
          <p:cNvPr id="57" name="Rectangle 56"/>
          <p:cNvSpPr/>
          <p:nvPr/>
        </p:nvSpPr>
        <p:spPr>
          <a:xfrm>
            <a:off x="8110727" y="5020055"/>
            <a:ext cx="3657600" cy="10515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220455" y="5102351"/>
            <a:ext cx="3438144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Low-cost competitors</a:t>
            </a:r>
            <a:r>
              <a:rPr sz="950" b="0" i="0">
                <a:solidFill>
                  <a:srgbClr val="1F1F1F"/>
                </a:solidFill>
                <a:latin typeface="Arial"/>
              </a:rPr>
              <a:t> could cap pricing power</a:t>
            </a:r>
            <a:endParaRPr sz="9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Weaker consumer spending</a:t>
            </a:r>
            <a:r>
              <a:rPr sz="950" b="0" i="0">
                <a:solidFill>
                  <a:srgbClr val="1F1F1F"/>
                </a:solidFill>
                <a:latin typeface="Arial"/>
              </a:rPr>
              <a:t> if interest rates stay high</a:t>
            </a:r>
            <a:endParaRPr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New locations, like-for-like and price drive a 6.0% revenue CAGR 2025–30E, with EBIT margins expanding to 19%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Company reports, case team estimates (see Excel model: Model, DCF and Comps sheets). Peer multiples: Bloomberg consensus as provided in the case material.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5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71597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Financial summary (NOKm)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71140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62672" y="130759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9768" y="1847088"/>
          <a:ext cx="7543796" cy="24643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743700"/>
                <a:gridCol w="725012"/>
                <a:gridCol w="725012"/>
                <a:gridCol w="725012"/>
                <a:gridCol w="725012"/>
                <a:gridCol w="725012"/>
                <a:gridCol w="725012"/>
                <a:gridCol w="725012"/>
                <a:gridCol w="725012"/>
              </a:tblGrid>
              <a:tr h="214884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4,687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5,045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5,433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5,726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6,084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6,479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6,876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7,258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10.0%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7.6%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6.1%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5.6%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EBITDA (reported)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1,298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1,453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1,614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1,701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1,819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1,956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2,094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2,227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27.7%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28.8%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29.7%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29.7%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29.9%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30.2%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30.7%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 adj.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712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827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1,000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1,075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1,168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1,261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1,351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15.2%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17.5%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17.5%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17.7%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18.0%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18.6%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profit to shareholders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470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576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672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730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793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863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932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998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5.53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6.77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7.91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11.53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12.53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4.20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4.80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5.40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6.64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9.23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10.65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Free cash flow to firm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549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643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739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610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667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736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826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914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ROIC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20.4%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23.0%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NIBD / EBITDAaL (x)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2173468" y="1645920"/>
            <a:ext cx="2156749" cy="173736"/>
          </a:xfrm>
          <a:prstGeom prst="rect">
            <a:avLst/>
          </a:prstGeom>
          <a:solidFill>
            <a:srgbClr val="8C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Historical</a:t>
            </a:r>
            <a:endParaRPr sz="800"/>
          </a:p>
        </p:txBody>
      </p:sp>
      <p:sp>
        <p:nvSpPr>
          <p:cNvPr id="16" name="Rectangle 15"/>
          <p:cNvSpPr/>
          <p:nvPr/>
        </p:nvSpPr>
        <p:spPr>
          <a:xfrm>
            <a:off x="4348505" y="1645920"/>
            <a:ext cx="3625062" cy="17373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Forecast</a:t>
            </a:r>
            <a:endParaRPr sz="800"/>
          </a:p>
        </p:txBody>
      </p:sp>
      <p:sp>
        <p:nvSpPr>
          <p:cNvPr id="17" name="TextBox 16"/>
          <p:cNvSpPr txBox="1"/>
          <p:nvPr/>
        </p:nvSpPr>
        <p:spPr>
          <a:xfrm>
            <a:off x="429768" y="437083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Growth: new locations, like-for-like, price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9768" y="467258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776472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9768" y="4754880"/>
          <a:ext cx="3657600" cy="157276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315968" y="437083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by scenario (NOKm)</a:t>
            </a:r>
            <a:endParaRPr sz="1200"/>
          </a:p>
        </p:txBody>
      </p:sp>
      <p:cxnSp>
        <p:nvCxnSpPr>
          <p:cNvPr id="22" name="Connector 21"/>
          <p:cNvCxnSpPr/>
          <p:nvPr/>
        </p:nvCxnSpPr>
        <p:spPr>
          <a:xfrm>
            <a:off x="4315968" y="467258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62671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315968" y="4754880"/>
          <a:ext cx="3657600" cy="157276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8202168" y="126187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Financial commentary</a:t>
            </a:r>
            <a:endParaRPr sz="1200"/>
          </a:p>
        </p:txBody>
      </p:sp>
      <p:cxnSp>
        <p:nvCxnSpPr>
          <p:cNvPr id="26" name="Connector 25"/>
          <p:cNvCxnSpPr/>
          <p:nvPr/>
        </p:nvCxnSpPr>
        <p:spPr>
          <a:xfrm>
            <a:off x="8202168" y="1563624"/>
            <a:ext cx="31363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457432" y="130759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28" name="Rectangle 27"/>
          <p:cNvSpPr/>
          <p:nvPr/>
        </p:nvSpPr>
        <p:spPr>
          <a:xfrm>
            <a:off x="8202168" y="1645920"/>
            <a:ext cx="3566160" cy="26974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311896" y="1719072"/>
            <a:ext cx="3346704" cy="2606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6.0% revenue CAGR</a:t>
            </a:r>
            <a:r>
              <a:rPr sz="900" b="0" i="0">
                <a:solidFill>
                  <a:srgbClr val="1F1F1F"/>
                </a:solidFill>
                <a:latin typeface="Arial"/>
              </a:rPr>
              <a:t> 2025–30E: new locations add ~2.3pp, like-for-like ~0.8pp and price/mix ~2.9pp p.a.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Operating leverage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lifts EBIT adj. margin from 17.5% to 18.6% as fixed costs and rent grow with inflation and locations, not with sales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Growth is paid for: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32 openings at ~NOK 22m each lift capex to 7.7% of sales (5.0% in 2025A)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Highly cash generative: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~51% of EBITDAaL converts to FCFF; negative working capital funds growth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ROIC of 23% by 2030E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– far above our 9.0% WACC</a:t>
            </a:r>
            <a:endParaRPr sz="90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Shareholder returns: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payout from 65% to 85%; cash above 0.75x NIBD/EBITDAaL funds buybacks – NOK 929m over 2026–30E</a:t>
            </a:r>
            <a:endParaRPr sz="900"/>
          </a:p>
        </p:txBody>
      </p:sp>
      <p:sp>
        <p:nvSpPr>
          <p:cNvPr id="30" name="TextBox 29"/>
          <p:cNvSpPr txBox="1"/>
          <p:nvPr/>
        </p:nvSpPr>
        <p:spPr>
          <a:xfrm>
            <a:off x="8202168" y="437083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estimates vs. consensus</a:t>
            </a:r>
            <a:endParaRPr sz="1200"/>
          </a:p>
        </p:txBody>
      </p:sp>
      <p:cxnSp>
        <p:nvCxnSpPr>
          <p:cNvPr id="31" name="Connector 30"/>
          <p:cNvCxnSpPr/>
          <p:nvPr/>
        </p:nvCxnSpPr>
        <p:spPr>
          <a:xfrm>
            <a:off x="8202168" y="4672584"/>
            <a:ext cx="31363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1457432" y="4416552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8202168" y="4782312"/>
          <a:ext cx="3566160" cy="10881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97280"/>
                <a:gridCol w="822960"/>
                <a:gridCol w="822960"/>
                <a:gridCol w="82296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vs. consensus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+2.5%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+1.0%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+2.5%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+4.0%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EBIT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EPS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+2.0%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+5.0%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+8.5%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8202168" y="5907024"/>
            <a:ext cx="356616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1" i="0">
                <a:solidFill>
                  <a:srgbClr val="1F1F1F"/>
                </a:solidFill>
                <a:latin typeface="Arial"/>
              </a:rPr>
              <a:t>Where we differ – margins.</a:t>
            </a:r>
            <a:r>
              <a:rPr sz="750" b="0" i="0">
                <a:solidFill>
                  <a:srgbClr val="1F1F1F"/>
                </a:solidFill>
                <a:latin typeface="Arial"/>
              </a:rPr>
              <a:t> Consensus: Flat margins: cost inflation eats the price increases. We: EBIT margin expands as fixed costs are spread over more locations and revenue per location grows with price.</a:t>
            </a:r>
            <a:endParaRPr sz="7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We recommend BUY with a target price of NOK 146 – 20% upside and 24% expected total return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DCF and peer analysis; peer multiples from Bloomberg consensus (case material). (1) TP = 70% DCF + 30% peer multiples, rolled forward 12 months at the cost of equity less next year's dividend.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6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243584"/>
            <a:ext cx="11338559" cy="5029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Our take: at NOK 122 the market prices in an EBIT margin of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17.1%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in 2033E – below the 17.5% Example Company earns today. We see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19.1%</a:t>
            </a:r>
            <a:r>
              <a:rPr sz="1050" b="0" i="0">
                <a:solidFill>
                  <a:srgbClr val="FFFFFF"/>
                </a:solidFill>
                <a:latin typeface="Arial"/>
              </a:rPr>
              <a:t> as fixed costs are spread over more locations. DCF NOK 139 and peers NOK 136 both point higher: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12-month target price NOK 146</a:t>
            </a:r>
            <a:r>
              <a:rPr sz="1050" b="0" i="0">
                <a:solidFill>
                  <a:srgbClr val="FFFFFF"/>
                </a:solidFill>
                <a:latin typeface="Arial"/>
              </a:rPr>
              <a:t>(1), </a:t>
            </a:r>
            <a:r>
              <a:rPr sz="1050" b="1" i="0">
                <a:solidFill>
                  <a:srgbClr val="FFFFFF"/>
                </a:solidFill>
                <a:latin typeface="Arial"/>
              </a:rPr>
              <a:t>BUY</a:t>
            </a:r>
            <a:r>
              <a:rPr sz="1050" b="0" i="0">
                <a:solidFill>
                  <a:srgbClr val="FFFFFF"/>
                </a:solidFill>
                <a:latin typeface="Arial"/>
              </a:rPr>
              <a:t>.</a:t>
            </a:r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429768" y="18470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BUY – TP NOK 146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148840"/>
            <a:ext cx="425196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9768" y="2231136"/>
            <a:ext cx="4297680" cy="17373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9496" y="2304288"/>
            <a:ext cx="4078224" cy="1645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Quality at a discount: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trades at 11.3x 2027E EV/EBIT, 11% below peers despite higher margins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Growth engine intact: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new locations, like-for-like and pricing all contribute; bolt-on M&amp;A is upside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Cash machine: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FCF yield rising to 8% by 2029E funds rising dividends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Asymmetric risk/reward: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bull NOK 201 vs. bear NOK 62 per share (DCF)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1" i="0">
                <a:solidFill>
                  <a:srgbClr val="1F1F1F"/>
                </a:solidFill>
                <a:latin typeface="Arial"/>
              </a:rPr>
              <a:t>Catalysts:</a:t>
            </a:r>
            <a:r>
              <a:rPr sz="950" b="0" i="0">
                <a:solidFill>
                  <a:srgbClr val="1F1F1F"/>
                </a:solidFill>
                <a:latin typeface="Arial"/>
              </a:rPr>
              <a:t> next quarterly report (price increases), capital markets day, bolt-on M&amp;A</a:t>
            </a:r>
            <a:endParaRPr sz="950"/>
          </a:p>
        </p:txBody>
      </p:sp>
      <p:sp>
        <p:nvSpPr>
          <p:cNvPr id="16" name="TextBox 15"/>
          <p:cNvSpPr txBox="1"/>
          <p:nvPr/>
        </p:nvSpPr>
        <p:spPr>
          <a:xfrm>
            <a:off x="429768" y="41148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Valuation summary – football field (NOK/share)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429768" y="4416552"/>
            <a:ext cx="425196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29768" y="4681728"/>
          <a:ext cx="4297680" cy="1554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483543" y="48571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101</a:t>
            </a:r>
            <a:endParaRPr sz="800"/>
          </a:p>
        </p:txBody>
      </p:sp>
      <p:sp>
        <p:nvSpPr>
          <p:cNvPr id="20" name="TextBox 19"/>
          <p:cNvSpPr txBox="1"/>
          <p:nvPr/>
        </p:nvSpPr>
        <p:spPr>
          <a:xfrm>
            <a:off x="3518445" y="485714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135</a:t>
            </a:r>
            <a:endParaRPr sz="800"/>
          </a:p>
        </p:txBody>
      </p:sp>
      <p:sp>
        <p:nvSpPr>
          <p:cNvPr id="21" name="TextBox 20"/>
          <p:cNvSpPr txBox="1"/>
          <p:nvPr/>
        </p:nvSpPr>
        <p:spPr>
          <a:xfrm>
            <a:off x="2733474" y="5079949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128</a:t>
            </a:r>
            <a:endParaRPr sz="800"/>
          </a:p>
        </p:txBody>
      </p:sp>
      <p:sp>
        <p:nvSpPr>
          <p:cNvPr id="22" name="TextBox 21"/>
          <p:cNvSpPr txBox="1"/>
          <p:nvPr/>
        </p:nvSpPr>
        <p:spPr>
          <a:xfrm>
            <a:off x="3585609" y="5079949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153</a:t>
            </a:r>
            <a:endParaRPr sz="800"/>
          </a:p>
        </p:txBody>
      </p:sp>
      <p:sp>
        <p:nvSpPr>
          <p:cNvPr id="23" name="TextBox 22"/>
          <p:cNvSpPr txBox="1"/>
          <p:nvPr/>
        </p:nvSpPr>
        <p:spPr>
          <a:xfrm>
            <a:off x="1979901" y="530275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62</a:t>
            </a:r>
            <a:endParaRPr sz="800"/>
          </a:p>
        </p:txBody>
      </p:sp>
      <p:sp>
        <p:nvSpPr>
          <p:cNvPr id="24" name="TextBox 23"/>
          <p:cNvSpPr txBox="1"/>
          <p:nvPr/>
        </p:nvSpPr>
        <p:spPr>
          <a:xfrm>
            <a:off x="4215716" y="5302758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201</a:t>
            </a:r>
            <a:endParaRPr sz="800"/>
          </a:p>
        </p:txBody>
      </p:sp>
      <p:sp>
        <p:nvSpPr>
          <p:cNvPr id="25" name="TextBox 24"/>
          <p:cNvSpPr txBox="1"/>
          <p:nvPr/>
        </p:nvSpPr>
        <p:spPr>
          <a:xfrm>
            <a:off x="2567396" y="55255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108</a:t>
            </a:r>
            <a:endParaRPr sz="800"/>
          </a:p>
        </p:txBody>
      </p:sp>
      <p:sp>
        <p:nvSpPr>
          <p:cNvPr id="26" name="TextBox 25"/>
          <p:cNvSpPr txBox="1"/>
          <p:nvPr/>
        </p:nvSpPr>
        <p:spPr>
          <a:xfrm>
            <a:off x="3518445" y="55255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143</a:t>
            </a:r>
            <a:endParaRPr sz="800"/>
          </a:p>
        </p:txBody>
      </p:sp>
      <p:sp>
        <p:nvSpPr>
          <p:cNvPr id="27" name="TextBox 26"/>
          <p:cNvSpPr txBox="1"/>
          <p:nvPr/>
        </p:nvSpPr>
        <p:spPr>
          <a:xfrm>
            <a:off x="2733474" y="574837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124</a:t>
            </a:r>
            <a:endParaRPr sz="800"/>
          </a:p>
        </p:txBody>
      </p:sp>
      <p:sp>
        <p:nvSpPr>
          <p:cNvPr id="28" name="TextBox 27"/>
          <p:cNvSpPr txBox="1"/>
          <p:nvPr/>
        </p:nvSpPr>
        <p:spPr>
          <a:xfrm>
            <a:off x="3621354" y="5748375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155</a:t>
            </a:r>
            <a:endParaRPr sz="800"/>
          </a:p>
        </p:txBody>
      </p:sp>
      <p:sp>
        <p:nvSpPr>
          <p:cNvPr id="29" name="TextBox 28"/>
          <p:cNvSpPr txBox="1"/>
          <p:nvPr/>
        </p:nvSpPr>
        <p:spPr>
          <a:xfrm>
            <a:off x="2733474" y="59711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129</a:t>
            </a:r>
            <a:endParaRPr sz="800"/>
          </a:p>
        </p:txBody>
      </p:sp>
      <p:sp>
        <p:nvSpPr>
          <p:cNvPr id="30" name="TextBox 29"/>
          <p:cNvSpPr txBox="1"/>
          <p:nvPr/>
        </p:nvSpPr>
        <p:spPr>
          <a:xfrm>
            <a:off x="3656415" y="59711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158</a:t>
            </a:r>
            <a:endParaRPr sz="800"/>
          </a:p>
        </p:txBody>
      </p:sp>
      <p:cxnSp>
        <p:nvCxnSpPr>
          <p:cNvPr id="31" name="Connector 30"/>
          <p:cNvCxnSpPr/>
          <p:nvPr/>
        </p:nvCxnSpPr>
        <p:spPr>
          <a:xfrm>
            <a:off x="3163242" y="4818888"/>
            <a:ext cx="0" cy="135514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371459" y="4818888"/>
            <a:ext cx="0" cy="135514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472725" y="4818888"/>
            <a:ext cx="0" cy="135514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642034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122</a:t>
            </a:r>
            <a:endParaRPr sz="800"/>
          </a:p>
        </p:txBody>
      </p:sp>
      <p:sp>
        <p:nvSpPr>
          <p:cNvPr id="35" name="TextBox 34"/>
          <p:cNvSpPr txBox="1"/>
          <p:nvPr/>
        </p:nvSpPr>
        <p:spPr>
          <a:xfrm>
            <a:off x="2850251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138</a:t>
            </a:r>
            <a:endParaRPr sz="800"/>
          </a:p>
        </p:txBody>
      </p:sp>
      <p:sp>
        <p:nvSpPr>
          <p:cNvPr id="36" name="TextBox 35"/>
          <p:cNvSpPr txBox="1"/>
          <p:nvPr/>
        </p:nvSpPr>
        <p:spPr>
          <a:xfrm>
            <a:off x="3491013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146</a:t>
            </a:r>
            <a:endParaRPr sz="800"/>
          </a:p>
        </p:txBody>
      </p:sp>
      <p:cxnSp>
        <p:nvCxnSpPr>
          <p:cNvPr id="37" name="Connector 36"/>
          <p:cNvCxnSpPr/>
          <p:nvPr/>
        </p:nvCxnSpPr>
        <p:spPr>
          <a:xfrm>
            <a:off x="521207" y="6309360"/>
            <a:ext cx="228601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5527" y="6217920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Share price</a:t>
            </a:r>
            <a:endParaRPr sz="750"/>
          </a:p>
        </p:txBody>
      </p:sp>
      <p:cxnSp>
        <p:nvCxnSpPr>
          <p:cNvPr id="39" name="Connector 38"/>
          <p:cNvCxnSpPr/>
          <p:nvPr/>
        </p:nvCxnSpPr>
        <p:spPr>
          <a:xfrm>
            <a:off x="1664207" y="6309360"/>
            <a:ext cx="228600" cy="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938528" y="621792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Fair value today</a:t>
            </a:r>
            <a:endParaRPr sz="750"/>
          </a:p>
        </p:txBody>
      </p:sp>
      <p:cxnSp>
        <p:nvCxnSpPr>
          <p:cNvPr id="41" name="Connector 40"/>
          <p:cNvCxnSpPr/>
          <p:nvPr/>
        </p:nvCxnSpPr>
        <p:spPr>
          <a:xfrm>
            <a:off x="3035808" y="6309360"/>
            <a:ext cx="228600" cy="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10127" y="6217920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12m target price (rolled forward)</a:t>
            </a:r>
            <a:endParaRPr sz="750"/>
          </a:p>
        </p:txBody>
      </p:sp>
      <p:cxnSp>
        <p:nvCxnSpPr>
          <p:cNvPr id="43" name="Connector 42"/>
          <p:cNvCxnSpPr/>
          <p:nvPr/>
        </p:nvCxnSpPr>
        <p:spPr>
          <a:xfrm>
            <a:off x="4937760" y="1874519"/>
            <a:ext cx="0" cy="4389121"/>
          </a:xfrm>
          <a:prstGeom prst="line">
            <a:avLst/>
          </a:prstGeom>
          <a:ln w="9525">
            <a:solidFill>
              <a:srgbClr val="C8CD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38928" y="1847088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valuation – sensitivity analysis (NOK per share)</a:t>
            </a:r>
            <a:endParaRPr sz="1200"/>
          </a:p>
        </p:txBody>
      </p:sp>
      <p:cxnSp>
        <p:nvCxnSpPr>
          <p:cNvPr id="45" name="Connector 44"/>
          <p:cNvCxnSpPr/>
          <p:nvPr/>
        </p:nvCxnSpPr>
        <p:spPr>
          <a:xfrm>
            <a:off x="5138928" y="2148840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138928" y="2276856"/>
          <a:ext cx="4800598" cy="15544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46153"/>
                <a:gridCol w="564776"/>
                <a:gridCol w="555667"/>
                <a:gridCol w="555667"/>
                <a:gridCol w="555667"/>
                <a:gridCol w="555667"/>
                <a:gridCol w="555667"/>
                <a:gridCol w="555667"/>
                <a:gridCol w="555667"/>
              </a:tblGrid>
              <a:tr h="237744">
                <a:tc rowSpan="2" gridSpan="2">
                  <a:txBody>
                    <a:bodyPr wrap="square"/>
                    <a:lstStyle/>
                    <a:p>
                      <a:pPr algn="l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rowSpan="2"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gridSpan="7"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r"/>
                      <a:endParaRPr sz="10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 gridSpan="2"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 hMerge="1" vMerge="1"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7.49%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7.99%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8.49%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8.99%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9.49%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9.99%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10.49%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 rowSpan="5"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FFFFFF"/>
                          </a:solidFill>
                          <a:latin typeface="Arial"/>
                        </a:rPr>
                        <a:t>Terminal growth</a:t>
                      </a:r>
                      <a:endParaRPr sz="900"/>
                    </a:p>
                  </a:txBody>
                  <a:tcPr marL="36576" marR="36576" marT="0" marB="0" anchor="ctr" vert="vert270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175.0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160.2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147.6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136.7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127.1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118.7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111.3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177.7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162.3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149.2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137.9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128.0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119.4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111.7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180.7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164.5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150.8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139.1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9EC3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128.9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120.1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112.2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184.0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166.9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152.6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140.4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129.9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120.8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112.7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 vMerge="1"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187.6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169.6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154.5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141.9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131.0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121.5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113.3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7" name="Rectangle 46"/>
          <p:cNvSpPr/>
          <p:nvPr/>
        </p:nvSpPr>
        <p:spPr>
          <a:xfrm>
            <a:off x="10076688" y="2276856"/>
            <a:ext cx="1691640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0076688" y="2276856"/>
            <a:ext cx="1691640" cy="1572768"/>
          </a:xfrm>
          <a:prstGeom prst="rect">
            <a:avLst/>
          </a:prstGeom>
          <a:noFill/>
          <a:ln w="9525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9" name="Chart 48"/>
          <p:cNvGraphicFramePr>
            <a:graphicFrameLocks noGrp="1"/>
          </p:cNvGraphicFramePr>
          <p:nvPr/>
        </p:nvGraphicFramePr>
        <p:xfrm>
          <a:off x="10149840" y="2487168"/>
          <a:ext cx="1545336" cy="1325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0" name="Oval 49"/>
          <p:cNvSpPr/>
          <p:nvPr/>
        </p:nvSpPr>
        <p:spPr>
          <a:xfrm>
            <a:off x="11014176" y="2352971"/>
            <a:ext cx="512064" cy="201168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1F1F1F"/>
                </a:solidFill>
                <a:latin typeface="Arial"/>
              </a:rPr>
              <a:t>+14%</a:t>
            </a:r>
            <a:endParaRPr sz="800"/>
          </a:p>
        </p:txBody>
      </p:sp>
      <p:cxnSp>
        <p:nvCxnSpPr>
          <p:cNvPr id="51" name="Connector 50"/>
          <p:cNvCxnSpPr/>
          <p:nvPr/>
        </p:nvCxnSpPr>
        <p:spPr>
          <a:xfrm>
            <a:off x="11270208" y="2554139"/>
            <a:ext cx="0" cy="91440"/>
          </a:xfrm>
          <a:prstGeom prst="line">
            <a:avLst/>
          </a:prstGeom>
          <a:ln w="1270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138928" y="4114800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What the market is pricing in (reverse DCF)</a:t>
            </a:r>
            <a:endParaRPr sz="1200"/>
          </a:p>
        </p:txBody>
      </p:sp>
      <p:cxnSp>
        <p:nvCxnSpPr>
          <p:cNvPr id="53" name="Connector 52"/>
          <p:cNvCxnSpPr/>
          <p:nvPr/>
        </p:nvCxnSpPr>
        <p:spPr>
          <a:xfrm>
            <a:off x="5138928" y="4416552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5138928" y="4498848"/>
            <a:ext cx="4800600" cy="181051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5230368" y="4590288"/>
          <a:ext cx="4617717" cy="8641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04214"/>
                <a:gridCol w="904501"/>
                <a:gridCol w="904501"/>
                <a:gridCol w="90450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Market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 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17.1%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19.1%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 CAGR 2025–33E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4.6%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C00000"/>
                          </a:solidFill>
                          <a:latin typeface="Arial"/>
                        </a:rPr>
                        <a:t>9.9%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DDE1E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248656" y="5532120"/>
            <a:ext cx="4581144" cy="7772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No operating leverage priced in: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the market's 2033E margin is 2.0pp below ours</a:t>
            </a:r>
            <a:endParaRPr sz="90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Each 1pp of margin is worth NOK 8.6 per share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– our upside rests on margins, not on multiples</a:t>
            </a:r>
            <a:endParaRPr sz="900"/>
          </a:p>
        </p:txBody>
      </p:sp>
      <p:sp>
        <p:nvSpPr>
          <p:cNvPr id="57" name="Rectangle 56"/>
          <p:cNvSpPr/>
          <p:nvPr/>
        </p:nvSpPr>
        <p:spPr>
          <a:xfrm>
            <a:off x="10076688" y="4498848"/>
            <a:ext cx="1691640" cy="1810512"/>
          </a:xfrm>
          <a:prstGeom prst="rect">
            <a:avLst/>
          </a:prstGeom>
          <a:noFill/>
          <a:ln w="9525">
            <a:solidFill>
              <a:srgbClr val="C8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168128" y="4572000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C00000"/>
                </a:solidFill>
                <a:latin typeface="Arial"/>
              </a:rPr>
              <a:t>17.1%</a:t>
            </a:r>
            <a:endParaRPr sz="1700"/>
          </a:p>
        </p:txBody>
      </p:sp>
      <p:sp>
        <p:nvSpPr>
          <p:cNvPr id="59" name="TextBox 58"/>
          <p:cNvSpPr txBox="1"/>
          <p:nvPr/>
        </p:nvSpPr>
        <p:spPr>
          <a:xfrm>
            <a:off x="10168128" y="4873752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Market-implied, 2033E</a:t>
            </a:r>
            <a:endParaRPr sz="750"/>
          </a:p>
        </p:txBody>
      </p:sp>
      <p:sp>
        <p:nvSpPr>
          <p:cNvPr id="60" name="TextBox 59"/>
          <p:cNvSpPr txBox="1"/>
          <p:nvPr/>
        </p:nvSpPr>
        <p:spPr>
          <a:xfrm>
            <a:off x="10168128" y="5138928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003255"/>
                </a:solidFill>
                <a:latin typeface="Arial"/>
              </a:rPr>
              <a:t>19.1%</a:t>
            </a:r>
            <a:endParaRPr sz="1700"/>
          </a:p>
        </p:txBody>
      </p:sp>
      <p:sp>
        <p:nvSpPr>
          <p:cNvPr id="61" name="TextBox 60"/>
          <p:cNvSpPr txBox="1"/>
          <p:nvPr/>
        </p:nvSpPr>
        <p:spPr>
          <a:xfrm>
            <a:off x="10168128" y="5440680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Our base case, 2033E</a:t>
            </a:r>
            <a:endParaRPr sz="750"/>
          </a:p>
        </p:txBody>
      </p:sp>
      <p:sp>
        <p:nvSpPr>
          <p:cNvPr id="62" name="TextBox 61"/>
          <p:cNvSpPr txBox="1"/>
          <p:nvPr/>
        </p:nvSpPr>
        <p:spPr>
          <a:xfrm>
            <a:off x="10168128" y="5705856"/>
            <a:ext cx="150876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700" b="1" i="0">
                <a:solidFill>
                  <a:srgbClr val="6B7480"/>
                </a:solidFill>
                <a:latin typeface="Arial"/>
              </a:rPr>
              <a:t>17.5%</a:t>
            </a:r>
            <a:endParaRPr sz="1700"/>
          </a:p>
        </p:txBody>
      </p:sp>
      <p:sp>
        <p:nvSpPr>
          <p:cNvPr id="63" name="TextBox 62"/>
          <p:cNvSpPr txBox="1"/>
          <p:nvPr/>
        </p:nvSpPr>
        <p:spPr>
          <a:xfrm>
            <a:off x="10168128" y="6007608"/>
            <a:ext cx="15087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Today (2025A)</a:t>
            </a:r>
            <a:endParaRPr sz="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24381" y="2697480"/>
            <a:ext cx="8229600" cy="68580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Appendix</a:t>
            </a:r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1228953" y="4129430"/>
            <a:ext cx="8229600" cy="96926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800" b="0" i="0">
                <a:solidFill>
                  <a:srgbClr val="81B0C0"/>
                </a:solidFill>
                <a:latin typeface="Arial"/>
              </a:rPr>
              <a:t>Supporting analysis and model details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#4.1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DCF model – base case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Base case DCF value of NOK 139 per share – the terminal value accounts for 64% of enterprise value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estimates (Excel model, DCF and WACC sheets). FCFF on a pre-IFRS 16 basis: lease payments are treated as operating costs, so lease liabilities are not deducted.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8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Free cash flow to firm and discounting (NOKm)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77724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7818120" cy="321868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00200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2032E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2033E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TY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4F7FA0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5,433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5,726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6,084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6,479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6,876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7,258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7,613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7,939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8,244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8,409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  Growth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7.7%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5.4%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6.1%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4.9%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4.3%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3.8%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EBITDAaL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1,190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1,252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1,343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1,453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1,564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1,671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1,768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1,856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1,934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21.9%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21.9%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22.1%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22.4%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22.7%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23.0%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23.2%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23.4%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23.5%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EBIT adj.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951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1,000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1,168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1,261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1,351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1,433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1,506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1,571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1,603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  Margin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17.5%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17.5%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17.7%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18.0%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18.3%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18.6%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18.8%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19.1%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19.1%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Taxes on EBIT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(209)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(220)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(237)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(257)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(277)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(297)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(315)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(331)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(346)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(353)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NOPAT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742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780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839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911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984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1,054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1,118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1,175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1,226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1,250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+ D&amp;A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239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252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268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285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303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319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335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349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363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– Capex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(272)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(440)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(462)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(486)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(486)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(484)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(480)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(473)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(491)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– Increase in NWC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Free cash flow to firm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739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610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667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736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826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914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996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1,072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1,118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1,042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Share of year included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29%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100%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Discount period (years)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0.15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1.79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2.79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3.79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4.79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5.79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6.79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Discount factor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0.988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0.934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0.857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0.787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0.722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0.662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0.608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1">
                          <a:solidFill>
                            <a:srgbClr val="6B7480"/>
                          </a:solidFill>
                          <a:latin typeface="Arial"/>
                        </a:rPr>
                        <a:t>0.557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PV of FCFF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175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623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631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650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659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659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651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623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BFC5CC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CE9E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9768" y="5074920"/>
            <a:ext cx="7818120" cy="121615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5138928"/>
            <a:ext cx="7543800" cy="10972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003255"/>
                </a:solidFill>
                <a:latin typeface="Arial"/>
              </a:rPr>
              <a:t>Key DCF assumptions</a:t>
            </a:r>
            <a:endParaRPr sz="10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Valuation date</a:t>
            </a:r>
            <a:r>
              <a:rPr sz="900" b="0" i="0">
                <a:solidFill>
                  <a:srgbClr val="1F1F1F"/>
                </a:solidFill>
                <a:latin typeface="Arial"/>
              </a:rPr>
              <a:t> 16.09.2026 – only 29% of 2026E FCFF is included (stub); </a:t>
            </a:r>
            <a:r>
              <a:rPr sz="900" b="1" i="0">
                <a:solidFill>
                  <a:srgbClr val="1F1F1F"/>
                </a:solidFill>
                <a:latin typeface="Arial"/>
              </a:rPr>
              <a:t>mid-year</a:t>
            </a:r>
            <a:r>
              <a:rPr sz="900" b="0" i="0">
                <a:solidFill>
                  <a:srgbClr val="1F1F1F"/>
                </a:solidFill>
                <a:latin typeface="Arial"/>
              </a:rPr>
              <a:t> discounting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Terminal value: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Gordon growth with g = 2.0% and value-driver reinvestment (RONIC 12%) – implied exit multiple 7.7x EV/EBITDAaL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Lease consistency: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FCFF after lease payments, WACC and net debt excl. leases (pre-IFRS 16 basis)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Sensitivity: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±0.5pp WACC moves the value by NOK 10.2–11.7 per share; ±0.25pp terminal growth by only NOK 1.2–1.3 (RONIC above WACC)</a:t>
            </a:r>
            <a:endParaRPr sz="900"/>
          </a:p>
        </p:txBody>
      </p:sp>
      <p:sp>
        <p:nvSpPr>
          <p:cNvPr id="16" name="TextBox 15"/>
          <p:cNvSpPr txBox="1"/>
          <p:nvPr/>
        </p:nvSpPr>
        <p:spPr>
          <a:xfrm>
            <a:off x="8458200" y="1261872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WACC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8458200" y="1563624"/>
            <a:ext cx="326440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458200" y="1664208"/>
          <a:ext cx="3310127" cy="146304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22856"/>
                <a:gridCol w="1287271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Risk-free rate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Equity risk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Relevered beta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Size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Cost of equity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9.47%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After-tax cost of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4.68%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D / (D+E)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8.99%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8458200" y="329184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Valuation summary (NOKm)</a:t>
            </a:r>
            <a:endParaRPr sz="1200"/>
          </a:p>
        </p:txBody>
      </p:sp>
      <p:cxnSp>
        <p:nvCxnSpPr>
          <p:cNvPr id="20" name="Connector 19"/>
          <p:cNvCxnSpPr/>
          <p:nvPr/>
        </p:nvCxnSpPr>
        <p:spPr>
          <a:xfrm>
            <a:off x="8458200" y="3593592"/>
            <a:ext cx="326440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458200" y="3694176"/>
          <a:ext cx="3310127" cy="21945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22856"/>
                <a:gridCol w="1287271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PV of FCFF 2026E–2033E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4,672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PV of terminal value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8,311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Enterprise value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12,983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interest-bearing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(1,025)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Minority interests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(70)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Associates &amp; investments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Pensions &amp; other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(20)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Equity value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11,908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Diluted shares (m)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85.6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DCF value per share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139.1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Current share price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122.0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Upside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+14.0%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#4.2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What the market is pricing in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At NOK 122 the market prices in an EBIT margin of 17.1% in 2033E – below the 17.5% earned in 2025A; our base case is 19.1%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reverse DCF (Excel model, Reverse_DCF sheet). Each driver is solved on its own with all other assumptions at the base case; growth is interpolated in Sensitivity table 5.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9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59893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Market-implied vs. our base case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59436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5989320" cy="161848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57400"/>
                <a:gridCol w="960120"/>
                <a:gridCol w="960120"/>
                <a:gridCol w="822960"/>
                <a:gridCol w="118872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Market-implied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Our base case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Difference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Reference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EBIT adj. margin, 2033E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17.1%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19.1%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−2.0pp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17.5% (2025A)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margin, forecast average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16.4%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18.4%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−2.0pp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16.4% (3y avg.)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Revenue CAGR, 2025A–2033E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4.6%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−0.7pp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8.4% (2022–25A)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1">
                          <a:solidFill>
                            <a:srgbClr val="1F1F1F"/>
                          </a:solidFill>
                          <a:latin typeface="Arial"/>
                        </a:rPr>
                        <a:t>  … EBIT margin at that growth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1">
                          <a:solidFill>
                            <a:srgbClr val="1F1F1F"/>
                          </a:solidFill>
                          <a:latin typeface="Arial"/>
                        </a:rPr>
                        <a:t>17.6%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>
                          <a:solidFill>
                            <a:srgbClr val="1F1F1F"/>
                          </a:solidFill>
                          <a:latin typeface="Arial"/>
                        </a:rPr>
                        <a:t>19.1%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1">
                          <a:solidFill>
                            <a:srgbClr val="1F1F1F"/>
                          </a:solidFill>
                          <a:latin typeface="Arial"/>
                        </a:rPr>
                        <a:t>−1.4pp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9.87%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8.99%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+0.9pp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Terminal growth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-3.35%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2.00%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−5.4pp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29768" y="3429000"/>
            <a:ext cx="5989320" cy="27889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3520440"/>
            <a:ext cx="5715000" cy="2651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003255"/>
                </a:solidFill>
                <a:latin typeface="Arial"/>
              </a:rPr>
              <a:t>How to read it</a:t>
            </a:r>
            <a:endParaRPr sz="105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Margins: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the share price discounts an EBIT margin of 17.1% in 2033E – below today's 17.5%. Our 19.1% rests on operating leverage from a largely fixed cost base.</a:t>
            </a:r>
            <a:endParaRPr sz="10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Growth: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or revenue growth of 4.6% a year instead of our 5.4% – with our cost base that also means a margin of 17.6%.</a:t>
            </a:r>
            <a:endParaRPr sz="10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Discount rate: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or a WACC of 9.9% (ours 9.0%).</a:t>
            </a:r>
            <a:endParaRPr sz="10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What it is worth: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each percentage point of EBIT margin in every year is worth </a:t>
            </a:r>
            <a:r>
              <a:rPr sz="1000" b="1" i="0">
                <a:solidFill>
                  <a:srgbClr val="1F1F1F"/>
                </a:solidFill>
                <a:latin typeface="Arial"/>
              </a:rPr>
              <a:t>NOK 8.6 per share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– the upside rests on margins, not on multiples.</a:t>
            </a:r>
            <a:endParaRPr sz="1000"/>
          </a:p>
        </p:txBody>
      </p:sp>
      <p:sp>
        <p:nvSpPr>
          <p:cNvPr id="16" name="TextBox 15"/>
          <p:cNvSpPr txBox="1"/>
          <p:nvPr/>
        </p:nvSpPr>
        <p:spPr>
          <a:xfrm>
            <a:off x="6647688" y="12618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value per share vs. EBIT adj. margin in 2033E (NOK)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6647688" y="1563624"/>
            <a:ext cx="5074919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647688" y="1691640"/>
          <a:ext cx="51206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647688" y="5321808"/>
            <a:ext cx="5120640" cy="8229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1">
                <a:solidFill>
                  <a:srgbClr val="6B7480"/>
                </a:solidFill>
                <a:latin typeface="Arial"/>
              </a:rPr>
              <a:t>The line crosses today's share price at an EBIT margin of 17.1% (red point). Our base case of 19.1% (navy point) gives NOK 139 per share. Each point on the line shifts the margin by the same amount in every forecast year and the terminal year.</a:t>
            </a:r>
            <a:endParaRPr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#4.3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Scenario analysis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Bear-to-bull DCF range of NOK 62–201 per share; probability-weighted value of NOK 135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estimates (Excel model, Drivers and Sensitivity sheets – Bear/Base/Bull data table). Scenario adjustments are applied to every forecast year.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10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58064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Scenario assumptions and outcomes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57607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5806437" cy="36210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701734"/>
                <a:gridCol w="1034901"/>
                <a:gridCol w="1034901"/>
                <a:gridCol w="103490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Bear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Base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Bull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2E7D3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Assumptions (vs. base case, p.a.)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Volume / like-for-like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−1.5pp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+1.0pp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Price/mix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−1.0pp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per segment p.a.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COGS in % of 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+1.0pp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Personnel, variable part (% of rev.)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−0.3pp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Other opex, variable part (% of rev.)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Maintenance capex (% of revenue)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+0.3pp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Terminal growth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−0.5pp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+0.2pp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Probability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Outcomes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 CAGR 2025–2033E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 adj. margin 2033E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23.1%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Enterprise value (NOKm)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6,394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12,983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18,323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DCF value per share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62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201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Upside vs. current price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-49%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+65%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Target price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146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745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Implied recommendation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SELL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BUY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BUY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64808" y="12618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DCF value per share by scenario (NOK)</a:t>
            </a:r>
            <a:endParaRPr sz="1200"/>
          </a:p>
        </p:txBody>
      </p:sp>
      <p:cxnSp>
        <p:nvCxnSpPr>
          <p:cNvPr id="15" name="Connector 14"/>
          <p:cNvCxnSpPr/>
          <p:nvPr/>
        </p:nvCxnSpPr>
        <p:spPr>
          <a:xfrm>
            <a:off x="6464808" y="1563624"/>
            <a:ext cx="52578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464808" y="1691640"/>
          <a:ext cx="530352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7" name="Connector 16"/>
          <p:cNvCxnSpPr/>
          <p:nvPr/>
        </p:nvCxnSpPr>
        <p:spPr>
          <a:xfrm>
            <a:off x="6623913" y="2770033"/>
            <a:ext cx="4985309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623913" y="2670316"/>
            <a:ext cx="4985309" cy="0"/>
          </a:xfrm>
          <a:prstGeom prst="line">
            <a:avLst/>
          </a:prstGeom>
          <a:ln w="15875">
            <a:solidFill>
              <a:srgbClr val="00325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287768" y="4096512"/>
            <a:ext cx="320040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71816" y="4005072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1" i="0">
                <a:solidFill>
                  <a:srgbClr val="C00000"/>
                </a:solidFill>
                <a:latin typeface="Arial"/>
              </a:rPr>
              <a:t>Current share price NOK 122</a:t>
            </a:r>
            <a:endParaRPr sz="850"/>
          </a:p>
        </p:txBody>
      </p:sp>
      <p:cxnSp>
        <p:nvCxnSpPr>
          <p:cNvPr id="21" name="Connector 20"/>
          <p:cNvCxnSpPr/>
          <p:nvPr/>
        </p:nvCxnSpPr>
        <p:spPr>
          <a:xfrm>
            <a:off x="9665208" y="4096512"/>
            <a:ext cx="320040" cy="0"/>
          </a:xfrm>
          <a:prstGeom prst="line">
            <a:avLst/>
          </a:prstGeom>
          <a:ln w="19050">
            <a:solidFill>
              <a:srgbClr val="003255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049256" y="4005072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Probability-weighted value NOK 135</a:t>
            </a:r>
            <a:endParaRPr sz="850"/>
          </a:p>
        </p:txBody>
      </p:sp>
      <p:sp>
        <p:nvSpPr>
          <p:cNvPr id="23" name="Rectangle 22"/>
          <p:cNvSpPr/>
          <p:nvPr/>
        </p:nvSpPr>
        <p:spPr>
          <a:xfrm>
            <a:off x="6464808" y="4224528"/>
            <a:ext cx="1676400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Bear</a:t>
            </a:r>
            <a:endParaRPr sz="1000"/>
          </a:p>
        </p:txBody>
      </p:sp>
      <p:sp>
        <p:nvSpPr>
          <p:cNvPr id="24" name="Rectangle 23"/>
          <p:cNvSpPr/>
          <p:nvPr/>
        </p:nvSpPr>
        <p:spPr>
          <a:xfrm>
            <a:off x="6464808" y="4553712"/>
            <a:ext cx="1676400" cy="1481328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537960" y="4608576"/>
            <a:ext cx="1530096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Low-cost chains take share in the big cities: price increases stall, churn rises and the roll-out slows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Group price/mix growth and churn in the quarterly reports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margin 11.2% in 2033E; revenue CAGR 1.7%</a:t>
            </a:r>
            <a:endParaRPr sz="750"/>
          </a:p>
        </p:txBody>
      </p:sp>
      <p:sp>
        <p:nvSpPr>
          <p:cNvPr id="26" name="Rectangle 25"/>
          <p:cNvSpPr/>
          <p:nvPr/>
        </p:nvSpPr>
        <p:spPr>
          <a:xfrm>
            <a:off x="8278367" y="4224528"/>
            <a:ext cx="1676400" cy="29260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Base</a:t>
            </a:r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8278367" y="4553712"/>
            <a:ext cx="1676400" cy="1481328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1520" y="4608576"/>
            <a:ext cx="1530096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Steady like-for-like growth, around seven openings a year and operating leverage from a largely fixed cost base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Revenue per location and the ramp-up of the 2026 openings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margin 19.1% in 2033E; revenue CAGR 5.4%</a:t>
            </a:r>
            <a:endParaRPr sz="750"/>
          </a:p>
        </p:txBody>
      </p:sp>
      <p:sp>
        <p:nvSpPr>
          <p:cNvPr id="29" name="Rectangle 28"/>
          <p:cNvSpPr/>
          <p:nvPr/>
        </p:nvSpPr>
        <p:spPr>
          <a:xfrm>
            <a:off x="10091928" y="4224528"/>
            <a:ext cx="167640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Bull</a:t>
            </a:r>
            <a:endParaRPr sz="1000"/>
          </a:p>
        </p:txBody>
      </p:sp>
      <p:sp>
        <p:nvSpPr>
          <p:cNvPr id="30" name="Rectangle 29"/>
          <p:cNvSpPr/>
          <p:nvPr/>
        </p:nvSpPr>
        <p:spPr>
          <a:xfrm>
            <a:off x="10091928" y="4553712"/>
            <a:ext cx="1676400" cy="1481328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165080" y="4608576"/>
            <a:ext cx="1530096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Faster roll-out and premium tiers: more openings at similar returns and higher revenue per member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750" b="0" i="0">
                <a:solidFill>
                  <a:srgbClr val="1F1F1F"/>
                </a:solidFill>
                <a:latin typeface="Arial"/>
              </a:rPr>
              <a:t> Opening pipeline and premium share at the capital markets day</a:t>
            </a:r>
            <a:endParaRPr sz="75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margin 23.1% in 2033E; revenue CAGR 8.0%</a:t>
            </a:r>
            <a:endParaRPr sz="7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#4.4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Thesis tracker – what would make us wrong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All 5 kill criteria are on track on the 2025A actuals – we would change our view if any of them is breached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(Excel model, Thesis sheet). Latest actuals link to the last reported year – update them with each quarterly report.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11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Kill criteria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11338560" cy="149047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017520"/>
                <a:gridCol w="914400"/>
                <a:gridCol w="1005840"/>
                <a:gridCol w="1188720"/>
                <a:gridCol w="1371600"/>
                <a:gridCol w="1097280"/>
                <a:gridCol w="1371600"/>
                <a:gridCol w="137160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Kill if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Threshold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Latest (2025A)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Base case (2026E)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Watch zone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Base case check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Price/mix growth, group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3.3%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Like-for-like volume growth, group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-0.5%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0.4%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EBIT adj. margin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17.5%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17.5%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Cash conversion (FCFF / EBITDAaL)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below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40.0%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62.1%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48.8%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NIBD / EBITDAaL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above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1.50x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0.83x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0.75x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0.25x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ON TRACK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C6EFCE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3227832"/>
            <a:ext cx="113385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1">
                <a:solidFill>
                  <a:srgbClr val="6B7480"/>
                </a:solidFill>
                <a:latin typeface="Arial"/>
              </a:rPr>
              <a:t>Watch zone: the distance to the threshold that turns the status from ON TRACK to WATCH. Base case check: our own forecast for next year must not breach the criterion.</a:t>
            </a:r>
            <a:endParaRPr sz="800"/>
          </a:p>
        </p:txBody>
      </p:sp>
      <p:sp>
        <p:nvSpPr>
          <p:cNvPr id="15" name="TextBox 14"/>
          <p:cNvSpPr txBox="1"/>
          <p:nvPr/>
        </p:nvSpPr>
        <p:spPr>
          <a:xfrm>
            <a:off x="429768" y="370332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Scenario signposts – what has to happen, and what we watch</a:t>
            </a:r>
            <a:endParaRPr sz="1200"/>
          </a:p>
        </p:txBody>
      </p:sp>
      <p:cxnSp>
        <p:nvCxnSpPr>
          <p:cNvPr id="16" name="Connector 15"/>
          <p:cNvCxnSpPr/>
          <p:nvPr/>
        </p:nvCxnSpPr>
        <p:spPr>
          <a:xfrm>
            <a:off x="429768" y="400507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9768" y="4114800"/>
            <a:ext cx="3688080" cy="2926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Bear  ·  NOK 62 per share  ·  25%</a:t>
            </a:r>
            <a:endParaRPr sz="1000"/>
          </a:p>
        </p:txBody>
      </p:sp>
      <p:sp>
        <p:nvSpPr>
          <p:cNvPr id="18" name="Rectangle 17"/>
          <p:cNvSpPr/>
          <p:nvPr/>
        </p:nvSpPr>
        <p:spPr>
          <a:xfrm>
            <a:off x="429768" y="4443983"/>
            <a:ext cx="3688080" cy="1783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7" y="4507992"/>
            <a:ext cx="3505199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Low-cost chains take share in the big cities: price increases stall, churn rises and the roll-out slows</a:t>
            </a:r>
            <a:endParaRPr sz="9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What has to happen: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Two or more low-cost openings per quarter in our core cities and price/mix below +1.5% for two quarters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Group price/mix growth and churn in the quarterly reports</a:t>
            </a:r>
            <a:endParaRPr sz="900"/>
          </a:p>
        </p:txBody>
      </p:sp>
      <p:sp>
        <p:nvSpPr>
          <p:cNvPr id="20" name="Rectangle 19"/>
          <p:cNvSpPr/>
          <p:nvPr/>
        </p:nvSpPr>
        <p:spPr>
          <a:xfrm>
            <a:off x="4255008" y="4114800"/>
            <a:ext cx="3688080" cy="29260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Base  ·  NOK 139 per share  ·  50%</a:t>
            </a:r>
            <a:endParaRPr sz="1000"/>
          </a:p>
        </p:txBody>
      </p:sp>
      <p:sp>
        <p:nvSpPr>
          <p:cNvPr id="21" name="Rectangle 20"/>
          <p:cNvSpPr/>
          <p:nvPr/>
        </p:nvSpPr>
        <p:spPr>
          <a:xfrm>
            <a:off x="4255008" y="4443983"/>
            <a:ext cx="3688080" cy="1783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346448" y="4507992"/>
            <a:ext cx="3505199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Steady like-for-like growth, around seven openings a year and operating leverage from a largely fixed cost base</a:t>
            </a:r>
            <a:endParaRPr sz="9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What has to happen: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Annual price increases of ~3% stick and new locations reach 75% of mature volume in their second year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Revenue per location and the ramp-up of the 2026 openings</a:t>
            </a:r>
            <a:endParaRPr sz="900"/>
          </a:p>
        </p:txBody>
      </p:sp>
      <p:sp>
        <p:nvSpPr>
          <p:cNvPr id="23" name="Rectangle 22"/>
          <p:cNvSpPr/>
          <p:nvPr/>
        </p:nvSpPr>
        <p:spPr>
          <a:xfrm>
            <a:off x="8080248" y="4114800"/>
            <a:ext cx="3688080" cy="29260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Bull  ·  NOK 201 per share  ·  25%</a:t>
            </a:r>
            <a:endParaRPr sz="1000"/>
          </a:p>
        </p:txBody>
      </p:sp>
      <p:sp>
        <p:nvSpPr>
          <p:cNvPr id="24" name="Rectangle 23"/>
          <p:cNvSpPr/>
          <p:nvPr/>
        </p:nvSpPr>
        <p:spPr>
          <a:xfrm>
            <a:off x="8080248" y="4443983"/>
            <a:ext cx="3688080" cy="1783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71688" y="4507992"/>
            <a:ext cx="3505199" cy="1691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Story: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Faster roll-out and premium tiers: more openings at similar returns and higher revenue per member</a:t>
            </a:r>
            <a:endParaRPr sz="900"/>
          </a:p>
          <a:p>
            <a:pPr algn="l" marL="146304" indent="-146304">
              <a:spcAft>
                <a:spcPts val="5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What has to happen: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The capital markets day lifts the opening target and premium tiers pass 25% of members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1" i="0">
                <a:solidFill>
                  <a:srgbClr val="1F1F1F"/>
                </a:solidFill>
                <a:latin typeface="Arial"/>
              </a:rPr>
              <a:t>Watch:</a:t>
            </a:r>
            <a:r>
              <a:rPr sz="900" b="0" i="0">
                <a:solidFill>
                  <a:srgbClr val="1F1F1F"/>
                </a:solidFill>
                <a:latin typeface="Arial"/>
              </a:rPr>
              <a:t> Opening pipeline and premium share at the capital markets day</a:t>
            </a:r>
            <a:endParaRPr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#4.5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Where we differ from consensus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Our 2028E EBIT is +6.0% vs. consensus and EPS +8.5% – the gap widens every year as the operating leverage builds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Bloomberg consensus (example data – replace), 6 analysts; case team estimates (Excel model, Consensus sheet). Reported IFRS 16 basis.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12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estimates vs. consensus (NOKm, EPS and DPS in NOK)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11338551" cy="143560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016558"/>
                <a:gridCol w="1035777"/>
                <a:gridCol w="1035777"/>
                <a:gridCol w="1035777"/>
                <a:gridCol w="1035777"/>
                <a:gridCol w="1035777"/>
                <a:gridCol w="1035777"/>
                <a:gridCol w="1035777"/>
                <a:gridCol w="1035777"/>
                <a:gridCol w="1035777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 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 cons.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 diff.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 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 cons.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 diff.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 ours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 cons.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 diff.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5,726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5,698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+0.5%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6,084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5,994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+1.5%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6,479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6,321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+2.5%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EBITDA (reported)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1,701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1,684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+1.0%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1,819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1,775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+2.5%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1,956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1,881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+4.0%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EBIT (reported)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1,090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1,073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+1.5%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1,170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1,131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+3.5%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1,268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1,197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+6.0%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EPS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8.57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8.40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+2.0%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9.48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9.03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+5.0%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10.51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9.68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+8.5%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DPS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5.57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5.52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+0.9%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6.64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6.38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+4.0%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7.88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7.36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E7D32"/>
                          </a:solidFill>
                          <a:latin typeface="Arial"/>
                        </a:rPr>
                        <a:t>+7.1%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3182112"/>
            <a:ext cx="113385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1">
                <a:solidFill>
                  <a:srgbClr val="6B7480"/>
                </a:solidFill>
                <a:latin typeface="Arial"/>
              </a:rPr>
              <a:t>Consensus recommendations: 4 Buy / 2 Hold / 0 Sell · consensus target price NOK 135 (+11% upside). Green = we are above consensus.</a:t>
            </a:r>
            <a:endParaRPr sz="800"/>
          </a:p>
        </p:txBody>
      </p:sp>
      <p:sp>
        <p:nvSpPr>
          <p:cNvPr id="15" name="TextBox 14"/>
          <p:cNvSpPr txBox="1"/>
          <p:nvPr/>
        </p:nvSpPr>
        <p:spPr>
          <a:xfrm>
            <a:off x="429768" y="352044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Our variant perception</a:t>
            </a:r>
            <a:endParaRPr sz="1200"/>
          </a:p>
        </p:txBody>
      </p:sp>
      <p:cxnSp>
        <p:nvCxnSpPr>
          <p:cNvPr id="16" name="Connector 15"/>
          <p:cNvCxnSpPr/>
          <p:nvPr/>
        </p:nvCxnSpPr>
        <p:spPr>
          <a:xfrm>
            <a:off x="429768" y="3822191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9768" y="3931920"/>
            <a:ext cx="368808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1. Margins</a:t>
            </a:r>
            <a:endParaRPr sz="1050"/>
          </a:p>
        </p:txBody>
      </p:sp>
      <p:sp>
        <p:nvSpPr>
          <p:cNvPr id="18" name="Rectangle 17"/>
          <p:cNvSpPr/>
          <p:nvPr/>
        </p:nvSpPr>
        <p:spPr>
          <a:xfrm>
            <a:off x="429768" y="4279392"/>
            <a:ext cx="36880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7" y="4343400"/>
            <a:ext cx="3505199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We: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EBIT margin expands as fixed costs are spread over more locations and revenue per location grows with price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Consensus: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Flat margins: cost inflation eats the price increases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Why: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About 60% of personnel and 50% of other opex are fixed; rent grows with inflation and the number of locations, not with revenue</a:t>
            </a:r>
            <a:endParaRPr sz="850"/>
          </a:p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Proof – and when: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Q4 report (February): 2027 margin guidance. Capital markets day (November): margin target</a:t>
            </a:r>
            <a:endParaRPr sz="850"/>
          </a:p>
        </p:txBody>
      </p:sp>
      <p:sp>
        <p:nvSpPr>
          <p:cNvPr id="20" name="TextBox 19"/>
          <p:cNvSpPr txBox="1"/>
          <p:nvPr/>
        </p:nvSpPr>
        <p:spPr>
          <a:xfrm>
            <a:off x="521207" y="5760720"/>
            <a:ext cx="3505199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1" i="0">
                <a:solidFill>
                  <a:srgbClr val="2E7D32"/>
                </a:solidFill>
                <a:latin typeface="Arial"/>
              </a:rPr>
              <a:t>EBIT 2028E: +6.0% vs. consensus</a:t>
            </a:r>
            <a:endParaRPr sz="1100"/>
          </a:p>
        </p:txBody>
      </p:sp>
      <p:sp>
        <p:nvSpPr>
          <p:cNvPr id="21" name="Rectangle 20"/>
          <p:cNvSpPr/>
          <p:nvPr/>
        </p:nvSpPr>
        <p:spPr>
          <a:xfrm>
            <a:off x="4255008" y="3931920"/>
            <a:ext cx="368808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2. Roll-out</a:t>
            </a:r>
            <a:endParaRPr sz="1050"/>
          </a:p>
        </p:txBody>
      </p:sp>
      <p:sp>
        <p:nvSpPr>
          <p:cNvPr id="22" name="Rectangle 21"/>
          <p:cNvSpPr/>
          <p:nvPr/>
        </p:nvSpPr>
        <p:spPr>
          <a:xfrm>
            <a:off x="4255008" y="4279392"/>
            <a:ext cx="36880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46448" y="4343400"/>
            <a:ext cx="3505199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We: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Around seven openings a year that reach mature volume in their third year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Consensus: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Four to five openings a year, no step-up in the pipeline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Why: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Signed leases for 2026-27 and the integration of the 2024-25 bolt-ons free up management capacity</a:t>
            </a:r>
            <a:endParaRPr sz="850"/>
          </a:p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Proof – and when: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Capital markets day (November): opening target and pipeline</a:t>
            </a:r>
            <a:endParaRPr sz="850"/>
          </a:p>
        </p:txBody>
      </p:sp>
      <p:sp>
        <p:nvSpPr>
          <p:cNvPr id="24" name="TextBox 23"/>
          <p:cNvSpPr txBox="1"/>
          <p:nvPr/>
        </p:nvSpPr>
        <p:spPr>
          <a:xfrm>
            <a:off x="4346448" y="5760720"/>
            <a:ext cx="3505199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1" i="0">
                <a:solidFill>
                  <a:srgbClr val="2E7D32"/>
                </a:solidFill>
                <a:latin typeface="Arial"/>
              </a:rPr>
              <a:t>Revenue 2028E: +2.5% vs. consensus</a:t>
            </a:r>
            <a:endParaRPr sz="1100"/>
          </a:p>
        </p:txBody>
      </p:sp>
      <p:sp>
        <p:nvSpPr>
          <p:cNvPr id="25" name="Rectangle 24"/>
          <p:cNvSpPr/>
          <p:nvPr/>
        </p:nvSpPr>
        <p:spPr>
          <a:xfrm>
            <a:off x="8080248" y="3931920"/>
            <a:ext cx="3688080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3. Capital returns</a:t>
            </a:r>
            <a:endParaRPr sz="1050"/>
          </a:p>
        </p:txBody>
      </p:sp>
      <p:sp>
        <p:nvSpPr>
          <p:cNvPr id="26" name="Rectangle 25"/>
          <p:cNvSpPr/>
          <p:nvPr/>
        </p:nvSpPr>
        <p:spPr>
          <a:xfrm>
            <a:off x="8080248" y="4279392"/>
            <a:ext cx="3688080" cy="18288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71688" y="4343400"/>
            <a:ext cx="3505199" cy="1417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We: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Cash above 0.75x NIBD/EBITDAaL goes to buybacks – EPS grows faster than net profit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Consensus: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Dividends only; leverage drifts down</a:t>
            </a:r>
            <a:endParaRPr sz="850"/>
          </a:p>
          <a:p>
            <a:pPr algn="l">
              <a:spcAft>
                <a:spcPts val="300"/>
              </a:spcAft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Why: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Stated leverage target and a stable, cash-generative subscription model</a:t>
            </a:r>
            <a:endParaRPr sz="850"/>
          </a:p>
          <a:p>
            <a:pPr algn="l">
              <a:buNone/>
            </a:pPr>
            <a:r>
              <a:rPr sz="850" b="1" i="0">
                <a:solidFill>
                  <a:srgbClr val="1F1F1F"/>
                </a:solidFill>
                <a:latin typeface="Arial"/>
              </a:rPr>
              <a:t>Proof – and when:</a:t>
            </a:r>
            <a:r>
              <a:rPr sz="850" b="0" i="0">
                <a:solidFill>
                  <a:srgbClr val="1F1F1F"/>
                </a:solidFill>
                <a:latin typeface="Arial"/>
              </a:rPr>
              <a:t> AGM (spring 2027): buyback mandate</a:t>
            </a:r>
            <a:endParaRPr sz="850"/>
          </a:p>
        </p:txBody>
      </p:sp>
      <p:sp>
        <p:nvSpPr>
          <p:cNvPr id="28" name="TextBox 27"/>
          <p:cNvSpPr txBox="1"/>
          <p:nvPr/>
        </p:nvSpPr>
        <p:spPr>
          <a:xfrm>
            <a:off x="8171688" y="5760720"/>
            <a:ext cx="3505199" cy="320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1" i="0">
                <a:solidFill>
                  <a:srgbClr val="2E7D32"/>
                </a:solidFill>
                <a:latin typeface="Arial"/>
              </a:rPr>
              <a:t>EPS 2028E: +8.5% vs. consensus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#4.6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Growth engine – like-for-like and new locations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32 new locations over 2026E–2030E add ~2.3pp a year, like-for-like ~0.8pp and price/mix ~2.9pp – 6.0% revenue CAGR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estimates (Excel model, Model and Drivers sheets – location mode). New locations ramp up over three years; fixed costs and rent grow with inflation and the number of locations. Figures are illustrative.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13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Revenue growth by source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55321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9768" y="1645920"/>
          <a:ext cx="557784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90488" y="1261872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Locations (year end) and revenue per location (NOKm)</a:t>
            </a:r>
            <a:endParaRPr sz="1200"/>
          </a:p>
        </p:txBody>
      </p:sp>
      <p:cxnSp>
        <p:nvCxnSpPr>
          <p:cNvPr id="15" name="Connector 14"/>
          <p:cNvCxnSpPr/>
          <p:nvPr/>
        </p:nvCxnSpPr>
        <p:spPr>
          <a:xfrm>
            <a:off x="6190488" y="1563624"/>
            <a:ext cx="5532119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190488" y="1645920"/>
          <a:ext cx="5577840" cy="2148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9768" y="40233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Location economics – base case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429768" y="432511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9768" y="4425696"/>
          <a:ext cx="7680960" cy="15453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74320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8C96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Locations, year end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217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224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244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249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+5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Mature-equivalent locations (all segments)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217.0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219.4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224.7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231.4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238.0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243.9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Revenue per average location (NOKm)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25.4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26.0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26.7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27.6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28.5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29.4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Capex per new location (NOKm)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22.0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22.6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23.1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23.7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24.3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1F1F1F"/>
                          </a:solidFill>
                          <a:latin typeface="Arial"/>
                        </a:rPr>
                        <a:t>Growth capex (NOKm)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154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158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162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142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122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8321040" y="4425696"/>
            <a:ext cx="3447288" cy="158191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30768" y="4480560"/>
            <a:ext cx="3246120" cy="1508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003255"/>
                </a:solidFill>
                <a:latin typeface="Arial"/>
              </a:rPr>
              <a:t>How a new location matures</a:t>
            </a:r>
            <a:endParaRPr sz="100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Volume vs. a mature location: </a:t>
            </a:r>
            <a:r>
              <a:rPr sz="900" b="1" i="0">
                <a:solidFill>
                  <a:srgbClr val="1F1F1F"/>
                </a:solidFill>
                <a:latin typeface="Arial"/>
              </a:rPr>
              <a:t>35%</a:t>
            </a:r>
            <a:r>
              <a:rPr sz="900" b="0" i="0">
                <a:solidFill>
                  <a:srgbClr val="1F1F1F"/>
                </a:solidFill>
                <a:latin typeface="Arial"/>
              </a:rPr>
              <a:t> in the opening year, </a:t>
            </a:r>
            <a:r>
              <a:rPr sz="900" b="1" i="0">
                <a:solidFill>
                  <a:srgbClr val="1F1F1F"/>
                </a:solidFill>
                <a:latin typeface="Arial"/>
              </a:rPr>
              <a:t>75%</a:t>
            </a:r>
            <a:r>
              <a:rPr sz="900" b="0" i="0">
                <a:solidFill>
                  <a:srgbClr val="1F1F1F"/>
                </a:solidFill>
                <a:latin typeface="Arial"/>
              </a:rPr>
              <a:t> in year two, </a:t>
            </a:r>
            <a:r>
              <a:rPr sz="900" b="1" i="0">
                <a:solidFill>
                  <a:srgbClr val="1F1F1F"/>
                </a:solidFill>
                <a:latin typeface="Arial"/>
              </a:rPr>
              <a:t>95%</a:t>
            </a:r>
            <a:r>
              <a:rPr sz="900" b="0" i="0">
                <a:solidFill>
                  <a:srgbClr val="1F1F1F"/>
                </a:solidFill>
                <a:latin typeface="Arial"/>
              </a:rPr>
              <a:t> in year three, 100% from year four.</a:t>
            </a:r>
            <a:endParaRPr sz="900"/>
          </a:p>
          <a:p>
            <a:pPr algn="l" marL="146304" indent="-146304"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Rent and staff are paid from day one – openings dilute margins first and lift them as they mature.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#4.7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Peer group and multiples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Example Company trades at a 11% discount to peers on 2027E EV/EBIT despite a 5pp higher EBIT margin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Bloomberg consensus as provided in the case material (example data – replace), case team estimates. Multiples at current share prices; EV incl. lease liabilities (IFRS 16 basis).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14</a:t>
            </a:r>
            <a:endParaRPr sz="90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9768" y="1280160"/>
          <a:ext cx="11338558" cy="27066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230536"/>
                <a:gridCol w="743512"/>
                <a:gridCol w="1022329"/>
                <a:gridCol w="929390"/>
                <a:gridCol w="929390"/>
                <a:gridCol w="929390"/>
                <a:gridCol w="929390"/>
                <a:gridCol w="836451"/>
                <a:gridCol w="836451"/>
                <a:gridCol w="1022329"/>
                <a:gridCol w="92939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Mcap (NOKm)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EV/EBITDA 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EV/EBITDA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 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EV/EBIT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P/E 2026E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P/E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EBIT margin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Growth 2027E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A ASA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18,500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B AB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24,300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C A/S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DK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9,800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D Oyj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FI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6,400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E AB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31,200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F plc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UK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42,000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G SE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27,700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H NV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NL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15,100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7.0x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Peer median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21,400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7.4x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12.7x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16.6x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15.2x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14.2%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5.5%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Peer mean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21,875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7.5x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14.1x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Example Company ASA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10,370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7.8x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7.3x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12.2x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11.3x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14.2x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12.9x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19.2%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003255"/>
                          </a:solidFill>
                          <a:latin typeface="Arial"/>
                        </a:rPr>
                        <a:t>6.2%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Premium / (discount) vs. median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(2%)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(2%)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(13%)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(11%)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(15%)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(15%)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+5.1pp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1">
                          <a:solidFill>
                            <a:srgbClr val="6B7480"/>
                          </a:solidFill>
                          <a:latin typeface="Arial"/>
                        </a:rPr>
                        <a:t>+0.7pp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29768" y="4315968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EV/EBIT 2027E – peers vs. Example Company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4617720"/>
            <a:ext cx="55321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29768" y="4700016"/>
          <a:ext cx="5577840" cy="1600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5" name="Connector 14"/>
          <p:cNvCxnSpPr/>
          <p:nvPr/>
        </p:nvCxnSpPr>
        <p:spPr>
          <a:xfrm>
            <a:off x="541324" y="5184753"/>
            <a:ext cx="5354727" cy="0"/>
          </a:xfrm>
          <a:prstGeom prst="line">
            <a:avLst/>
          </a:prstGeom>
          <a:ln w="12700">
            <a:solidFill>
              <a:srgbClr val="1F1F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44567" y="4983585"/>
            <a:ext cx="14173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Peer median 12.7x</a:t>
            </a:r>
            <a:endParaRPr sz="800"/>
          </a:p>
        </p:txBody>
      </p:sp>
      <p:sp>
        <p:nvSpPr>
          <p:cNvPr id="17" name="TextBox 16"/>
          <p:cNvSpPr txBox="1"/>
          <p:nvPr/>
        </p:nvSpPr>
        <p:spPr>
          <a:xfrm>
            <a:off x="6236208" y="4315968"/>
            <a:ext cx="55321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Implied value per share from peer multiples (NOK)</a:t>
            </a:r>
            <a:endParaRPr sz="1200"/>
          </a:p>
        </p:txBody>
      </p:sp>
      <p:cxnSp>
        <p:nvCxnSpPr>
          <p:cNvPr id="18" name="Connector 17"/>
          <p:cNvCxnSpPr/>
          <p:nvPr/>
        </p:nvCxnSpPr>
        <p:spPr>
          <a:xfrm>
            <a:off x="6236208" y="4617720"/>
            <a:ext cx="548640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236208" y="4727448"/>
          <a:ext cx="5532120" cy="130759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600200"/>
                <a:gridCol w="1188720"/>
                <a:gridCol w="685800"/>
                <a:gridCol w="685800"/>
                <a:gridCol w="685800"/>
                <a:gridCol w="68580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Multiple (2027E)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Company metric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25th pct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Median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75th pct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Included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EV / Sales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NOKm 6,084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6B7480"/>
                          </a:solidFill>
                          <a:latin typeface="Arial"/>
                        </a:rPr>
                        <a:t>No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EV / EBITDA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NOKm 1,819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125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EV / EBIT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NOKm 1,170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 / 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NOK 9.48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144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2E7D32"/>
                          </a:solidFill>
                          <a:latin typeface="Arial"/>
                        </a:rPr>
                        <a:t>Yes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Average (included)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120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152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D6E6E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236208" y="6144768"/>
            <a:ext cx="55321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EV/Sales excluded: ignores the company's superior margins.</a:t>
            </a:r>
            <a:endParaRPr sz="7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#4.8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WACC and key forecast assumptions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9.0% WACC from a peer-based beta; forecast drivers anchored in the historical track record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Norges Bank (risk-free rate), NFF/PwC risk premium survey, Bloomberg (peer betas), case team estimates. Example values – update before use.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15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Cost of capital build-up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438912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9768" y="1664208"/>
          <a:ext cx="4434838" cy="314553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956559"/>
                <a:gridCol w="1478279"/>
              </a:tblGrid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Cost of equity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Risk-free rate (10y NGB)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Equity risk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Unlevered beta (peer median)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D/E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11.1%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Relevered beta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Size premium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Cost of equity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9.47%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Cost of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Pre-tax cost of debt (rf + spread)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Tax rate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After-tax cost of debt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4.68%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Capital structure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D / (D+E)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Target E / (D+E)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8.99%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9768" y="4892040"/>
            <a:ext cx="44348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Peer betas (2y weekly, Blume-adjusted)</a:t>
            </a:r>
            <a:endParaRPr sz="900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29768" y="5102352"/>
          <a:ext cx="4434835" cy="106070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463039"/>
                <a:gridCol w="731519"/>
                <a:gridCol w="731519"/>
                <a:gridCol w="731519"/>
                <a:gridCol w="777239"/>
              </a:tblGrid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Peer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Raw β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Adj. β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D/E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Unlev. β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Peer A ASA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1.05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1.03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28%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0.85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Peer B AB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0.98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0.99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35%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0.77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Peer C A/S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1.12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1.08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42%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0.81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Peer D Oyj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1.21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1.14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55%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 i="0">
                          <a:solidFill>
                            <a:srgbClr val="1F1F1F"/>
                          </a:solidFill>
                          <a:latin typeface="Arial"/>
                        </a:rPr>
                        <a:t>0.79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Median (8 peers)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1.06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1.04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36%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1F1F1F"/>
                          </a:solidFill>
                          <a:latin typeface="Arial"/>
                        </a:rPr>
                        <a:t>0.82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138928" y="1261872"/>
            <a:ext cx="6629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Base case forecast drivers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5138928" y="1563624"/>
            <a:ext cx="6583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138928" y="1664208"/>
          <a:ext cx="6629395" cy="3545125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26280"/>
                <a:gridCol w="566147"/>
                <a:gridCol w="529621"/>
                <a:gridCol w="529621"/>
                <a:gridCol w="529621"/>
                <a:gridCol w="529621"/>
                <a:gridCol w="529621"/>
                <a:gridCol w="529621"/>
                <a:gridCol w="529621"/>
                <a:gridCol w="529621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Hist. 3y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8C96A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2032E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2033E</a:t>
                      </a:r>
                      <a:endParaRPr sz="8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3255"/>
                          </a:solidFill>
                          <a:latin typeface="Arial"/>
                        </a:rPr>
                        <a:t>Revenue drivers (location mode)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Like-for-like – Norway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Like-for-like – Sweden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Like-for-like – Denmark &amp; Finland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0.5%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– Norway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– Sweden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Net new locations – Denmark &amp; Finland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Price/mix – Norway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Price/mix – Sweden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Price/mix – Denmark &amp; Finland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2.8%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2.3%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2.2%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3255"/>
                          </a:solidFill>
                          <a:latin typeface="Arial"/>
                        </a:rPr>
                        <a:t>Costs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COGS (% of revenue)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37.1%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36.6%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Personnel, variable (% of rev.)¹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22.1%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Other opex, variable (% of rev.)¹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12.1%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5.9%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Cost inflation, fixed costs and rent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3.0%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D&amp;A (owned assets)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64592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003255"/>
                          </a:solidFill>
                          <a:latin typeface="Arial"/>
                        </a:rPr>
                        <a:t>Investments and other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003255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Maintenance capex (% of revenue)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4.5%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Capex per new location (NOKm)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–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22.6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23.1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23.7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24.3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24.9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25.5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26.1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NWC (% of revenue)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-6.4%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-6.5%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Tax rate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22.0%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  <a:tr h="149047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Dividend payout ratio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71.7%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65.0%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70.0%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75.0%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85.0%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 i="0">
                          <a:solidFill>
                            <a:srgbClr val="1F1F1F"/>
                          </a:solidFill>
                          <a:latin typeface="Arial"/>
                        </a:rPr>
                        <a:t>90.0%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EF0F3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138928" y="5440680"/>
            <a:ext cx="6629400" cy="82296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76088" y="5486400"/>
            <a:ext cx="6355080" cy="7315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200"/>
              </a:spcAft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Terminal assumptions</a:t>
            </a:r>
            <a:endParaRPr sz="95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Growth 2.0% • RONIC 12% • EBIT margin 19.1% (final forecast year) • Long-term tax 22% • Exit multiple cross-check 8.5x EV/EBITDAaL</a:t>
            </a:r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5138928" y="5230368"/>
            <a:ext cx="6629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6B7480"/>
                </a:solidFill>
                <a:latin typeface="Arial"/>
              </a:rPr>
              <a:t>¹ History shows the total cost ratio; the fixed part (Drivers E) grows with inflation and the number of locations instead of with revenue.</a:t>
            </a:r>
            <a:endParaRPr sz="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Appendix #4.9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Key risks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Operating leverage cuts both ways – our bear case DCF of NOK 62 is 49% below today's share price, against 20% upside to our target price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Sources: Case team assessment. Probability and impact are qualitative (1 = low, 3 = high).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16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325880"/>
            <a:ext cx="5394960" cy="489204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58368" y="15544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  <a:endParaRPr sz="1300"/>
          </a:p>
        </p:txBody>
      </p:sp>
      <p:sp>
        <p:nvSpPr>
          <p:cNvPr id="13" name="TextBox 12"/>
          <p:cNvSpPr txBox="1"/>
          <p:nvPr/>
        </p:nvSpPr>
        <p:spPr>
          <a:xfrm>
            <a:off x="1252728" y="15179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Pricing pressure</a:t>
            </a:r>
            <a:endParaRPr sz="1250"/>
          </a:p>
        </p:txBody>
      </p:sp>
      <p:sp>
        <p:nvSpPr>
          <p:cNvPr id="14" name="TextBox 13"/>
          <p:cNvSpPr txBox="1"/>
          <p:nvPr/>
        </p:nvSpPr>
        <p:spPr>
          <a:xfrm>
            <a:off x="1252728" y="17922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Low-cost competitors could cap price increases and raise churn.</a:t>
            </a:r>
            <a:endParaRPr sz="1000"/>
          </a:p>
        </p:txBody>
      </p:sp>
      <p:sp>
        <p:nvSpPr>
          <p:cNvPr id="15" name="Oval 14"/>
          <p:cNvSpPr/>
          <p:nvPr/>
        </p:nvSpPr>
        <p:spPr>
          <a:xfrm>
            <a:off x="658368" y="24688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  <a:endParaRPr sz="1300"/>
          </a:p>
        </p:txBody>
      </p:sp>
      <p:sp>
        <p:nvSpPr>
          <p:cNvPr id="16" name="TextBox 15"/>
          <p:cNvSpPr txBox="1"/>
          <p:nvPr/>
        </p:nvSpPr>
        <p:spPr>
          <a:xfrm>
            <a:off x="1252728" y="24323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Consumer slowdown</a:t>
            </a:r>
            <a:endParaRPr sz="1250"/>
          </a:p>
        </p:txBody>
      </p:sp>
      <p:sp>
        <p:nvSpPr>
          <p:cNvPr id="17" name="TextBox 16"/>
          <p:cNvSpPr txBox="1"/>
          <p:nvPr/>
        </p:nvSpPr>
        <p:spPr>
          <a:xfrm>
            <a:off x="1252728" y="27066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Higher rates and inflation could reduce discretionary spending.</a:t>
            </a:r>
            <a:endParaRPr sz="1000"/>
          </a:p>
        </p:txBody>
      </p:sp>
      <p:sp>
        <p:nvSpPr>
          <p:cNvPr id="18" name="Oval 17"/>
          <p:cNvSpPr/>
          <p:nvPr/>
        </p:nvSpPr>
        <p:spPr>
          <a:xfrm>
            <a:off x="658368" y="33832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  <a:endParaRPr sz="1300"/>
          </a:p>
        </p:txBody>
      </p:sp>
      <p:sp>
        <p:nvSpPr>
          <p:cNvPr id="19" name="TextBox 18"/>
          <p:cNvSpPr txBox="1"/>
          <p:nvPr/>
        </p:nvSpPr>
        <p:spPr>
          <a:xfrm>
            <a:off x="1252728" y="33467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Cost inflation</a:t>
            </a:r>
            <a:endParaRPr sz="1250"/>
          </a:p>
        </p:txBody>
      </p:sp>
      <p:sp>
        <p:nvSpPr>
          <p:cNvPr id="20" name="TextBox 19"/>
          <p:cNvSpPr txBox="1"/>
          <p:nvPr/>
        </p:nvSpPr>
        <p:spPr>
          <a:xfrm>
            <a:off x="1252728" y="36210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Wage and energy inflation could delay margin expansion.</a:t>
            </a:r>
            <a:endParaRPr sz="1000"/>
          </a:p>
        </p:txBody>
      </p:sp>
      <p:sp>
        <p:nvSpPr>
          <p:cNvPr id="21" name="Oval 20"/>
          <p:cNvSpPr/>
          <p:nvPr/>
        </p:nvSpPr>
        <p:spPr>
          <a:xfrm>
            <a:off x="658368" y="42976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  <a:endParaRPr sz="1300"/>
          </a:p>
        </p:txBody>
      </p:sp>
      <p:sp>
        <p:nvSpPr>
          <p:cNvPr id="22" name="TextBox 21"/>
          <p:cNvSpPr txBox="1"/>
          <p:nvPr/>
        </p:nvSpPr>
        <p:spPr>
          <a:xfrm>
            <a:off x="1252728" y="42611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Execution on growth</a:t>
            </a:r>
            <a:endParaRPr sz="1250"/>
          </a:p>
        </p:txBody>
      </p:sp>
      <p:sp>
        <p:nvSpPr>
          <p:cNvPr id="23" name="TextBox 22"/>
          <p:cNvSpPr txBox="1"/>
          <p:nvPr/>
        </p:nvSpPr>
        <p:spPr>
          <a:xfrm>
            <a:off x="1252728" y="45354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New locations and digital products may ramp up slower than planned.</a:t>
            </a:r>
            <a:endParaRPr sz="1000"/>
          </a:p>
        </p:txBody>
      </p:sp>
      <p:sp>
        <p:nvSpPr>
          <p:cNvPr id="24" name="Oval 23"/>
          <p:cNvSpPr/>
          <p:nvPr/>
        </p:nvSpPr>
        <p:spPr>
          <a:xfrm>
            <a:off x="658368" y="52120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  <a:endParaRPr sz="1300"/>
          </a:p>
        </p:txBody>
      </p:sp>
      <p:sp>
        <p:nvSpPr>
          <p:cNvPr id="25" name="TextBox 24"/>
          <p:cNvSpPr txBox="1"/>
          <p:nvPr/>
        </p:nvSpPr>
        <p:spPr>
          <a:xfrm>
            <a:off x="1252728" y="5175504"/>
            <a:ext cx="43891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50" b="1" i="0">
                <a:solidFill>
                  <a:srgbClr val="003255"/>
                </a:solidFill>
                <a:latin typeface="Arial"/>
              </a:rPr>
              <a:t>Leverage and M&amp;A</a:t>
            </a:r>
            <a:endParaRPr sz="1250"/>
          </a:p>
        </p:txBody>
      </p:sp>
      <p:sp>
        <p:nvSpPr>
          <p:cNvPr id="26" name="TextBox 25"/>
          <p:cNvSpPr txBox="1"/>
          <p:nvPr/>
        </p:nvSpPr>
        <p:spPr>
          <a:xfrm>
            <a:off x="1252728" y="5449824"/>
            <a:ext cx="4389120" cy="5029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Large acquisitions could add integration risk and debt.</a:t>
            </a:r>
            <a:endParaRPr sz="1000"/>
          </a:p>
        </p:txBody>
      </p:sp>
      <p:sp>
        <p:nvSpPr>
          <p:cNvPr id="27" name="Rectangle 26"/>
          <p:cNvSpPr/>
          <p:nvPr/>
        </p:nvSpPr>
        <p:spPr>
          <a:xfrm>
            <a:off x="6949440" y="1463040"/>
            <a:ext cx="1417320" cy="14173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412480" y="1463040"/>
            <a:ext cx="1417320" cy="1417320"/>
          </a:xfrm>
          <a:prstGeom prst="rect">
            <a:avLst/>
          </a:prstGeom>
          <a:solidFill>
            <a:srgbClr val="F0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9875520" y="1463040"/>
            <a:ext cx="1417320" cy="141732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949440" y="2926080"/>
            <a:ext cx="1417320" cy="1417320"/>
          </a:xfrm>
          <a:prstGeom prst="rect">
            <a:avLst/>
          </a:prstGeom>
          <a:solidFill>
            <a:srgbClr val="C7D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412480" y="2926080"/>
            <a:ext cx="1417320" cy="14173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9875520" y="2926080"/>
            <a:ext cx="1417320" cy="1417320"/>
          </a:xfrm>
          <a:prstGeom prst="rect">
            <a:avLst/>
          </a:prstGeom>
          <a:solidFill>
            <a:srgbClr val="F0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6949440" y="4389120"/>
            <a:ext cx="1417320" cy="1417320"/>
          </a:xfrm>
          <a:prstGeom prst="rect">
            <a:avLst/>
          </a:prstGeom>
          <a:solidFill>
            <a:srgbClr val="7DB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8412480" y="4389120"/>
            <a:ext cx="1417320" cy="1417320"/>
          </a:xfrm>
          <a:prstGeom prst="rect">
            <a:avLst/>
          </a:prstGeom>
          <a:solidFill>
            <a:srgbClr val="C7D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9875520" y="4389120"/>
            <a:ext cx="1417320" cy="141732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0373868" y="196138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  <a:endParaRPr sz="1300"/>
          </a:p>
        </p:txBody>
      </p:sp>
      <p:sp>
        <p:nvSpPr>
          <p:cNvPr id="37" name="Oval 36"/>
          <p:cNvSpPr/>
          <p:nvPr/>
        </p:nvSpPr>
        <p:spPr>
          <a:xfrm>
            <a:off x="10373868" y="342442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  <a:endParaRPr sz="1300"/>
          </a:p>
        </p:txBody>
      </p:sp>
      <p:sp>
        <p:nvSpPr>
          <p:cNvPr id="38" name="Oval 37"/>
          <p:cNvSpPr/>
          <p:nvPr/>
        </p:nvSpPr>
        <p:spPr>
          <a:xfrm>
            <a:off x="8910828" y="196138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  <a:endParaRPr sz="1300"/>
          </a:p>
        </p:txBody>
      </p:sp>
      <p:sp>
        <p:nvSpPr>
          <p:cNvPr id="39" name="Oval 38"/>
          <p:cNvSpPr/>
          <p:nvPr/>
        </p:nvSpPr>
        <p:spPr>
          <a:xfrm>
            <a:off x="8910828" y="342442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  <a:endParaRPr sz="1300"/>
          </a:p>
        </p:txBody>
      </p:sp>
      <p:sp>
        <p:nvSpPr>
          <p:cNvPr id="40" name="Oval 39"/>
          <p:cNvSpPr/>
          <p:nvPr/>
        </p:nvSpPr>
        <p:spPr>
          <a:xfrm>
            <a:off x="8910828" y="4887468"/>
            <a:ext cx="420624" cy="420624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  <a:endParaRPr sz="1300"/>
          </a:p>
        </p:txBody>
      </p:sp>
      <p:sp>
        <p:nvSpPr>
          <p:cNvPr id="41" name="TextBox 40"/>
          <p:cNvSpPr txBox="1"/>
          <p:nvPr/>
        </p:nvSpPr>
        <p:spPr>
          <a:xfrm>
            <a:off x="6949440" y="584301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Low</a:t>
            </a:r>
            <a:endParaRPr sz="900"/>
          </a:p>
        </p:txBody>
      </p:sp>
      <p:sp>
        <p:nvSpPr>
          <p:cNvPr id="42" name="TextBox 41"/>
          <p:cNvSpPr txBox="1"/>
          <p:nvPr/>
        </p:nvSpPr>
        <p:spPr>
          <a:xfrm>
            <a:off x="8412480" y="584301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Medium</a:t>
            </a:r>
            <a:endParaRPr sz="900"/>
          </a:p>
        </p:txBody>
      </p:sp>
      <p:sp>
        <p:nvSpPr>
          <p:cNvPr id="43" name="TextBox 42"/>
          <p:cNvSpPr txBox="1"/>
          <p:nvPr/>
        </p:nvSpPr>
        <p:spPr>
          <a:xfrm>
            <a:off x="9875520" y="5843016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High</a:t>
            </a:r>
            <a:endParaRPr sz="900"/>
          </a:p>
        </p:txBody>
      </p:sp>
      <p:sp>
        <p:nvSpPr>
          <p:cNvPr id="44" name="TextBox 43"/>
          <p:cNvSpPr txBox="1"/>
          <p:nvPr/>
        </p:nvSpPr>
        <p:spPr>
          <a:xfrm>
            <a:off x="6949440" y="6080759"/>
            <a:ext cx="43434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1F1F1F"/>
                </a:solidFill>
                <a:latin typeface="Arial"/>
              </a:rPr>
              <a:t>Impact →</a:t>
            </a:r>
            <a:endParaRPr sz="1100"/>
          </a:p>
        </p:txBody>
      </p:sp>
      <p:sp>
        <p:nvSpPr>
          <p:cNvPr id="45" name="TextBox 44"/>
          <p:cNvSpPr txBox="1"/>
          <p:nvPr/>
        </p:nvSpPr>
        <p:spPr>
          <a:xfrm rot="16200000">
            <a:off x="5257800" y="3497580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1F1F1F"/>
                </a:solidFill>
                <a:latin typeface="Arial"/>
              </a:rPr>
              <a:t>Probability →</a:t>
            </a:r>
            <a:endParaRPr sz="1100"/>
          </a:p>
        </p:txBody>
      </p:sp>
      <p:sp>
        <p:nvSpPr>
          <p:cNvPr id="46" name="TextBox 45"/>
          <p:cNvSpPr txBox="1"/>
          <p:nvPr/>
        </p:nvSpPr>
        <p:spPr>
          <a:xfrm>
            <a:off x="6382512" y="2071116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High</a:t>
            </a:r>
            <a:endParaRPr sz="900"/>
          </a:p>
        </p:txBody>
      </p:sp>
      <p:sp>
        <p:nvSpPr>
          <p:cNvPr id="47" name="TextBox 46"/>
          <p:cNvSpPr txBox="1"/>
          <p:nvPr/>
        </p:nvSpPr>
        <p:spPr>
          <a:xfrm>
            <a:off x="6382512" y="3534156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Medium</a:t>
            </a:r>
            <a:endParaRPr sz="900"/>
          </a:p>
        </p:txBody>
      </p:sp>
      <p:sp>
        <p:nvSpPr>
          <p:cNvPr id="48" name="TextBox 47"/>
          <p:cNvSpPr txBox="1"/>
          <p:nvPr/>
        </p:nvSpPr>
        <p:spPr>
          <a:xfrm>
            <a:off x="6382512" y="4997196"/>
            <a:ext cx="50292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Low</a:t>
            </a:r>
            <a:endParaRPr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Delete this slide before submission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How to use this template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From case files to a finished pitch – every number flows from the Excel model (Equity_Research_DCF_Toolkit.xlsx)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Built for Pareto-style equity research cases. Example Company ASA and all market data are fictional.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17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618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Workflow</a:t>
            </a:r>
            <a:endParaRPr sz="12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63624"/>
            <a:ext cx="63550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75488" y="178308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  <a:endParaRPr sz="1300"/>
          </a:p>
        </p:txBody>
      </p:sp>
      <p:sp>
        <p:nvSpPr>
          <p:cNvPr id="14" name="TextBox 13"/>
          <p:cNvSpPr txBox="1"/>
          <p:nvPr/>
        </p:nvSpPr>
        <p:spPr>
          <a:xfrm>
            <a:off x="1069848" y="1755648"/>
            <a:ext cx="5669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Fill the model</a:t>
            </a:r>
            <a:endParaRPr sz="1150"/>
          </a:p>
        </p:txBody>
      </p:sp>
      <p:sp>
        <p:nvSpPr>
          <p:cNvPr id="15" name="TextBox 14"/>
          <p:cNvSpPr txBox="1"/>
          <p:nvPr/>
        </p:nvSpPr>
        <p:spPr>
          <a:xfrm>
            <a:off x="1069848" y="1984248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Inputs → Hist (paste the case 'Model' sheet using the mapping on the Guide tab) → WACC → Comps.</a:t>
            </a:r>
            <a:endParaRPr sz="950"/>
          </a:p>
        </p:txBody>
      </p:sp>
      <p:sp>
        <p:nvSpPr>
          <p:cNvPr id="16" name="Oval 15"/>
          <p:cNvSpPr/>
          <p:nvPr/>
        </p:nvSpPr>
        <p:spPr>
          <a:xfrm>
            <a:off x="475488" y="2514600"/>
            <a:ext cx="420624" cy="420624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  <a:endParaRPr sz="1300"/>
          </a:p>
        </p:txBody>
      </p:sp>
      <p:sp>
        <p:nvSpPr>
          <p:cNvPr id="17" name="TextBox 16"/>
          <p:cNvSpPr txBox="1"/>
          <p:nvPr/>
        </p:nvSpPr>
        <p:spPr>
          <a:xfrm>
            <a:off x="1069848" y="2487168"/>
            <a:ext cx="5669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Set your view</a:t>
            </a:r>
            <a:endParaRPr sz="1150"/>
          </a:p>
        </p:txBody>
      </p:sp>
      <p:sp>
        <p:nvSpPr>
          <p:cNvPr id="18" name="TextBox 17"/>
          <p:cNvSpPr txBox="1"/>
          <p:nvPr/>
        </p:nvSpPr>
        <p:spPr>
          <a:xfrm>
            <a:off x="1069848" y="2715768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Drivers: base case per year, Bear/Bull adjustments, probabilities and terminal assumptions.</a:t>
            </a:r>
            <a:endParaRPr sz="950"/>
          </a:p>
        </p:txBody>
      </p:sp>
      <p:sp>
        <p:nvSpPr>
          <p:cNvPr id="19" name="Oval 18"/>
          <p:cNvSpPr/>
          <p:nvPr/>
        </p:nvSpPr>
        <p:spPr>
          <a:xfrm>
            <a:off x="475488" y="324612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  <a:endParaRPr sz="1300"/>
          </a:p>
        </p:txBody>
      </p:sp>
      <p:sp>
        <p:nvSpPr>
          <p:cNvPr id="20" name="TextBox 19"/>
          <p:cNvSpPr txBox="1"/>
          <p:nvPr/>
        </p:nvSpPr>
        <p:spPr>
          <a:xfrm>
            <a:off x="1069848" y="3218688"/>
            <a:ext cx="5669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Check the model</a:t>
            </a:r>
            <a:endParaRPr sz="1150"/>
          </a:p>
        </p:txBody>
      </p:sp>
      <p:sp>
        <p:nvSpPr>
          <p:cNvPr id="21" name="TextBox 20"/>
          <p:cNvSpPr txBox="1"/>
          <p:nvPr/>
        </p:nvSpPr>
        <p:spPr>
          <a:xfrm>
            <a:off x="1069848" y="3447288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Checks tab must show ALL CHECKS OK. Understand every warning and switch back to Base.</a:t>
            </a:r>
            <a:endParaRPr sz="950"/>
          </a:p>
        </p:txBody>
      </p:sp>
      <p:sp>
        <p:nvSpPr>
          <p:cNvPr id="22" name="Oval 21"/>
          <p:cNvSpPr/>
          <p:nvPr/>
        </p:nvSpPr>
        <p:spPr>
          <a:xfrm>
            <a:off x="475488" y="3977640"/>
            <a:ext cx="420624" cy="420624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  <a:endParaRPr sz="1300"/>
          </a:p>
        </p:txBody>
      </p:sp>
      <p:sp>
        <p:nvSpPr>
          <p:cNvPr id="23" name="TextBox 22"/>
          <p:cNvSpPr txBox="1"/>
          <p:nvPr/>
        </p:nvSpPr>
        <p:spPr>
          <a:xfrm>
            <a:off x="1069848" y="3950208"/>
            <a:ext cx="5669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Update the deck numbers</a:t>
            </a:r>
            <a:endParaRPr sz="1150"/>
          </a:p>
        </p:txBody>
      </p:sp>
      <p:sp>
        <p:nvSpPr>
          <p:cNvPr id="24" name="TextBox 23"/>
          <p:cNvSpPr txBox="1"/>
          <p:nvPr/>
        </p:nvSpPr>
        <p:spPr>
          <a:xfrm>
            <a:off x="1069848" y="4178808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Re-run the deck builder, or copy from the Deck_Feed tab into the tables and charts (right-click chart → Edit Data).</a:t>
            </a:r>
            <a:endParaRPr sz="950"/>
          </a:p>
        </p:txBody>
      </p:sp>
      <p:sp>
        <p:nvSpPr>
          <p:cNvPr id="25" name="Oval 24"/>
          <p:cNvSpPr/>
          <p:nvPr/>
        </p:nvSpPr>
        <p:spPr>
          <a:xfrm>
            <a:off x="475488" y="4709160"/>
            <a:ext cx="420624" cy="42062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  <a:endParaRPr sz="1300"/>
          </a:p>
        </p:txBody>
      </p:sp>
      <p:sp>
        <p:nvSpPr>
          <p:cNvPr id="26" name="TextBox 25"/>
          <p:cNvSpPr txBox="1"/>
          <p:nvPr/>
        </p:nvSpPr>
        <p:spPr>
          <a:xfrm>
            <a:off x="1069848" y="4681728"/>
            <a:ext cx="5669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Write the story</a:t>
            </a:r>
            <a:endParaRPr sz="1150"/>
          </a:p>
        </p:txBody>
      </p:sp>
      <p:sp>
        <p:nvSpPr>
          <p:cNvPr id="27" name="TextBox 26"/>
          <p:cNvSpPr txBox="1"/>
          <p:nvPr/>
        </p:nvSpPr>
        <p:spPr>
          <a:xfrm>
            <a:off x="1069848" y="4910328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Replace headlines with your own action titles – one message per slide, backed by numbers.</a:t>
            </a:r>
            <a:endParaRPr sz="950"/>
          </a:p>
        </p:txBody>
      </p:sp>
      <p:sp>
        <p:nvSpPr>
          <p:cNvPr id="28" name="Oval 27"/>
          <p:cNvSpPr/>
          <p:nvPr/>
        </p:nvSpPr>
        <p:spPr>
          <a:xfrm>
            <a:off x="475488" y="5440680"/>
            <a:ext cx="420624" cy="420624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6</a:t>
            </a:r>
            <a:endParaRPr sz="1300"/>
          </a:p>
        </p:txBody>
      </p:sp>
      <p:sp>
        <p:nvSpPr>
          <p:cNvPr id="29" name="TextBox 28"/>
          <p:cNvSpPr txBox="1"/>
          <p:nvPr/>
        </p:nvSpPr>
        <p:spPr>
          <a:xfrm>
            <a:off x="1069848" y="5413248"/>
            <a:ext cx="5669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Final polish</a:t>
            </a:r>
            <a:endParaRPr sz="1150"/>
          </a:p>
        </p:txBody>
      </p:sp>
      <p:sp>
        <p:nvSpPr>
          <p:cNvPr id="30" name="TextBox 29"/>
          <p:cNvSpPr txBox="1"/>
          <p:nvPr/>
        </p:nvSpPr>
        <p:spPr>
          <a:xfrm>
            <a:off x="1069848" y="5641848"/>
            <a:ext cx="566928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Sources on every slide, consistent units, speaker notes rehearsed, appendix ready for Q&amp;A.</a:t>
            </a:r>
            <a:endParaRPr sz="950"/>
          </a:p>
        </p:txBody>
      </p:sp>
      <p:sp>
        <p:nvSpPr>
          <p:cNvPr id="31" name="TextBox 30"/>
          <p:cNvSpPr txBox="1"/>
          <p:nvPr/>
        </p:nvSpPr>
        <p:spPr>
          <a:xfrm>
            <a:off x="7178040" y="1261872"/>
            <a:ext cx="459028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200" b="1" i="0">
                <a:solidFill>
                  <a:srgbClr val="003255"/>
                </a:solidFill>
                <a:latin typeface="Arial"/>
              </a:rPr>
              <a:t>Submission checklist</a:t>
            </a:r>
            <a:endParaRPr sz="1200"/>
          </a:p>
        </p:txBody>
      </p:sp>
      <p:cxnSp>
        <p:nvCxnSpPr>
          <p:cNvPr id="32" name="Connector 31"/>
          <p:cNvCxnSpPr/>
          <p:nvPr/>
        </p:nvCxnSpPr>
        <p:spPr>
          <a:xfrm>
            <a:off x="7178040" y="1563624"/>
            <a:ext cx="4544567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178040" y="1664208"/>
            <a:ext cx="4590288" cy="457200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360919" y="1856231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80960" y="1828800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Presentation in </a:t>
            </a:r>
            <a:r>
              <a:rPr sz="1000" b="1" i="0">
                <a:solidFill>
                  <a:srgbClr val="1F1F1F"/>
                </a:solidFill>
                <a:latin typeface="Arial"/>
              </a:rPr>
              <a:t>English</a:t>
            </a:r>
            <a:endParaRPr sz="1000"/>
          </a:p>
        </p:txBody>
      </p:sp>
      <p:sp>
        <p:nvSpPr>
          <p:cNvPr id="36" name="Rectangle 35"/>
          <p:cNvSpPr/>
          <p:nvPr/>
        </p:nvSpPr>
        <p:spPr>
          <a:xfrm>
            <a:off x="7360919" y="2386584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680960" y="2359152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1" i="0">
                <a:solidFill>
                  <a:srgbClr val="1F1F1F"/>
                </a:solidFill>
                <a:latin typeface="Arial"/>
              </a:rPr>
              <a:t>Headings unchanged: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Company overview, Market overview, Financials and estimates, Valuation and recommendation</a:t>
            </a:r>
            <a:endParaRPr sz="1000"/>
          </a:p>
        </p:txBody>
      </p:sp>
      <p:sp>
        <p:nvSpPr>
          <p:cNvPr id="38" name="Rectangle 37"/>
          <p:cNvSpPr/>
          <p:nvPr/>
        </p:nvSpPr>
        <p:spPr>
          <a:xfrm>
            <a:off x="7360919" y="291693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680960" y="2889504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1" i="0">
                <a:solidFill>
                  <a:srgbClr val="1F1F1F"/>
                </a:solidFill>
                <a:latin typeface="Arial"/>
              </a:rPr>
              <a:t>Max 4 content slides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(cover and case-team slide not counted)</a:t>
            </a:r>
            <a:endParaRPr sz="1000"/>
          </a:p>
        </p:txBody>
      </p:sp>
      <p:sp>
        <p:nvSpPr>
          <p:cNvPr id="40" name="Rectangle 39"/>
          <p:cNvSpPr/>
          <p:nvPr/>
        </p:nvSpPr>
        <p:spPr>
          <a:xfrm>
            <a:off x="7360919" y="3447287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680960" y="3419856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1" i="0">
                <a:solidFill>
                  <a:srgbClr val="1F1F1F"/>
                </a:solidFill>
                <a:latin typeface="Arial"/>
              </a:rPr>
              <a:t>Buy / Hold / Sell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and a </a:t>
            </a:r>
            <a:r>
              <a:rPr sz="1000" b="1" i="0">
                <a:solidFill>
                  <a:srgbClr val="1F1F1F"/>
                </a:solidFill>
                <a:latin typeface="Arial"/>
              </a:rPr>
              <a:t>target price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clearly stated</a:t>
            </a:r>
            <a:endParaRPr sz="1000"/>
          </a:p>
        </p:txBody>
      </p:sp>
      <p:sp>
        <p:nvSpPr>
          <p:cNvPr id="42" name="Rectangle 41"/>
          <p:cNvSpPr/>
          <p:nvPr/>
        </p:nvSpPr>
        <p:spPr>
          <a:xfrm>
            <a:off x="7360919" y="3977640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80960" y="3950208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1" i="0">
                <a:solidFill>
                  <a:srgbClr val="1F1F1F"/>
                </a:solidFill>
                <a:latin typeface="Arial"/>
              </a:rPr>
              <a:t>Excel model attached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– Checks tab shows ALL CHECKS OK</a:t>
            </a:r>
            <a:endParaRPr sz="1000"/>
          </a:p>
        </p:txBody>
      </p:sp>
      <p:sp>
        <p:nvSpPr>
          <p:cNvPr id="44" name="Rectangle 43"/>
          <p:cNvSpPr/>
          <p:nvPr/>
        </p:nvSpPr>
        <p:spPr>
          <a:xfrm>
            <a:off x="7360919" y="4507992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80960" y="4480560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Every number in the deck </a:t>
            </a:r>
            <a:r>
              <a:rPr sz="1000" b="1" i="0">
                <a:solidFill>
                  <a:srgbClr val="1F1F1F"/>
                </a:solidFill>
                <a:latin typeface="Arial"/>
              </a:rPr>
              <a:t>matches the model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(scenario = Base)</a:t>
            </a:r>
            <a:endParaRPr sz="1000"/>
          </a:p>
        </p:txBody>
      </p:sp>
      <p:sp>
        <p:nvSpPr>
          <p:cNvPr id="46" name="Rectangle 45"/>
          <p:cNvSpPr/>
          <p:nvPr/>
        </p:nvSpPr>
        <p:spPr>
          <a:xfrm>
            <a:off x="7360919" y="5038344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680960" y="5010912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1" i="0">
                <a:solidFill>
                  <a:srgbClr val="1F1F1F"/>
                </a:solidFill>
                <a:latin typeface="Arial"/>
              </a:rPr>
              <a:t>Sources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cited on every slide</a:t>
            </a:r>
            <a:endParaRPr sz="1000"/>
          </a:p>
        </p:txBody>
      </p:sp>
      <p:sp>
        <p:nvSpPr>
          <p:cNvPr id="48" name="Rectangle 47"/>
          <p:cNvSpPr/>
          <p:nvPr/>
        </p:nvSpPr>
        <p:spPr>
          <a:xfrm>
            <a:off x="7360919" y="5568696"/>
            <a:ext cx="201168" cy="201168"/>
          </a:xfrm>
          <a:prstGeom prst="rect">
            <a:avLst/>
          </a:prstGeom>
          <a:solidFill>
            <a:srgbClr val="FFFFFF"/>
          </a:solidFill>
          <a:ln w="1587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680960" y="5541264"/>
            <a:ext cx="3904487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Delete this slide and all [placeholders]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
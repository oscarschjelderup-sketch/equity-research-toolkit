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3255"/>
            </a:solidFill>
          </c:spPr>
          <c:dPt>
            <c:idx val="0"/>
            <c:spPr>
              <a:solidFill>
                <a:srgbClr val="003255"/>
              </a:solidFill>
            </c:spPr>
          </c:dPt>
          <c:dPt>
            <c:idx val="1"/>
            <c:spPr>
              <a:solidFill>
                <a:srgbClr val="4F7FA0"/>
              </a:solidFill>
            </c:spPr>
          </c:dPt>
          <c:dPt>
            <c:idx val="2"/>
            <c:spPr>
              <a:solidFill>
                <a:srgbClr val="81B0C0"/>
              </a:solidFill>
            </c:spPr>
          </c:dPt>
          <c:cat>
            <c:strRef>
              <c:f>Sheet1!$A$2:$A$4</c:f>
              <c:strCache>
                <c:ptCount val="3"/>
                <c:pt idx="0">
                  <c:v>Norway</c:v>
                </c:pt>
                <c:pt idx="1">
                  <c:v>Sweden</c:v>
                </c:pt>
                <c:pt idx="2">
                  <c:v>Finland &amp; Denmark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2472</c:v>
                </c:pt>
                <c:pt idx="1">
                  <c:v>1898</c:v>
                </c:pt>
                <c:pt idx="2">
                  <c:v>1139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2"/>
      </c:doughnutChart>
    </c:plotArea>
    <c:plotVisOnly val="1"/>
    <c:dispBlanksAs val="gap"/>
    <c:showDLblsOverMax val="0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rgbClr val="003255"/>
            </a:solidFill>
          </c:spPr>
          <c:dPt>
            <c:idx val="0"/>
            <c:spPr>
              <a:solidFill>
                <a:srgbClr val="003255"/>
              </a:solidFill>
            </c:spPr>
          </c:dPt>
          <c:dPt>
            <c:idx val="1"/>
            <c:spPr>
              <a:solidFill>
                <a:srgbClr val="4F7FA0"/>
              </a:solidFill>
            </c:spPr>
          </c:dPt>
          <c:dPt>
            <c:idx val="2"/>
            <c:spPr>
              <a:solidFill>
                <a:srgbClr val="81B0C0"/>
              </a:solidFill>
            </c:spPr>
          </c:dPt>
          <c:cat>
            <c:strRef>
              <c:f>Sheet1!$A$2:$A$4</c:f>
              <c:strCache>
                <c:ptCount val="3"/>
                <c:pt idx="0">
                  <c:v>Norway</c:v>
                </c:pt>
                <c:pt idx="1">
                  <c:v>Sweden</c:v>
                </c:pt>
                <c:pt idx="2">
                  <c:v>Finland &amp; Denmark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345</c:v>
                </c:pt>
                <c:pt idx="1">
                  <c:v>256</c:v>
                </c:pt>
                <c:pt idx="2">
                  <c:v>154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2"/>
      </c:doughnutChart>
    </c:plotArea>
    <c:plotVisOnly val="1"/>
    <c:dispBlanksAs val="gap"/>
    <c:showDLblsOverMax val="0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00"/>
          <c:y val="0.1700"/>
          <c:w val="0.9600"/>
          <c:h val="0.7000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4734</c:v>
                </c:pt>
                <c:pt idx="1">
                  <c:v>5064</c:v>
                </c:pt>
                <c:pt idx="2">
                  <c:v>5509</c:v>
                </c:pt>
                <c:pt idx="3">
                  <c:v>5750.541690499999</c:v>
                </c:pt>
                <c:pt idx="4">
                  <c:v>6082.098720965473</c:v>
                </c:pt>
                <c:pt idx="5">
                  <c:v>6469.304083602022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 adj.(1)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</c:strCache>
            </c:strRef>
          </c:cat>
          <c:val>
            <c:numRef>
              <c:f>Sheet1!$C$2:$C$7</c:f>
              <c:numCache>
                <c:formatCode>0</c:formatCode>
                <c:ptCount val="6"/>
                <c:pt idx="0">
                  <c:v>375</c:v>
                </c:pt>
                <c:pt idx="1">
                  <c:v>521</c:v>
                </c:pt>
                <c:pt idx="2">
                  <c:v>647</c:v>
                </c:pt>
                <c:pt idx="3">
                  <c:v>756.474970112617</c:v>
                </c:pt>
                <c:pt idx="4">
                  <c:v>837.9352622602976</c:v>
                </c:pt>
                <c:pt idx="5">
                  <c:v>915.9335891910907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5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EBIT adj. margin</c:v>
                </c:pt>
              </c:strCache>
            </c:strRef>
          </c:tx>
          <c:spPr>
            <a:ln w="28575" cap="rnd">
              <a:solidFill>
                <a:srgbClr val="C9A227"/>
              </a:solidFill>
              <a:round/>
            </a:ln>
          </c:spPr>
          <c:marker>
            <c:symbol val="circle"/>
            <c:size val="5"/>
            <c:spPr>
              <a:solidFill>
                <a:srgbClr val="C9A227"/>
              </a:solidFill>
              <a:ln>
                <a:noFill/>
              </a:ln>
            </c:spPr>
          </c:marker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700" b="1">
                    <a:solidFill>
                      <a:srgbClr val="7A6A1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</c:strCache>
            </c:strRef>
          </c:cat>
          <c:val>
            <c:numRef>
              <c:f>Sheet1!$D$2:$D$7</c:f>
              <c:numCache>
                <c:formatCode>0</c:formatCode>
                <c:ptCount val="6"/>
                <c:pt idx="0">
                  <c:v>0.07921419518377694</c:v>
                </c:pt>
                <c:pt idx="1">
                  <c:v>0.10288309636650869</c:v>
                </c:pt>
                <c:pt idx="2">
                  <c:v>0.1174441822472318</c:v>
                </c:pt>
                <c:pt idx="3">
                  <c:v>0.13154847157483052</c:v>
                </c:pt>
                <c:pt idx="4">
                  <c:v>0.137770743406691</c:v>
                </c:pt>
                <c:pt idx="5">
                  <c:v>0.14158147110641167</c:v>
                </c:pt>
              </c:numCache>
            </c:numRef>
          </c:val>
          <c:smooth val="0"/>
        </c:ser>
        <c:marker val="1"/>
        <c:axId val="900001"/>
        <c:axId val="900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27.421329583134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  <c:catAx>
        <c:axId val="900001"/>
        <c:scaling>
          <c:orientation val="minMax"/>
        </c:scaling>
        <c:delete val="1"/>
        <c:axPos val="b"/>
        <c:majorTickMark val="none"/>
        <c:minorTickMark val="none"/>
        <c:tickLblPos val="nextTo"/>
        <c:crossAx val="900002"/>
        <c:crosses val="autoZero"/>
        <c:auto val="1"/>
        <c:lblAlgn val="ctr"/>
        <c:lblOffset val="100"/>
        <c:noMultiLvlLbl val="0"/>
      </c:catAx>
      <c:valAx>
        <c:axId val="900002"/>
        <c:scaling>
          <c:orientation val="minMax"/>
          <c:max val="0.1936"/>
          <c:min val="-0.3262"/>
        </c:scaling>
        <c:delete val="0"/>
        <c:axPos val="r"/>
        <c:numFmt formatCode="0%" sourceLinked="0"/>
        <c:majorTickMark val="none"/>
        <c:minorTickMark val="none"/>
        <c:tickLblPos val="none"/>
        <c:spPr>
          <a:ln>
            <a:noFill/>
          </a:ln>
        </c:spPr>
        <c:crossAx val="9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Clubs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2019A</c:v>
                </c:pt>
                <c:pt idx="1">
                  <c:v>2020A</c:v>
                </c:pt>
                <c:pt idx="2">
                  <c:v>2021A</c:v>
                </c:pt>
                <c:pt idx="3">
                  <c:v>2022A</c:v>
                </c:pt>
                <c:pt idx="4">
                  <c:v>2023A</c:v>
                </c:pt>
                <c:pt idx="5">
                  <c:v>2024A</c:v>
                </c:pt>
                <c:pt idx="6">
                  <c:v>2025A</c:v>
                </c:pt>
              </c:strCache>
            </c:strRef>
          </c:cat>
          <c:val>
            <c:numRef>
              <c:f>Sheet1!$B$2:$B$8</c:f>
              <c:numCache>
                <c:formatCode>0</c:formatCode>
                <c:ptCount val="7"/>
                <c:pt idx="0">
                  <c:v>248</c:v>
                </c:pt>
                <c:pt idx="1">
                  <c:v>253</c:v>
                </c:pt>
                <c:pt idx="2">
                  <c:v>262</c:v>
                </c:pt>
                <c:pt idx="3">
                  <c:v>275</c:v>
                </c:pt>
                <c:pt idx="4">
                  <c:v>276</c:v>
                </c:pt>
                <c:pt idx="5">
                  <c:v>272</c:v>
                </c:pt>
                <c:pt idx="6">
                  <c:v>273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00">
                  <a:solidFill>
                    <a:srgbClr val="003255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Members '000 (rhs)</c:v>
                </c:pt>
              </c:strCache>
            </c:strRef>
          </c:tx>
          <c:spPr>
            <a:ln w="28575" cap="rnd">
              <a:solidFill>
                <a:srgbClr val="003255"/>
              </a:solidFill>
              <a:round/>
            </a:ln>
          </c:spPr>
          <c:marker>
            <c:symbol val="circle"/>
            <c:size val="5"/>
            <c:spPr>
              <a:solidFill>
                <a:srgbClr val="003255"/>
              </a:solidFill>
              <a:ln>
                <a:noFill/>
              </a:ln>
            </c:spPr>
          </c:marker>
          <c:dLbls>
            <c:numFmt formatCode="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700" b="1">
                    <a:solidFill>
                      <a:srgbClr val="003255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2019A</c:v>
                </c:pt>
                <c:pt idx="1">
                  <c:v>2020A</c:v>
                </c:pt>
                <c:pt idx="2">
                  <c:v>2021A</c:v>
                </c:pt>
                <c:pt idx="3">
                  <c:v>2022A</c:v>
                </c:pt>
                <c:pt idx="4">
                  <c:v>2023A</c:v>
                </c:pt>
                <c:pt idx="5">
                  <c:v>2024A</c:v>
                </c:pt>
                <c:pt idx="6">
                  <c:v>2025A</c:v>
                </c:pt>
              </c:strCache>
            </c:strRef>
          </c:cat>
          <c:val>
            <c:numRef>
              <c:f>Sheet1!$C$2:$C$8</c:f>
              <c:numCache>
                <c:formatCode>0</c:formatCode>
                <c:ptCount val="7"/>
                <c:pt idx="0">
                  <c:v>688</c:v>
                </c:pt>
                <c:pt idx="1">
                  <c:v>628</c:v>
                </c:pt>
                <c:pt idx="2">
                  <c:v>668</c:v>
                </c:pt>
                <c:pt idx="3">
                  <c:v>721</c:v>
                </c:pt>
                <c:pt idx="4">
                  <c:v>731</c:v>
                </c:pt>
                <c:pt idx="5">
                  <c:v>733</c:v>
                </c:pt>
                <c:pt idx="6">
                  <c:v>755</c:v>
                </c:pt>
              </c:numCache>
            </c:numRef>
          </c:val>
          <c:smooth val="0"/>
        </c:ser>
        <c:marker val="1"/>
        <c:axId val="900001"/>
        <c:axId val="900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0.2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  <c:catAx>
        <c:axId val="900001"/>
        <c:scaling>
          <c:orientation val="minMax"/>
        </c:scaling>
        <c:delete val="1"/>
        <c:axPos val="b"/>
        <c:majorTickMark val="none"/>
        <c:minorTickMark val="none"/>
        <c:tickLblPos val="nextTo"/>
        <c:crossAx val="900002"/>
        <c:crosses val="autoZero"/>
        <c:auto val="1"/>
        <c:lblAlgn val="ctr"/>
        <c:lblOffset val="100"/>
        <c:noMultiLvlLbl val="0"/>
      </c:catAx>
      <c:valAx>
        <c:axId val="900002"/>
        <c:scaling>
          <c:orientation val="minMax"/>
          <c:max val="826.12"/>
          <c:min val="120"/>
        </c:scaling>
        <c:delete val="0"/>
        <c:axPos val="r"/>
        <c:numFmt formatCode="0" sourceLinked="0"/>
        <c:majorTickMark val="none"/>
        <c:minorTickMark val="none"/>
        <c:tickLblPos val="none"/>
        <c:spPr>
          <a:ln>
            <a:noFill/>
          </a:ln>
        </c:spPr>
        <c:crossAx val="9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Norway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551</c:v>
                </c:pt>
                <c:pt idx="1">
                  <c:v>573</c:v>
                </c:pt>
                <c:pt idx="2">
                  <c:v>608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Sweden</c:v>
                </c:pt>
              </c:strCache>
            </c:strRef>
          </c:tx>
          <c:spPr>
            <a:solidFill>
              <a:srgbClr val="4F7FA0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0</c:formatCode>
                <c:ptCount val="3"/>
                <c:pt idx="0">
                  <c:v>540</c:v>
                </c:pt>
                <c:pt idx="1">
                  <c:v>573</c:v>
                </c:pt>
                <c:pt idx="2">
                  <c:v>627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Finland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0</c:formatCode>
                <c:ptCount val="3"/>
                <c:pt idx="0">
                  <c:v>550</c:v>
                </c:pt>
                <c:pt idx="1">
                  <c:v>588</c:v>
                </c:pt>
                <c:pt idx="2">
                  <c:v>608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Denmark</c:v>
                </c:pt>
              </c:strCache>
            </c:strRef>
          </c:tx>
          <c:spPr>
            <a:solidFill>
              <a:srgbClr val="A9C8D3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Sheet1!$E$2:$E$4</c:f>
              <c:numCache>
                <c:formatCode>0</c:formatCode>
                <c:ptCount val="3"/>
                <c:pt idx="0">
                  <c:v>517</c:v>
                </c:pt>
                <c:pt idx="1">
                  <c:v>590</c:v>
                </c:pt>
                <c:pt idx="2">
                  <c:v>628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53.6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003255"/>
            </a:solidFill>
          </c:spPr>
          <c:dPt>
            <c:idx val="0"/>
            <c:spPr>
              <a:solidFill>
                <a:srgbClr val="003255"/>
              </a:solidFill>
            </c:spPr>
          </c:dPt>
          <c:dPt>
            <c:idx val="1"/>
            <c:spPr>
              <a:solidFill>
                <a:srgbClr val="C9D1D9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03255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SATS</c:v>
                </c:pt>
                <c:pt idx="1">
                  <c:v>Other operators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0.146</c:v>
                </c:pt>
                <c:pt idx="1">
                  <c:v>0.854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New locations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  <c:pt idx="6">
                  <c:v>2029E</c:v>
                </c:pt>
                <c:pt idx="7">
                  <c:v>2030E</c:v>
                </c:pt>
              </c:strCache>
            </c:strRef>
          </c:cat>
          <c:val>
            <c:numRef>
              <c:f>Sheet1!$B$2:$B$9</c:f>
              <c:numCache>
                <c:formatCode>0%</c:formatCode>
                <c:ptCount val="8"/>
                <c:pt idx="0">
                  <c:v>0.002375613885413143</c:v>
                </c:pt>
                <c:pt idx="1">
                  <c:v>-0.01434218562522112</c:v>
                </c:pt>
                <c:pt idx="2">
                  <c:v>0.004372959985332122</c:v>
                </c:pt>
                <c:pt idx="3">
                  <c:v>0.0025148242270224583</c:v>
                </c:pt>
                <c:pt idx="4">
                  <c:v>0.014342592032979901</c:v>
                </c:pt>
                <c:pt idx="5">
                  <c:v>0.025703217294839275</c:v>
                </c:pt>
                <c:pt idx="6">
                  <c:v>0.029077146894767904</c:v>
                </c:pt>
                <c:pt idx="7">
                  <c:v>0.02803770653989851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Like-for-like</c:v>
                </c:pt>
              </c:strCache>
            </c:strRef>
          </c:tx>
          <c:spPr>
            <a:solidFill>
              <a:srgbClr val="4F7FA0"/>
            </a:solidFill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  <c:pt idx="6">
                  <c:v>2029E</c:v>
                </c:pt>
                <c:pt idx="7">
                  <c:v>2030E</c:v>
                </c:pt>
              </c:strCache>
            </c:strRef>
          </c:cat>
          <c:val>
            <c:numRef>
              <c:f>Sheet1!$C$2:$C$9</c:f>
              <c:numCache>
                <c:formatCode>0%</c:formatCode>
                <c:ptCount val="8"/>
                <c:pt idx="0">
                  <c:v>0.01092541109375304</c:v>
                </c:pt>
                <c:pt idx="1">
                  <c:v>0.017376470940816163</c:v>
                </c:pt>
                <c:pt idx="2">
                  <c:v>0.025435466725318545</c:v>
                </c:pt>
                <c:pt idx="3">
                  <c:v>0.009668197495008175</c:v>
                </c:pt>
                <c:pt idx="4">
                  <c:v>0.009503775778117066</c:v>
                </c:pt>
                <c:pt idx="5">
                  <c:v>0.007965939170458795</c:v>
                </c:pt>
                <c:pt idx="6">
                  <c:v>0.006411017482550234</c:v>
                </c:pt>
                <c:pt idx="7">
                  <c:v>0.0050254711384893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Price/mix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  <c:pt idx="6">
                  <c:v>2029E</c:v>
                </c:pt>
                <c:pt idx="7">
                  <c:v>2030E</c:v>
                </c:pt>
              </c:strCache>
            </c:strRef>
          </c:cat>
          <c:val>
            <c:numRef>
              <c:f>Sheet1!$D$2:$D$9</c:f>
              <c:numCache>
                <c:formatCode>0%</c:formatCode>
                <c:ptCount val="8"/>
                <c:pt idx="0">
                  <c:v>0.1464245997146113</c:v>
                </c:pt>
                <c:pt idx="1">
                  <c:v>0.06667420644612862</c:v>
                </c:pt>
                <c:pt idx="2">
                  <c:v>0.05806677076170328</c:v>
                </c:pt>
                <c:pt idx="3">
                  <c:v>0.031661903037453684</c:v>
                </c:pt>
                <c:pt idx="4">
                  <c:v>0.03381029278023682</c:v>
                </c:pt>
                <c:pt idx="5">
                  <c:v>0.029993960560708396</c:v>
                </c:pt>
                <c:pt idx="6">
                  <c:v>0.028384385516544902</c:v>
                </c:pt>
                <c:pt idx="7">
                  <c:v>0.025826579441959686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Bear</c:v>
                </c:pt>
              </c:strCache>
            </c:strRef>
          </c:tx>
          <c:spPr>
            <a:ln w="25400">
              <a:solidFill>
                <a:srgbClr val="C00000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  <c:pt idx="6">
                  <c:v>2031E</c:v>
                </c:pt>
                <c:pt idx="7">
                  <c:v>2032E</c:v>
                </c:pt>
                <c:pt idx="8">
                  <c:v>2033E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5509</c:v>
                </c:pt>
                <c:pt idx="1">
                  <c:v>5617.298318548387</c:v>
                </c:pt>
                <c:pt idx="2">
                  <c:v>5801.902039370527</c:v>
                </c:pt>
                <c:pt idx="3">
                  <c:v>6011.467429338461</c:v>
                </c:pt>
                <c:pt idx="4">
                  <c:v>6226.125094364175</c:v>
                </c:pt>
                <c:pt idx="5">
                  <c:v>6419.623922281015</c:v>
                </c:pt>
                <c:pt idx="6">
                  <c:v>6582.49675575214</c:v>
                </c:pt>
                <c:pt idx="7">
                  <c:v>6716.682939377195</c:v>
                </c:pt>
                <c:pt idx="8">
                  <c:v>6837.090882632527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ln w="25400">
              <a:solidFill>
                <a:srgbClr val="003255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  <c:pt idx="6">
                  <c:v>2031E</c:v>
                </c:pt>
                <c:pt idx="7">
                  <c:v>2032E</c:v>
                </c:pt>
                <c:pt idx="8">
                  <c:v>2033E</c:v>
                </c:pt>
              </c:strCache>
            </c:strRef>
          </c:cat>
          <c:val>
            <c:numRef>
              <c:f>Sheet1!$C$2:$C$10</c:f>
              <c:numCache>
                <c:formatCode>0</c:formatCode>
                <c:ptCount val="9"/>
                <c:pt idx="0">
                  <c:v>5509</c:v>
                </c:pt>
                <c:pt idx="1">
                  <c:v>5750.541690499999</c:v>
                </c:pt>
                <c:pt idx="2">
                  <c:v>6082.098720965473</c:v>
                </c:pt>
                <c:pt idx="3">
                  <c:v>6469.304083602022</c:v>
                </c:pt>
                <c:pt idx="4">
                  <c:v>6882.515031460463</c:v>
                </c:pt>
                <c:pt idx="5">
                  <c:v>7287.8246700403115</c:v>
                </c:pt>
                <c:pt idx="6">
                  <c:v>7672.770438958042</c:v>
                </c:pt>
                <c:pt idx="7">
                  <c:v>8038.062195854581</c:v>
                </c:pt>
                <c:pt idx="8">
                  <c:v>8399.49812471518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Bull</c:v>
                </c:pt>
              </c:strCache>
            </c:strRef>
          </c:tx>
          <c:spPr>
            <a:ln w="25400">
              <a:solidFill>
                <a:srgbClr val="2E7D32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  <c:pt idx="6">
                  <c:v>2031E</c:v>
                </c:pt>
                <c:pt idx="7">
                  <c:v>2032E</c:v>
                </c:pt>
                <c:pt idx="8">
                  <c:v>2033E</c:v>
                </c:pt>
              </c:strCache>
            </c:strRef>
          </c:cat>
          <c:val>
            <c:numRef>
              <c:f>Sheet1!$D$2:$D$10</c:f>
              <c:numCache>
                <c:formatCode>0</c:formatCode>
                <c:ptCount val="9"/>
                <c:pt idx="0">
                  <c:v>5509</c:v>
                </c:pt>
                <c:pt idx="1">
                  <c:v>5843.303124703631</c:v>
                </c:pt>
                <c:pt idx="2">
                  <c:v>6305.526535051016</c:v>
                </c:pt>
                <c:pt idx="3">
                  <c:v>6853.6773334616855</c:v>
                </c:pt>
                <c:pt idx="4">
                  <c:v>7449.828622446995</c:v>
                </c:pt>
                <c:pt idx="5">
                  <c:v>8055.507126494461</c:v>
                </c:pt>
                <c:pt idx="6">
                  <c:v>8657.611188198913</c:v>
                </c:pt>
                <c:pt idx="7">
                  <c:v>9256.608335004734</c:v>
                </c:pt>
                <c:pt idx="8">
                  <c:v>9869.742850069655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5000.0"/>
        </c:scaling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700"/>
          </a:pPr>
        </a:p>
      </c:txPr>
    </c:legend>
    <c:plotVisOnly val="1"/>
    <c:dispBlanksAs val="gap"/>
    <c:showDLblsOverMax val="0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4200"/>
          <c:y val="0.1000"/>
          <c:w val="0.5000"/>
          <c:h val="0.8600"/>
        </c:manualLayout>
      </c:layout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Offset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52-week range</c:v>
                </c:pt>
                <c:pt idx="1">
                  <c:v>DCF (WACC ±0.5pp, g ±0.25pp)</c:v>
                </c:pt>
                <c:pt idx="2">
                  <c:v>DCF (bear – bull)</c:v>
                </c:pt>
                <c:pt idx="3">
                  <c:v>EV/EBITDA (peers 25-75th pct)</c:v>
                </c:pt>
                <c:pt idx="4">
                  <c:v>EV/EBIT (peers 25-75th pct)</c:v>
                </c:pt>
                <c:pt idx="5">
                  <c:v>P/E (peers 25-75th pct)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24.950000000000003</c:v>
                </c:pt>
                <c:pt idx="1">
                  <c:v>39.323391322778825</c:v>
                </c:pt>
                <c:pt idx="2">
                  <c:v>4.636553115633351</c:v>
                </c:pt>
                <c:pt idx="3">
                  <c:v>33.95676211817794</c:v>
                </c:pt>
                <c:pt idx="4">
                  <c:v>37.1920030937855</c:v>
                </c:pt>
                <c:pt idx="5">
                  <c:v>33.32877208554522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52-week range</c:v>
                </c:pt>
                <c:pt idx="1">
                  <c:v>DCF (WACC ±0.5pp, g ±0.25pp)</c:v>
                </c:pt>
                <c:pt idx="2">
                  <c:v>DCF (bear – bull)</c:v>
                </c:pt>
                <c:pt idx="3">
                  <c:v>EV/EBITDA (peers 25-75th pct)</c:v>
                </c:pt>
                <c:pt idx="4">
                  <c:v>EV/EBIT (peers 25-75th pct)</c:v>
                </c:pt>
                <c:pt idx="5">
                  <c:v>P/E (peers 25-75th pct)</c:v>
                </c:pt>
              </c:strCache>
            </c:strRef>
          </c:cat>
          <c:val>
            <c:numRef>
              <c:f>Sheet1!$C$2:$C$7</c:f>
              <c:numCache>
                <c:formatCode>#,##0</c:formatCode>
                <c:ptCount val="6"/>
                <c:pt idx="0">
                  <c:v>12.5</c:v>
                </c:pt>
                <c:pt idx="1">
                  <c:v>11.015505880986048</c:v>
                </c:pt>
                <c:pt idx="2">
                  <c:v>76.8782715953057</c:v>
                </c:pt>
                <c:pt idx="3">
                  <c:v>12.8318069428664</c:v>
                </c:pt>
                <c:pt idx="4">
                  <c:v>26.8070104541478</c:v>
                </c:pt>
                <c:pt idx="5">
                  <c:v>19.257232038020092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9.66630718203297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max"/>
      </c:valAx>
    </c:plotArea>
    <c:dispBlanksAs val="gap"/>
  </c:chart>
  <c:txPr>
    <a:bodyPr/>
    <a:lstStyle/>
    <a:p>
      <a:pPr>
        <a:defRPr sz="8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500"/>
          <c:y val="0.0500"/>
          <c:w val="0.9000"/>
          <c:h val="0.8000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NOK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dPt>
            <c:idx val="0"/>
            <c:invertIfNegative val="0"/>
            <c:spPr>
              <a:solidFill>
                <a:srgbClr val="000000"/>
              </a:solidFill>
            </c:spPr>
          </c:dPt>
          <c:dPt>
            <c:idx val="1"/>
            <c:invertIfNegative val="0"/>
            <c:spPr>
              <a:solidFill>
                <a:srgbClr val="81B0C0"/>
              </a:solidFill>
            </c:spPr>
          </c:dPt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DCF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42.3</c:v>
                </c:pt>
                <c:pt idx="1">
                  <c:v>54.26383208169154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3.25617331028359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DCF value per share</c:v>
                </c:pt>
              </c:strCache>
            </c:strRef>
          </c:tx>
          <c:spPr>
            <a:ln w="25400">
              <a:solidFill>
                <a:srgbClr val="003255"/>
              </a:solidFill>
            </a:ln>
          </c:spPr>
          <c:marker>
            <c:symbol val="none"/>
            <c:size val="6"/>
            <c:spPr>
              <a:solidFill>
                <a:srgbClr val="003255"/>
              </a:solidFill>
              <a:ln>
                <a:noFill/>
              </a:ln>
            </c:spPr>
          </c:marker>
          <c:cat>
            <c:strRef>
              <c:f>Sheet1!$A$2:$A$10</c:f>
              <c:strCache>
                <c:ptCount val="9"/>
                <c:pt idx="0">
                  <c:v>10.6%</c:v>
                </c:pt>
                <c:pt idx="1">
                  <c:v>11.6%</c:v>
                </c:pt>
                <c:pt idx="2">
                  <c:v>12.7%</c:v>
                </c:pt>
                <c:pt idx="3">
                  <c:v>13.6%</c:v>
                </c:pt>
                <c:pt idx="4">
                  <c:v>14.6%</c:v>
                </c:pt>
                <c:pt idx="5">
                  <c:v>15.6%</c:v>
                </c:pt>
                <c:pt idx="6">
                  <c:v>16.6%</c:v>
                </c:pt>
                <c:pt idx="7">
                  <c:v>17.6%</c:v>
                </c:pt>
                <c:pt idx="8">
                  <c:v>18.6%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33.9833008938619</c:v>
                </c:pt>
                <c:pt idx="1">
                  <c:v>38.03940713142782</c:v>
                </c:pt>
                <c:pt idx="2">
                  <c:v>42.3</c:v>
                </c:pt>
                <c:pt idx="3">
                  <c:v>46.15161960655969</c:v>
                </c:pt>
                <c:pt idx="4">
                  <c:v>50.207725844125605</c:v>
                </c:pt>
                <c:pt idx="5">
                  <c:v>54.26383208169154</c:v>
                </c:pt>
                <c:pt idx="6">
                  <c:v>58.319938319257474</c:v>
                </c:pt>
                <c:pt idx="7">
                  <c:v>62.37604455682339</c:v>
                </c:pt>
                <c:pt idx="8">
                  <c:v>66.43215079438932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price</c:v>
                </c:pt>
              </c:strCache>
            </c:strRef>
          </c:tx>
          <c:spPr>
            <a:ln w="19050">
              <a:solidFill>
                <a:srgbClr val="C00000"/>
              </a:solidFill>
              <a:prstDash val="dash"/>
            </a:ln>
          </c:spPr>
          <c:marker>
            <c:symbol val="none"/>
            <c:size val="6"/>
            <c:spPr>
              <a:solidFill>
                <a:srgbClr val="C00000"/>
              </a:solidFill>
              <a:ln>
                <a:noFill/>
              </a:ln>
            </c:spPr>
          </c:marker>
          <c:cat>
            <c:strRef>
              <c:f>Sheet1!$A$2:$A$10</c:f>
              <c:strCache>
                <c:ptCount val="9"/>
                <c:pt idx="0">
                  <c:v>10.6%</c:v>
                </c:pt>
                <c:pt idx="1">
                  <c:v>11.6%</c:v>
                </c:pt>
                <c:pt idx="2">
                  <c:v>12.7%</c:v>
                </c:pt>
                <c:pt idx="3">
                  <c:v>13.6%</c:v>
                </c:pt>
                <c:pt idx="4">
                  <c:v>14.6%</c:v>
                </c:pt>
                <c:pt idx="5">
                  <c:v>15.6%</c:v>
                </c:pt>
                <c:pt idx="6">
                  <c:v>16.6%</c:v>
                </c:pt>
                <c:pt idx="7">
                  <c:v>17.6%</c:v>
                </c:pt>
                <c:pt idx="8">
                  <c:v>18.6%</c:v>
                </c:pt>
              </c:strCache>
            </c:strRef>
          </c:cat>
          <c:val>
            <c:numRef>
              <c:f>Sheet1!$C$2:$C$10</c:f>
              <c:numCache>
                <c:formatCode>0</c:formatCode>
                <c:ptCount val="9"/>
                <c:pt idx="0">
                  <c:v>42.3</c:v>
                </c:pt>
                <c:pt idx="1">
                  <c:v>42.3</c:v>
                </c:pt>
                <c:pt idx="2">
                  <c:v>42.3</c:v>
                </c:pt>
                <c:pt idx="3">
                  <c:v>42.3</c:v>
                </c:pt>
                <c:pt idx="4">
                  <c:v>42.3</c:v>
                </c:pt>
                <c:pt idx="5">
                  <c:v>42.3</c:v>
                </c:pt>
                <c:pt idx="6">
                  <c:v>42.3</c:v>
                </c:pt>
                <c:pt idx="7">
                  <c:v>42.3</c:v>
                </c:pt>
                <c:pt idx="8">
                  <c:v>42.3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Market-implied</c:v>
                </c:pt>
              </c:strCache>
            </c:strRef>
          </c:tx>
          <c:spPr>
            <a:ln w="25400">
              <a:noFill/>
            </a:ln>
          </c:spPr>
          <c:marker>
            <c:symbol val="circle"/>
            <c:size val="11"/>
            <c:spPr>
              <a:solidFill>
                <a:srgbClr val="C00000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10.6%</c:v>
                </c:pt>
                <c:pt idx="1">
                  <c:v>11.6%</c:v>
                </c:pt>
                <c:pt idx="2">
                  <c:v>12.7%</c:v>
                </c:pt>
                <c:pt idx="3">
                  <c:v>13.6%</c:v>
                </c:pt>
                <c:pt idx="4">
                  <c:v>14.6%</c:v>
                </c:pt>
                <c:pt idx="5">
                  <c:v>15.6%</c:v>
                </c:pt>
                <c:pt idx="6">
                  <c:v>16.6%</c:v>
                </c:pt>
                <c:pt idx="7">
                  <c:v>17.6%</c:v>
                </c:pt>
                <c:pt idx="8">
                  <c:v>18.6%</c:v>
                </c:pt>
              </c:strCache>
            </c:strRef>
          </c:cat>
          <c:val>
            <c:numRef>
              <c:f>Sheet1!$D$2:$D$10</c:f>
              <c:numCache>
                <c:formatCode>0</c:formatCode>
                <c:ptCount val="9"/>
                <c:pt idx="2">
                  <c:v>42.3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Our base case</c:v>
                </c:pt>
              </c:strCache>
            </c:strRef>
          </c:tx>
          <c:spPr>
            <a:ln w="25400">
              <a:noFill/>
            </a:ln>
          </c:spPr>
          <c:marker>
            <c:symbol val="circle"/>
            <c:size val="11"/>
            <c:spPr>
              <a:solidFill>
                <a:srgbClr val="003255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10.6%</c:v>
                </c:pt>
                <c:pt idx="1">
                  <c:v>11.6%</c:v>
                </c:pt>
                <c:pt idx="2">
                  <c:v>12.7%</c:v>
                </c:pt>
                <c:pt idx="3">
                  <c:v>13.6%</c:v>
                </c:pt>
                <c:pt idx="4">
                  <c:v>14.6%</c:v>
                </c:pt>
                <c:pt idx="5">
                  <c:v>15.6%</c:v>
                </c:pt>
                <c:pt idx="6">
                  <c:v>16.6%</c:v>
                </c:pt>
                <c:pt idx="7">
                  <c:v>17.6%</c:v>
                </c:pt>
                <c:pt idx="8">
                  <c:v>18.6%</c:v>
                </c:pt>
              </c:strCache>
            </c:strRef>
          </c:cat>
          <c:val>
            <c:numRef>
              <c:f>Sheet1!$E$2:$E$10</c:f>
              <c:numCache>
                <c:formatCode>0</c:formatCode>
                <c:ptCount val="9"/>
                <c:pt idx="5">
                  <c:v>54.26383208169154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300"/>
          <c:y val="0.0500"/>
          <c:w val="0.9400"/>
          <c:h val="0.8000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DCF value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dPt>
            <c:idx val="0"/>
            <c:invertIfNegative val="0"/>
            <c:spPr>
              <a:solidFill>
                <a:srgbClr val="C00000"/>
              </a:solidFill>
            </c:spPr>
          </c:dPt>
          <c:dPt>
            <c:idx val="1"/>
            <c:invertIfNegative val="0"/>
            <c:spPr>
              <a:solidFill>
                <a:srgbClr val="003255"/>
              </a:solidFill>
            </c:spPr>
          </c:dPt>
          <c:dPt>
            <c:idx val="2"/>
            <c:invertIfNegative val="0"/>
            <c:spPr>
              <a:solidFill>
                <a:srgbClr val="2E7D32"/>
              </a:solidFill>
            </c:spPr>
          </c:dPt>
          <c:cat>
            <c:strRef>
              <c:f>Sheet1!$A$2:$A$4</c:f>
              <c:strCache>
                <c:ptCount val="3"/>
                <c:pt idx="0">
                  <c:v>Bear</c:v>
                </c:pt>
                <c:pt idx="1">
                  <c:v>Base</c:v>
                </c:pt>
                <c:pt idx="2">
                  <c:v>Bull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14.636553115633351</c:v>
                </c:pt>
                <c:pt idx="1">
                  <c:v>54.26383208169154</c:v>
                </c:pt>
                <c:pt idx="2">
                  <c:v>91.51482471093905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4.39353088867381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New locations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Sheet1!$A$2:$A$10</c:f>
              <c:strCache>
                <c:ptCount val="9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  <c:pt idx="7">
                  <c:v>2029E</c:v>
                </c:pt>
                <c:pt idx="8">
                  <c:v>2030E</c:v>
                </c:pt>
              </c:strCache>
            </c:strRef>
          </c:cat>
          <c:val>
            <c:numRef>
              <c:f>Sheet1!$B$2:$B$10</c:f>
              <c:numCache>
                <c:formatCode>0%</c:formatCode>
                <c:ptCount val="9"/>
                <c:pt idx="0">
                  <c:v>0.052040206234648695</c:v>
                </c:pt>
                <c:pt idx="1">
                  <c:v>0.002375613885413143</c:v>
                </c:pt>
                <c:pt idx="2">
                  <c:v>-0.01434218562522112</c:v>
                </c:pt>
                <c:pt idx="3">
                  <c:v>0.004372959985332122</c:v>
                </c:pt>
                <c:pt idx="4">
                  <c:v>0.0025148242270224583</c:v>
                </c:pt>
                <c:pt idx="5">
                  <c:v>0.014342592032979901</c:v>
                </c:pt>
                <c:pt idx="6">
                  <c:v>0.025703217294839275</c:v>
                </c:pt>
                <c:pt idx="7">
                  <c:v>0.029077146894767904</c:v>
                </c:pt>
                <c:pt idx="8">
                  <c:v>0.02803770653989851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Like-for-like volume</c:v>
                </c:pt>
              </c:strCache>
            </c:strRef>
          </c:tx>
          <c:spPr>
            <a:solidFill>
              <a:srgbClr val="4F7FA0"/>
            </a:solidFill>
          </c:spPr>
          <c:invertIfNegative val="0"/>
          <c:dLbls>
            <c:delete val="1"/>
          </c:dLbls>
          <c:cat>
            <c:strRef>
              <c:f>Sheet1!$A$2:$A$10</c:f>
              <c:strCache>
                <c:ptCount val="9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  <c:pt idx="7">
                  <c:v>2029E</c:v>
                </c:pt>
                <c:pt idx="8">
                  <c:v>2030E</c:v>
                </c:pt>
              </c:strCache>
            </c:strRef>
          </c:cat>
          <c:val>
            <c:numRef>
              <c:f>Sheet1!$C$2:$C$10</c:f>
              <c:numCache>
                <c:formatCode>0%</c:formatCode>
                <c:ptCount val="9"/>
                <c:pt idx="0">
                  <c:v>0.026412061050588978</c:v>
                </c:pt>
                <c:pt idx="1">
                  <c:v>0.01092541109375304</c:v>
                </c:pt>
                <c:pt idx="2">
                  <c:v>0.017376470940816163</c:v>
                </c:pt>
                <c:pt idx="3">
                  <c:v>0.025435466725318545</c:v>
                </c:pt>
                <c:pt idx="4">
                  <c:v>0.009668197495008175</c:v>
                </c:pt>
                <c:pt idx="5">
                  <c:v>0.009503775778117066</c:v>
                </c:pt>
                <c:pt idx="6">
                  <c:v>0.007965939170458795</c:v>
                </c:pt>
                <c:pt idx="7">
                  <c:v>0.006411017482550234</c:v>
                </c:pt>
                <c:pt idx="8">
                  <c:v>0.0050254711384893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Price/mix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Sheet1!$A$2:$A$10</c:f>
              <c:strCache>
                <c:ptCount val="9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  <c:pt idx="7">
                  <c:v>2029E</c:v>
                </c:pt>
                <c:pt idx="8">
                  <c:v>2030E</c:v>
                </c:pt>
              </c:strCache>
            </c:strRef>
          </c:cat>
          <c:val>
            <c:numRef>
              <c:f>Sheet1!$D$2:$D$10</c:f>
              <c:numCache>
                <c:formatCode>0%</c:formatCode>
                <c:ptCount val="9"/>
                <c:pt idx="0">
                  <c:v>0.17870818852012116</c:v>
                </c:pt>
                <c:pt idx="1">
                  <c:v>0.1464245997146113</c:v>
                </c:pt>
                <c:pt idx="2">
                  <c:v>0.06667420644612862</c:v>
                </c:pt>
                <c:pt idx="3">
                  <c:v>0.05806677076170328</c:v>
                </c:pt>
                <c:pt idx="4">
                  <c:v>0.031661903037453684</c:v>
                </c:pt>
                <c:pt idx="5">
                  <c:v>0.03381029278023682</c:v>
                </c:pt>
                <c:pt idx="6">
                  <c:v>0.029993960560708396</c:v>
                </c:pt>
                <c:pt idx="7">
                  <c:v>0.028384385516544902</c:v>
                </c:pt>
                <c:pt idx="8">
                  <c:v>0.025826579441959686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5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5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750"/>
          </a:pPr>
        </a:p>
      </c:txPr>
    </c:legend>
    <c:dispBlanksAs val="gap"/>
  </c:chart>
  <c:txPr>
    <a:bodyPr/>
    <a:lstStyle/>
    <a:p>
      <a:pPr>
        <a:defRPr sz="75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Locations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2020A</c:v>
                </c:pt>
                <c:pt idx="1">
                  <c:v>2021A</c:v>
                </c:pt>
                <c:pt idx="2">
                  <c:v>2022A</c:v>
                </c:pt>
                <c:pt idx="3">
                  <c:v>2023A</c:v>
                </c:pt>
                <c:pt idx="4">
                  <c:v>2024A</c:v>
                </c:pt>
                <c:pt idx="5">
                  <c:v>2025A</c:v>
                </c:pt>
                <c:pt idx="6">
                  <c:v>2026E</c:v>
                </c:pt>
                <c:pt idx="7">
                  <c:v>2027E</c:v>
                </c:pt>
                <c:pt idx="8">
                  <c:v>2028E</c:v>
                </c:pt>
                <c:pt idx="9">
                  <c:v>2029E</c:v>
                </c:pt>
                <c:pt idx="10">
                  <c:v>2030E</c:v>
                </c:pt>
              </c:strCache>
            </c:strRef>
          </c:cat>
          <c:val>
            <c:numRef>
              <c:f>Sheet1!$B$2:$B$12</c:f>
              <c:numCache>
                <c:formatCode>0</c:formatCode>
                <c:ptCount val="11"/>
                <c:pt idx="0">
                  <c:v>253</c:v>
                </c:pt>
                <c:pt idx="1">
                  <c:v>262</c:v>
                </c:pt>
                <c:pt idx="2">
                  <c:v>275</c:v>
                </c:pt>
                <c:pt idx="3">
                  <c:v>276</c:v>
                </c:pt>
                <c:pt idx="4">
                  <c:v>272</c:v>
                </c:pt>
                <c:pt idx="5">
                  <c:v>273</c:v>
                </c:pt>
                <c:pt idx="6">
                  <c:v>275</c:v>
                </c:pt>
                <c:pt idx="7">
                  <c:v>284</c:v>
                </c:pt>
                <c:pt idx="8">
                  <c:v>293</c:v>
                </c:pt>
                <c:pt idx="9">
                  <c:v>301</c:v>
                </c:pt>
                <c:pt idx="10">
                  <c:v>309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50">
                  <a:solidFill>
                    <a:srgbClr val="003255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Revenue per average location (rhs)</c:v>
                </c:pt>
              </c:strCache>
            </c:strRef>
          </c:tx>
          <c:spPr>
            <a:ln w="28575" cap="rnd">
              <a:solidFill>
                <a:srgbClr val="003255"/>
              </a:solidFill>
              <a:round/>
            </a:ln>
          </c:spPr>
          <c:marker>
            <c:symbol val="circle"/>
            <c:size val="5"/>
            <c:spPr>
              <a:solidFill>
                <a:srgbClr val="003255"/>
              </a:solidFill>
              <a:ln>
                <a:noFill/>
              </a:ln>
            </c:spPr>
          </c:marker>
          <c:dLbls>
            <c:numFmt formatCode="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750" b="1">
                    <a:solidFill>
                      <a:srgbClr val="003255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Sheet1!$A$2:$A$12</c:f>
              <c:strCache>
                <c:ptCount val="11"/>
                <c:pt idx="0">
                  <c:v>2020A</c:v>
                </c:pt>
                <c:pt idx="1">
                  <c:v>2021A</c:v>
                </c:pt>
                <c:pt idx="2">
                  <c:v>2022A</c:v>
                </c:pt>
                <c:pt idx="3">
                  <c:v>2023A</c:v>
                </c:pt>
                <c:pt idx="4">
                  <c:v>2024A</c:v>
                </c:pt>
                <c:pt idx="5">
                  <c:v>2025A</c:v>
                </c:pt>
                <c:pt idx="6">
                  <c:v>2026E</c:v>
                </c:pt>
                <c:pt idx="7">
                  <c:v>2027E</c:v>
                </c:pt>
                <c:pt idx="8">
                  <c:v>2028E</c:v>
                </c:pt>
                <c:pt idx="9">
                  <c:v>2029E</c:v>
                </c:pt>
                <c:pt idx="10">
                  <c:v>2030E</c:v>
                </c:pt>
              </c:strCache>
            </c:strRef>
          </c:cat>
          <c:val>
            <c:numRef>
              <c:f>Sheet1!$C$2:$C$12</c:f>
              <c:numCache>
                <c:formatCode>0</c:formatCode>
                <c:ptCount val="11"/>
                <c:pt idx="0">
                  <c:v>14.107784431137725</c:v>
                </c:pt>
                <c:pt idx="1">
                  <c:v>12.609708737864077</c:v>
                </c:pt>
                <c:pt idx="2">
                  <c:v>15.202979515828678</c:v>
                </c:pt>
                <c:pt idx="3">
                  <c:v>17.183303085299457</c:v>
                </c:pt>
                <c:pt idx="4">
                  <c:v>18.48175182481752</c:v>
                </c:pt>
                <c:pt idx="5">
                  <c:v>20.21651376146789</c:v>
                </c:pt>
                <c:pt idx="6">
                  <c:v>20.987378432481748</c:v>
                </c:pt>
                <c:pt idx="7">
                  <c:v>21.760639431003483</c:v>
                </c:pt>
                <c:pt idx="8">
                  <c:v>22.423930965691582</c:v>
                </c:pt>
                <c:pt idx="9">
                  <c:v>23.173451284378665</c:v>
                </c:pt>
                <c:pt idx="10">
                  <c:v>23.894507114886267</c:v>
                </c:pt>
              </c:numCache>
            </c:numRef>
          </c:val>
          <c:smooth val="0"/>
        </c:ser>
        <c:marker val="1"/>
        <c:axId val="900001"/>
        <c:axId val="900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48.05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50"/>
            </a:pPr>
          </a:p>
        </c:txPr>
        <c:crossAx val="-2068027336"/>
        <c:crosses val="autoZero"/>
      </c:valAx>
      <c:catAx>
        <c:axId val="900001"/>
        <c:scaling>
          <c:orientation val="minMax"/>
        </c:scaling>
        <c:delete val="1"/>
        <c:axPos val="b"/>
        <c:majorTickMark val="none"/>
        <c:minorTickMark val="none"/>
        <c:tickLblPos val="nextTo"/>
        <c:crossAx val="900002"/>
        <c:crosses val="autoZero"/>
        <c:auto val="1"/>
        <c:lblAlgn val="ctr"/>
        <c:lblOffset val="100"/>
        <c:noMultiLvlLbl val="0"/>
      </c:catAx>
      <c:valAx>
        <c:axId val="900002"/>
        <c:scaling>
          <c:orientation val="minMax"/>
          <c:max val="30.213994206018693"/>
          <c:min val="-32.529484770224684"/>
        </c:scaling>
        <c:delete val="0"/>
        <c:axPos val="r"/>
        <c:numFmt formatCode="0" sourceLinked="0"/>
        <c:majorTickMark val="none"/>
        <c:minorTickMark val="none"/>
        <c:tickLblPos val="none"/>
        <c:spPr>
          <a:ln>
            <a:noFill/>
          </a:ln>
        </c:spPr>
        <c:crossAx val="9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750"/>
          </a:pPr>
        </a:p>
      </c:txPr>
    </c:legend>
    <c:dispBlanksAs val="gap"/>
  </c:chart>
  <c:txPr>
    <a:bodyPr/>
    <a:lstStyle/>
    <a:p>
      <a:pPr>
        <a:defRPr sz="75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00"/>
          <c:y val="0.0500"/>
          <c:w val="0.9600"/>
          <c:h val="0.7200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EV/EBIT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dPt>
            <c:idx val="0"/>
            <c:invertIfNegative val="0"/>
            <c:spPr>
              <a:solidFill>
                <a:srgbClr val="81B0C0"/>
              </a:solidFill>
            </c:spPr>
          </c:dPt>
          <c:dPt>
            <c:idx val="1"/>
            <c:invertIfNegative val="0"/>
            <c:spPr>
              <a:solidFill>
                <a:srgbClr val="81B0C0"/>
              </a:solidFill>
            </c:spPr>
          </c:dPt>
          <c:dPt>
            <c:idx val="2"/>
            <c:invertIfNegative val="0"/>
            <c:spPr>
              <a:solidFill>
                <a:srgbClr val="81B0C0"/>
              </a:solidFill>
            </c:spPr>
          </c:dPt>
          <c:dPt>
            <c:idx val="3"/>
            <c:invertIfNegative val="0"/>
            <c:spPr>
              <a:solidFill>
                <a:srgbClr val="81B0C0"/>
              </a:solidFill>
            </c:spPr>
          </c:dPt>
          <c:dPt>
            <c:idx val="4"/>
            <c:invertIfNegative val="0"/>
            <c:spPr>
              <a:solidFill>
                <a:srgbClr val="81B0C0"/>
              </a:solidFill>
            </c:spPr>
          </c:dPt>
          <c:dPt>
            <c:idx val="5"/>
            <c:invertIfNegative val="0"/>
            <c:spPr>
              <a:solidFill>
                <a:srgbClr val="81B0C0"/>
              </a:solidFill>
            </c:spPr>
          </c:dPt>
          <c:dPt>
            <c:idx val="6"/>
            <c:invertIfNegative val="0"/>
            <c:spPr>
              <a:solidFill>
                <a:srgbClr val="81B0C0"/>
              </a:solidFill>
            </c:spPr>
          </c:dPt>
          <c:dPt>
            <c:idx val="7"/>
            <c:invertIfNegative val="0"/>
            <c:spPr>
              <a:solidFill>
                <a:srgbClr val="81B0C0"/>
              </a:solidFill>
            </c:spPr>
          </c:dPt>
          <c:dPt>
            <c:idx val="8"/>
            <c:invertIfNegative val="0"/>
            <c:spPr>
              <a:solidFill>
                <a:srgbClr val="003255"/>
              </a:solidFill>
            </c:spPr>
          </c:dPt>
          <c:cat>
            <c:strRef>
              <c:f>Sheet1!$A$2:$A$10</c:f>
              <c:strCache>
                <c:ptCount val="9"/>
                <c:pt idx="0">
                  <c:v>Basic-Fit</c:v>
                </c:pt>
                <c:pt idx="1">
                  <c:v>Life Time Group</c:v>
                </c:pt>
                <c:pt idx="2">
                  <c:v>The Gym Group</c:v>
                </c:pt>
                <c:pt idx="3">
                  <c:v>Kid</c:v>
                </c:pt>
                <c:pt idx="4">
                  <c:v>Clas Ohlson</c:v>
                </c:pt>
                <c:pt idx="5">
                  <c:v>Planet Fitness</c:v>
                </c:pt>
                <c:pt idx="6">
                  <c:v>Europris</c:v>
                </c:pt>
                <c:pt idx="7">
                  <c:v>Rusta</c:v>
                </c:pt>
                <c:pt idx="8">
                  <c:v>SATS</c:v>
                </c:pt>
              </c:strCache>
            </c:strRef>
          </c:cat>
          <c:val>
            <c:numRef>
              <c:f>Sheet1!$B$2:$B$10</c:f>
              <c:numCache>
                <c:formatCode>0.0"x"</c:formatCode>
                <c:ptCount val="9"/>
                <c:pt idx="0">
                  <c:v>20.7</c:v>
                </c:pt>
                <c:pt idx="1">
                  <c:v>19</c:v>
                </c:pt>
                <c:pt idx="2">
                  <c:v>18.2</c:v>
                </c:pt>
                <c:pt idx="3">
                  <c:v>14.1</c:v>
                </c:pt>
                <c:pt idx="4">
                  <c:v>13.7</c:v>
                </c:pt>
                <c:pt idx="5">
                  <c:v>12.2</c:v>
                </c:pt>
                <c:pt idx="6">
                  <c:v>12.2</c:v>
                </c:pt>
                <c:pt idx="7">
                  <c:v>11.8</c:v>
                </c:pt>
                <c:pt idx="8">
                  <c:v>11.013034557236873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sz="800">
                  <a:solidFill>
                    <a:srgbClr val="FFFFFF"/>
                  </a:solidFill>
                </a:defRPr>
              </a:pPr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875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Replace the title with your own equity story in 4-6 words (e.g. 'SATS – Healthy body, healthy margins'). Keep the competition name. Update the date line.</a:t>
            </a:r>
          </a:p>
          <a:p/>
          <a:p>
            <a:r>
              <a:t>TALKING POINT: One sentence on who we are and our recommendation: 'We recommend BUY with a target price of NOK 57.'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Update year of study, experience and photos if the team changes. The Pareto rules do not count this slide or the cover towards the 4-slide limit.</a:t>
            </a:r>
          </a:p>
          <a:p/>
          <a:p>
            <a:r>
              <a:t>TALKING POINT: Keep the introduction under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Keep the heading 'Company overview' (Pareto rule). Replace the key message, snapshot facts, management and segment names. Charts read from the model (Model sheet).</a:t>
            </a:r>
          </a:p>
          <a:p/>
          <a:p>
            <a:r>
              <a:t>TALKING POINTS: (1) What the company does and why it wins. (2) Growth has been driven by both volume and price. (3) Margins have expanded and returns are far above WACC – quality at a reasonable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overview from company KPIs: (1) more members per club, (2) revenue per member up in every country, (3) market share and positions, (4) demand evidence. Every figure is sourced in the footnote.</a:t>
            </a:r>
          </a:p>
          <a:p/>
          <a:p>
            <a:r>
              <a:t>TALKING POINTS: SATS grows without adding clubs – price and utilisation do the work; the roll-out is extra.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Keep the heading 'Financials and estimates'. Tables and charts are generated from the model – re-run the deck builder or copy from the Deck_Feed sheet after changing the model.</a:t>
            </a:r>
          </a:p>
          <a:p/>
          <a:p>
            <a:r>
              <a:t>TALKING POINTS: (1) History proves the model works. (2) Growth from new locations, like-for-like and price. (3) Margin expansion from operating leverage – and it is paid for with capex. (4) Strong cash conversion and ROIC. (5) We are above consensus, and the gap widens – that is our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Keep the heading 'Valuation and recommendation'. The sensitivity table, football field and bar charts come from the Sensitivity, Football and Comps sheets.</a:t>
            </a:r>
          </a:p>
          <a:p/>
          <a:p>
            <a:r>
              <a:t>TALKING POINTS: (1) Recommendation and target price first. (2) DCF: NOK 54 with WACC 9.0% and g 2.0%; 34 of 35 cells in the sensitivity grid are above today's price (the value falls below it only at a WACC of 10.5% or more). (3) What the market prices in: an EBIT margin of 12.7% in 2033E vs. our 15.6% – the debate is margins. (4) Peers confirm the gap; target price = blend rolled forward 12 months. (5) Close with the risk/reward: bear vs. bull.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Check the case rules before including an appendix – Pareto's 2026 rules allowed a maximum of four content slides. Keep the appendix as back-up for Q&amp;A if it cannot be submitted.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Copy from the DCF sheet. Be ready to explain the stub period, the mid-year convention and why leases are handled pre-IFRS 16 – judges often ask about terminal value and WACC.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Numbers come from the Reverse_DCF sheet. Lead with the margin: it is the one driver where we have a view. Be ready to explain why the market is too cautious – and what would prove it (Thesis sheet).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Scenario adjustments and probabilities live on the Drivers sheet (section B); outcomes come from the scenario data table on the Sensitivity sheet; stories and signposts from the Thesis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Kill criteria and signposts live on the Thesis sheet. Update the latest actuals after every report – a BROKEN status is a reason to revisit the recommendation, not to argue with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Consensus inputs and the variant perception live on the Consensus sheet. A pitch without a clear difference to consensus has no edge – say what the market misses, why, and when it will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Location mode (Inputs: revenue build = 2). Openings, like-for-like growth and capex per location are on Drivers A; the ramp-up curve on Drivers F. Check the ramp-up against the company's own disclosures.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Paste the case peer table into the Comps sheet (rows 6-13). Choose the multiples to include (column J) and the forecast year (Inputs). Explain why the peers are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Drivers come from the Drivers sheet (section A) with the 3-year historical average for reference. Explain any driver that deviates from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Replace with company-specific risks and place them on the matrix (probability, impact). Link each major risk to the bear case so the audience sees it is priced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1221638" y="2492654"/>
            <a:ext cx="1044245" cy="0"/>
          </a:xfrm>
          <a:prstGeom prst="line">
            <a:avLst/>
          </a:prstGeom>
          <a:ln w="19050">
            <a:solidFill>
              <a:srgbClr val="81B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34847" y="868680"/>
            <a:ext cx="5486400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2000" b="0" i="0">
                <a:solidFill>
                  <a:srgbClr val="FFFFFF"/>
                </a:solidFill>
                <a:latin typeface="Cambria"/>
              </a:rPr>
              <a:t>Equity Research Toolkit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1221638" y="2817266"/>
            <a:ext cx="8778240" cy="1079906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3600" b="0" i="0">
                <a:solidFill>
                  <a:srgbClr val="FFFFFF"/>
                </a:solidFill>
                <a:latin typeface="Cambria"/>
              </a:rPr>
              <a:t>SATS – Healthy body, healthy margins</a:t>
            </a:r>
            <a:endParaRPr sz="3600"/>
          </a:p>
        </p:txBody>
      </p:sp>
      <p:sp>
        <p:nvSpPr>
          <p:cNvPr id="6" name="TextBox 5"/>
          <p:cNvSpPr txBox="1"/>
          <p:nvPr/>
        </p:nvSpPr>
        <p:spPr>
          <a:xfrm>
            <a:off x="1221638" y="4201668"/>
            <a:ext cx="8778240" cy="82753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2000" b="0" i="0">
                <a:solidFill>
                  <a:srgbClr val="FFFFFF"/>
                </a:solidFill>
                <a:latin typeface="Arial"/>
              </a:rPr>
              <a:t>Pareto Equity Research Competition 2026</a:t>
            </a:r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221638" y="5661050"/>
            <a:ext cx="8778240" cy="30815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Share price and estimates as of 30.09.26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Case-team</a:t>
            </a:r>
            <a:endParaRPr sz="2600"/>
          </a:p>
        </p:txBody>
      </p:sp>
      <p:sp>
        <p:nvSpPr>
          <p:cNvPr id="3" name="TextBox 2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CBS case team with a passion for equity research – presenting a model-driven investment case</a:t>
            </a:r>
            <a:endParaRPr sz="1400"/>
          </a:p>
        </p:txBody>
      </p:sp>
      <p:cxnSp>
        <p:nvCxnSpPr>
          <p:cNvPr id="4" name="Connector 3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7" name="TextBox 6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2</a:t>
            </a:r>
            <a:endParaRPr sz="900"/>
          </a:p>
        </p:txBody>
      </p:sp>
      <p:sp>
        <p:nvSpPr>
          <p:cNvPr id="8" name="Rectangle 7"/>
          <p:cNvSpPr/>
          <p:nvPr/>
        </p:nvSpPr>
        <p:spPr>
          <a:xfrm>
            <a:off x="429768" y="1600200"/>
            <a:ext cx="1389888" cy="17373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2200" b="1" i="0">
                <a:solidFill>
                  <a:srgbClr val="6B7480"/>
                </a:solidFill>
                <a:latin typeface="Arial"/>
              </a:rPr>
              <a:t>TM</a:t>
            </a:r>
            <a:endParaRPr sz="2200"/>
          </a:p>
        </p:txBody>
      </p:sp>
      <p:sp>
        <p:nvSpPr>
          <p:cNvPr id="9" name="TextBox 8"/>
          <p:cNvSpPr txBox="1"/>
          <p:nvPr/>
        </p:nvSpPr>
        <p:spPr>
          <a:xfrm>
            <a:off x="1984248" y="1645920"/>
            <a:ext cx="2057400" cy="1645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University: [your university]</a:t>
            </a:r>
            <a:endParaRPr sz="1050"/>
          </a:p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Year of study: [year]</a:t>
            </a:r>
            <a:endParaRPr sz="1050"/>
          </a:p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Experience: [relevant experience]</a:t>
            </a:r>
            <a:endParaRPr sz="1050"/>
          </a:p>
        </p:txBody>
      </p:sp>
      <p:sp>
        <p:nvSpPr>
          <p:cNvPr id="10" name="Rectangle 9"/>
          <p:cNvSpPr/>
          <p:nvPr/>
        </p:nvSpPr>
        <p:spPr>
          <a:xfrm>
            <a:off x="429768" y="3447288"/>
            <a:ext cx="3611880" cy="365760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Team member 1</a:t>
            </a:r>
            <a:endParaRPr sz="1200"/>
          </a:p>
        </p:txBody>
      </p:sp>
      <p:sp>
        <p:nvSpPr>
          <p:cNvPr id="11" name="Rectangle 10"/>
          <p:cNvSpPr/>
          <p:nvPr/>
        </p:nvSpPr>
        <p:spPr>
          <a:xfrm>
            <a:off x="4270248" y="1600200"/>
            <a:ext cx="1389888" cy="17373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2200" b="1" i="0">
                <a:solidFill>
                  <a:srgbClr val="6B7480"/>
                </a:solidFill>
                <a:latin typeface="Arial"/>
              </a:rPr>
              <a:t>TM</a:t>
            </a:r>
            <a:endParaRPr sz="2200"/>
          </a:p>
        </p:txBody>
      </p:sp>
      <p:sp>
        <p:nvSpPr>
          <p:cNvPr id="12" name="TextBox 11"/>
          <p:cNvSpPr txBox="1"/>
          <p:nvPr/>
        </p:nvSpPr>
        <p:spPr>
          <a:xfrm>
            <a:off x="5824728" y="1645920"/>
            <a:ext cx="2057400" cy="1645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University: [your university]</a:t>
            </a:r>
            <a:endParaRPr sz="1050"/>
          </a:p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Year of study: [year]</a:t>
            </a:r>
            <a:endParaRPr sz="1050"/>
          </a:p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Experience: [relevant experience]</a:t>
            </a:r>
            <a:endParaRPr sz="1050"/>
          </a:p>
        </p:txBody>
      </p:sp>
      <p:sp>
        <p:nvSpPr>
          <p:cNvPr id="13" name="Rectangle 12"/>
          <p:cNvSpPr/>
          <p:nvPr/>
        </p:nvSpPr>
        <p:spPr>
          <a:xfrm>
            <a:off x="4270248" y="3447288"/>
            <a:ext cx="3611880" cy="365760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Team member 2</a:t>
            </a:r>
            <a:endParaRPr sz="1200"/>
          </a:p>
        </p:txBody>
      </p:sp>
      <p:sp>
        <p:nvSpPr>
          <p:cNvPr id="14" name="Rectangle 13"/>
          <p:cNvSpPr/>
          <p:nvPr/>
        </p:nvSpPr>
        <p:spPr>
          <a:xfrm>
            <a:off x="8110727" y="1600200"/>
            <a:ext cx="1389888" cy="17373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2200" b="1" i="0">
                <a:solidFill>
                  <a:srgbClr val="6B7480"/>
                </a:solidFill>
                <a:latin typeface="Arial"/>
              </a:rPr>
              <a:t>TM</a:t>
            </a:r>
            <a:endParaRPr sz="2200"/>
          </a:p>
        </p:txBody>
      </p:sp>
      <p:sp>
        <p:nvSpPr>
          <p:cNvPr id="15" name="TextBox 14"/>
          <p:cNvSpPr txBox="1"/>
          <p:nvPr/>
        </p:nvSpPr>
        <p:spPr>
          <a:xfrm>
            <a:off x="9665207" y="1645920"/>
            <a:ext cx="2057400" cy="1645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University: [your university]</a:t>
            </a:r>
            <a:endParaRPr sz="1050"/>
          </a:p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Year of study: [year]</a:t>
            </a:r>
            <a:endParaRPr sz="1050"/>
          </a:p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Experience: [relevant experience]</a:t>
            </a:r>
            <a:endParaRPr sz="1050"/>
          </a:p>
        </p:txBody>
      </p:sp>
      <p:sp>
        <p:nvSpPr>
          <p:cNvPr id="16" name="Rectangle 15"/>
          <p:cNvSpPr/>
          <p:nvPr/>
        </p:nvSpPr>
        <p:spPr>
          <a:xfrm>
            <a:off x="8110727" y="3447288"/>
            <a:ext cx="3611880" cy="365760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Team member 3</a:t>
            </a:r>
            <a:endParaRPr sz="1200"/>
          </a:p>
        </p:txBody>
      </p:sp>
      <p:sp>
        <p:nvSpPr>
          <p:cNvPr id="17" name="Rectangle 16"/>
          <p:cNvSpPr/>
          <p:nvPr/>
        </p:nvSpPr>
        <p:spPr>
          <a:xfrm>
            <a:off x="429768" y="4389120"/>
            <a:ext cx="11338560" cy="14173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4526280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Why we chose this company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658368" y="4846320"/>
            <a:ext cx="5212080" cy="9144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50" b="0" i="0">
                <a:solidFill>
                  <a:srgbClr val="1F1F1F"/>
                </a:solidFill>
                <a:latin typeface="Arial"/>
              </a:rPr>
              <a:t>Clear equity story: </a:t>
            </a:r>
            <a:r>
              <a:rPr sz="1050" b="1" i="0">
                <a:solidFill>
                  <a:srgbClr val="1F1F1F"/>
                </a:solidFill>
                <a:latin typeface="Arial"/>
              </a:rPr>
              <a:t>market leader</a:t>
            </a:r>
            <a:r>
              <a:rPr sz="1050" b="0" i="0">
                <a:solidFill>
                  <a:srgbClr val="1F1F1F"/>
                </a:solidFill>
                <a:latin typeface="Arial"/>
              </a:rPr>
              <a:t> with pricing power and a scalable cost base</a:t>
            </a:r>
            <a:endParaRPr sz="105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50" b="0" i="0">
                <a:solidFill>
                  <a:srgbClr val="1F1F1F"/>
                </a:solidFill>
                <a:latin typeface="Arial"/>
              </a:rPr>
              <a:t>A market that underestimates </a:t>
            </a:r>
            <a:r>
              <a:rPr sz="1050" b="1" i="0">
                <a:solidFill>
                  <a:srgbClr val="1F1F1F"/>
                </a:solidFill>
                <a:latin typeface="Arial"/>
              </a:rPr>
              <a:t>margin expansion and cash generation</a:t>
            </a:r>
            <a:endParaRPr sz="1050"/>
          </a:p>
          <a:p>
            <a:pPr algn="l" marL="146304" indent="-146304">
              <a:buClr>
                <a:srgbClr val="003255"/>
              </a:buClr>
              <a:buSzPct val="100000"/>
              <a:buFont typeface="Arial"/>
              <a:buChar char="▪"/>
            </a:pPr>
            <a:r>
              <a:rPr sz="1050" b="0" i="0">
                <a:solidFill>
                  <a:srgbClr val="1F1F1F"/>
                </a:solidFill>
                <a:latin typeface="Arial"/>
              </a:rPr>
              <a:t>Valuation gap we can </a:t>
            </a:r>
            <a:r>
              <a:rPr sz="1050" b="1" i="0">
                <a:solidFill>
                  <a:srgbClr val="1F1F1F"/>
                </a:solidFill>
                <a:latin typeface="Arial"/>
              </a:rPr>
              <a:t>quantify and stress-test</a:t>
            </a:r>
            <a:r>
              <a:rPr sz="1050" b="0" i="0">
                <a:solidFill>
                  <a:srgbClr val="1F1F1F"/>
                </a:solidFill>
                <a:latin typeface="Arial"/>
              </a:rPr>
              <a:t> in scenarios</a:t>
            </a:r>
            <a:endParaRPr sz="1050"/>
          </a:p>
        </p:txBody>
      </p:sp>
      <p:sp>
        <p:nvSpPr>
          <p:cNvPr id="20" name="TextBox 19"/>
          <p:cNvSpPr txBox="1"/>
          <p:nvPr/>
        </p:nvSpPr>
        <p:spPr>
          <a:xfrm>
            <a:off x="6281928" y="4526280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How we worked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6281928" y="4846320"/>
            <a:ext cx="5303520" cy="9144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50" b="0" i="0">
                <a:solidFill>
                  <a:srgbClr val="1F1F1F"/>
                </a:solidFill>
                <a:latin typeface="Arial"/>
              </a:rPr>
              <a:t>Bottom-up model: </a:t>
            </a:r>
            <a:r>
              <a:rPr sz="1050" b="1" i="0">
                <a:solidFill>
                  <a:srgbClr val="1F1F1F"/>
                </a:solidFill>
                <a:latin typeface="Arial"/>
              </a:rPr>
              <a:t>locations x volume x price</a:t>
            </a:r>
            <a:r>
              <a:rPr sz="1050" b="0" i="0">
                <a:solidFill>
                  <a:srgbClr val="1F1F1F"/>
                </a:solidFill>
                <a:latin typeface="Arial"/>
              </a:rPr>
              <a:t> per segment, IFRS 16-consistent DCF</a:t>
            </a:r>
            <a:endParaRPr sz="105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50" b="0" i="0">
                <a:solidFill>
                  <a:srgbClr val="1F1F1F"/>
                </a:solidFill>
                <a:latin typeface="Arial"/>
              </a:rPr>
              <a:t>Reverse DCF, </a:t>
            </a:r>
            <a:r>
              <a:rPr sz="1050" b="1" i="0">
                <a:solidFill>
                  <a:srgbClr val="1F1F1F"/>
                </a:solidFill>
                <a:latin typeface="Arial"/>
              </a:rPr>
              <a:t>consensus gap</a:t>
            </a:r>
            <a:r>
              <a:rPr sz="1050" b="0" i="0">
                <a:solidFill>
                  <a:srgbClr val="1F1F1F"/>
                </a:solidFill>
                <a:latin typeface="Arial"/>
              </a:rPr>
              <a:t>, peers, scenarios and 30 integrity checks</a:t>
            </a:r>
            <a:endParaRPr sz="1050"/>
          </a:p>
          <a:p>
            <a:pPr algn="l" marL="146304" indent="-146304">
              <a:buClr>
                <a:srgbClr val="003255"/>
              </a:buClr>
              <a:buSzPct val="100000"/>
              <a:buFont typeface="Arial"/>
              <a:buChar char="▪"/>
            </a:pPr>
            <a:r>
              <a:rPr sz="1050" b="0" i="0">
                <a:solidFill>
                  <a:srgbClr val="1F1F1F"/>
                </a:solidFill>
                <a:latin typeface="Arial"/>
              </a:rPr>
              <a:t>Every number in this deck ties back to </a:t>
            </a:r>
            <a:r>
              <a:rPr sz="1050" b="1" i="0">
                <a:solidFill>
                  <a:srgbClr val="1F1F1F"/>
                </a:solidFill>
                <a:latin typeface="Arial"/>
              </a:rPr>
              <a:t>one Excel model</a:t>
            </a:r>
            <a:endParaRPr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#1 The equity story of the Nordic fitness market leader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Company overview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SATS ASA – the leading fitness club operator in the Nordics, with pricing power and operating leverage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SATS ASA interim reports (Q4 2019–Q2 2026), satsgroup.com, case team estimates.  (1) EBIT adjusted: pre-IFRS 16 (after lease payments) and excl. special items.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3</a:t>
            </a:r>
            <a:endParaRPr sz="900"/>
          </a:p>
        </p:txBody>
      </p:sp>
      <p:sp>
        <p:nvSpPr>
          <p:cNvPr id="11" name="Rectangle 10"/>
          <p:cNvSpPr/>
          <p:nvPr/>
        </p:nvSpPr>
        <p:spPr>
          <a:xfrm>
            <a:off x="429768" y="1243584"/>
            <a:ext cx="11338559" cy="5029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SATS ASA is the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#1 fitness operator in the Nordics</a:t>
            </a:r>
            <a:r>
              <a:rPr sz="1100" b="0" i="0">
                <a:solidFill>
                  <a:srgbClr val="FFFFFF"/>
                </a:solidFill>
                <a:latin typeface="Arial"/>
              </a:rPr>
              <a:t> with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755k members</a:t>
            </a:r>
            <a:r>
              <a:rPr sz="1100" b="0" i="0">
                <a:solidFill>
                  <a:srgbClr val="FFFFFF"/>
                </a:solidFill>
                <a:latin typeface="Arial"/>
              </a:rPr>
              <a:t> in 273 clubs across Norway, Sweden, Finland and Denmark.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Membership subscriptions (83% of revenue)</a:t>
            </a:r>
            <a:r>
              <a:rPr sz="1100" b="0" i="0">
                <a:solidFill>
                  <a:srgbClr val="FFFFFF"/>
                </a:solidFill>
                <a:latin typeface="Arial"/>
              </a:rPr>
              <a:t>, proven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pricing power</a:t>
            </a:r>
            <a:r>
              <a:rPr sz="1100" b="0" i="0">
                <a:solidFill>
                  <a:srgbClr val="FFFFFF"/>
                </a:solidFill>
                <a:latin typeface="Arial"/>
              </a:rPr>
              <a:t> and a largely fixed club cost base lift the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EBIT adj. margin to ~15% by 2030E</a:t>
            </a:r>
            <a:r>
              <a:rPr sz="1100" b="0" i="0">
                <a:solidFill>
                  <a:srgbClr val="FFFFFF"/>
                </a:solidFill>
                <a:latin typeface="Arial"/>
              </a:rPr>
              <a:t> – with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ROIC well above WACC</a:t>
            </a:r>
            <a:r>
              <a:rPr sz="1100" b="0" i="0">
                <a:solidFill>
                  <a:srgbClr val="FFFFFF"/>
                </a:solidFill>
                <a:latin typeface="Arial"/>
              </a:rPr>
              <a:t>.</a:t>
            </a:r>
            <a:endParaRPr sz="1100"/>
          </a:p>
        </p:txBody>
      </p:sp>
      <p:sp>
        <p:nvSpPr>
          <p:cNvPr id="12" name="TextBox 11"/>
          <p:cNvSpPr txBox="1"/>
          <p:nvPr/>
        </p:nvSpPr>
        <p:spPr>
          <a:xfrm>
            <a:off x="429768" y="1847088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Company snapshot</a:t>
            </a:r>
            <a:endParaRPr sz="1200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148840"/>
            <a:ext cx="318211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730752" y="1892807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1</a:t>
            </a:r>
            <a:endParaRPr sz="1200"/>
          </a:p>
        </p:txBody>
      </p:sp>
      <p:sp>
        <p:nvSpPr>
          <p:cNvPr id="15" name="Rectangle 14"/>
          <p:cNvSpPr/>
          <p:nvPr/>
        </p:nvSpPr>
        <p:spPr>
          <a:xfrm>
            <a:off x="429768" y="2231136"/>
            <a:ext cx="3611880" cy="18288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39496" y="2322576"/>
          <a:ext cx="3392423" cy="164592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742055"/>
                <a:gridCol w="1650368"/>
              </a:tblGrid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Sector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Fitness clubs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Headquarters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Oslo, Norway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Listing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Oslo Børs (SATS)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Members (2025)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755k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Locations (2025)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273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Employees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~10,000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Market cap (NOKm)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8,151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Enterprise value (NOKm)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9,228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270248" y="1847088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Scalable model with pricing power</a:t>
            </a:r>
            <a:endParaRPr sz="1200"/>
          </a:p>
        </p:txBody>
      </p:sp>
      <p:cxnSp>
        <p:nvCxnSpPr>
          <p:cNvPr id="18" name="Connector 17"/>
          <p:cNvCxnSpPr/>
          <p:nvPr/>
        </p:nvCxnSpPr>
        <p:spPr>
          <a:xfrm>
            <a:off x="4270248" y="2148840"/>
            <a:ext cx="318211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571232" y="1892807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2</a:t>
            </a:r>
            <a:endParaRPr sz="1200"/>
          </a:p>
        </p:txBody>
      </p:sp>
      <p:sp>
        <p:nvSpPr>
          <p:cNvPr id="20" name="Rectangle 19"/>
          <p:cNvSpPr/>
          <p:nvPr/>
        </p:nvSpPr>
        <p:spPr>
          <a:xfrm>
            <a:off x="4270248" y="2231136"/>
            <a:ext cx="3611880" cy="18288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379976" y="2322576"/>
            <a:ext cx="3392424" cy="16916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Recurring revenue: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83% of sales are monthly memberships; personal training and retail the rest</a:t>
            </a:r>
            <a:endParaRPr sz="95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Pricing power: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revenue per member up ~6% a year in 2024-25 while the member base grew</a:t>
            </a:r>
            <a:endParaRPr sz="95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Operating leverage: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EBITDA before IFRS 16 up from NOK 0.61bn (2023) to NOK 0.87bn (2025)</a:t>
            </a:r>
            <a:endParaRPr sz="950"/>
          </a:p>
          <a:p>
            <a:pPr algn="l" marL="146304" indent="-146304"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Capital light: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capex 5.6% of sales and negative working capital</a:t>
            </a:r>
            <a:endParaRPr sz="950"/>
          </a:p>
        </p:txBody>
      </p:sp>
      <p:sp>
        <p:nvSpPr>
          <p:cNvPr id="22" name="TextBox 21"/>
          <p:cNvSpPr txBox="1"/>
          <p:nvPr/>
        </p:nvSpPr>
        <p:spPr>
          <a:xfrm>
            <a:off x="8110727" y="1847088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Experienced management team</a:t>
            </a:r>
            <a:endParaRPr sz="1200"/>
          </a:p>
        </p:txBody>
      </p:sp>
      <p:cxnSp>
        <p:nvCxnSpPr>
          <p:cNvPr id="23" name="Connector 22"/>
          <p:cNvCxnSpPr/>
          <p:nvPr/>
        </p:nvCxnSpPr>
        <p:spPr>
          <a:xfrm>
            <a:off x="8110727" y="2148840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1457432" y="1892807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3</a:t>
            </a:r>
            <a:endParaRPr sz="1200"/>
          </a:p>
        </p:txBody>
      </p:sp>
      <p:sp>
        <p:nvSpPr>
          <p:cNvPr id="25" name="Rectangle 24"/>
          <p:cNvSpPr/>
          <p:nvPr/>
        </p:nvSpPr>
        <p:spPr>
          <a:xfrm>
            <a:off x="8110727" y="2231136"/>
            <a:ext cx="3657600" cy="18288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275319" y="2350008"/>
            <a:ext cx="457200" cy="457200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SG</a:t>
            </a:r>
            <a:endParaRPr sz="1100"/>
          </a:p>
        </p:txBody>
      </p:sp>
      <p:sp>
        <p:nvSpPr>
          <p:cNvPr id="27" name="TextBox 26"/>
          <p:cNvSpPr txBox="1"/>
          <p:nvPr/>
        </p:nvSpPr>
        <p:spPr>
          <a:xfrm>
            <a:off x="8887967" y="2368296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50" b="1" i="0">
                <a:solidFill>
                  <a:srgbClr val="1F1F1F"/>
                </a:solidFill>
                <a:latin typeface="Arial"/>
              </a:rPr>
              <a:t>CEO – Sondre Gravir</a:t>
            </a:r>
            <a:endParaRPr sz="1050"/>
          </a:p>
        </p:txBody>
      </p:sp>
      <p:sp>
        <p:nvSpPr>
          <p:cNvPr id="28" name="TextBox 27"/>
          <p:cNvSpPr txBox="1"/>
          <p:nvPr/>
        </p:nvSpPr>
        <p:spPr>
          <a:xfrm>
            <a:off x="8887967" y="2578608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Joined SATS in 2018</a:t>
            </a:r>
            <a:endParaRPr sz="900"/>
          </a:p>
        </p:txBody>
      </p:sp>
      <p:sp>
        <p:nvSpPr>
          <p:cNvPr id="29" name="Oval 28"/>
          <p:cNvSpPr/>
          <p:nvPr/>
        </p:nvSpPr>
        <p:spPr>
          <a:xfrm>
            <a:off x="8275319" y="2916936"/>
            <a:ext cx="457200" cy="457200"/>
          </a:xfrm>
          <a:prstGeom prst="ellipse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CE</a:t>
            </a:r>
            <a:endParaRPr sz="1100"/>
          </a:p>
        </p:txBody>
      </p:sp>
      <p:sp>
        <p:nvSpPr>
          <p:cNvPr id="30" name="TextBox 29"/>
          <p:cNvSpPr txBox="1"/>
          <p:nvPr/>
        </p:nvSpPr>
        <p:spPr>
          <a:xfrm>
            <a:off x="8887967" y="2935224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50" b="1" i="0">
                <a:solidFill>
                  <a:srgbClr val="1F1F1F"/>
                </a:solidFill>
                <a:latin typeface="Arial"/>
              </a:rPr>
              <a:t>CFO – Cecilie Elde</a:t>
            </a:r>
            <a:endParaRPr sz="1050"/>
          </a:p>
        </p:txBody>
      </p:sp>
      <p:sp>
        <p:nvSpPr>
          <p:cNvPr id="31" name="TextBox 30"/>
          <p:cNvSpPr txBox="1"/>
          <p:nvPr/>
        </p:nvSpPr>
        <p:spPr>
          <a:xfrm>
            <a:off x="8887967" y="3145536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Joined SATS in 2016</a:t>
            </a:r>
            <a:endParaRPr sz="900"/>
          </a:p>
        </p:txBody>
      </p:sp>
      <p:sp>
        <p:nvSpPr>
          <p:cNvPr id="32" name="Oval 31"/>
          <p:cNvSpPr/>
          <p:nvPr/>
        </p:nvSpPr>
        <p:spPr>
          <a:xfrm>
            <a:off x="8275319" y="3483864"/>
            <a:ext cx="457200" cy="457200"/>
          </a:xfrm>
          <a:prstGeom prst="ellipse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GS</a:t>
            </a:r>
            <a:endParaRPr sz="1100"/>
          </a:p>
        </p:txBody>
      </p:sp>
      <p:sp>
        <p:nvSpPr>
          <p:cNvPr id="33" name="TextBox 32"/>
          <p:cNvSpPr txBox="1"/>
          <p:nvPr/>
        </p:nvSpPr>
        <p:spPr>
          <a:xfrm>
            <a:off x="8887967" y="3502152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50" b="1" i="0">
                <a:solidFill>
                  <a:srgbClr val="1F1F1F"/>
                </a:solidFill>
                <a:latin typeface="Arial"/>
              </a:rPr>
              <a:t>CDO – Gaute Sandal</a:t>
            </a:r>
            <a:endParaRPr sz="1050"/>
          </a:p>
        </p:txBody>
      </p:sp>
      <p:sp>
        <p:nvSpPr>
          <p:cNvPr id="34" name="TextBox 33"/>
          <p:cNvSpPr txBox="1"/>
          <p:nvPr/>
        </p:nvSpPr>
        <p:spPr>
          <a:xfrm>
            <a:off x="8887967" y="3712464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Chief Digital Officer, joined SATS in 2017</a:t>
            </a:r>
            <a:endParaRPr sz="900"/>
          </a:p>
        </p:txBody>
      </p:sp>
      <p:sp>
        <p:nvSpPr>
          <p:cNvPr id="35" name="TextBox 34"/>
          <p:cNvSpPr txBox="1"/>
          <p:nvPr/>
        </p:nvSpPr>
        <p:spPr>
          <a:xfrm>
            <a:off x="429768" y="4160520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Revenue and member mix (2025)</a:t>
            </a:r>
            <a:endParaRPr sz="1200"/>
          </a:p>
        </p:txBody>
      </p:sp>
      <p:cxnSp>
        <p:nvCxnSpPr>
          <p:cNvPr id="36" name="Connector 35"/>
          <p:cNvCxnSpPr/>
          <p:nvPr/>
        </p:nvCxnSpPr>
        <p:spPr>
          <a:xfrm>
            <a:off x="429768" y="4462272"/>
            <a:ext cx="318211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730752" y="420624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4</a:t>
            </a:r>
            <a:endParaRPr sz="1200"/>
          </a:p>
        </p:txBody>
      </p:sp>
      <p:sp>
        <p:nvSpPr>
          <p:cNvPr id="38" name="Rectangle 37"/>
          <p:cNvSpPr/>
          <p:nvPr/>
        </p:nvSpPr>
        <p:spPr>
          <a:xfrm>
            <a:off x="429768" y="4544568"/>
            <a:ext cx="3611880" cy="1764792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475488" y="4727448"/>
          <a:ext cx="1691640" cy="1325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886968" y="5202936"/>
            <a:ext cx="868680" cy="38404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NOKm</a:t>
            </a:r>
            <a:endParaRPr sz="800"/>
          </a:p>
          <a:p>
            <a:pPr algn="ctr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5,509</a:t>
            </a:r>
            <a:endParaRPr sz="800"/>
          </a:p>
        </p:txBody>
      </p:sp>
      <p:sp>
        <p:nvSpPr>
          <p:cNvPr id="41" name="TextBox 40"/>
          <p:cNvSpPr txBox="1"/>
          <p:nvPr/>
        </p:nvSpPr>
        <p:spPr>
          <a:xfrm>
            <a:off x="475488" y="457200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1" i="0">
                <a:solidFill>
                  <a:srgbClr val="003255"/>
                </a:solidFill>
                <a:latin typeface="Arial"/>
              </a:rPr>
              <a:t>Revenue</a:t>
            </a:r>
            <a:endParaRPr sz="900"/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2258568" y="4727448"/>
          <a:ext cx="1691640" cy="1325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2670048" y="5202936"/>
            <a:ext cx="868680" cy="38404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755k</a:t>
            </a:r>
            <a:endParaRPr sz="800"/>
          </a:p>
        </p:txBody>
      </p:sp>
      <p:sp>
        <p:nvSpPr>
          <p:cNvPr id="44" name="TextBox 43"/>
          <p:cNvSpPr txBox="1"/>
          <p:nvPr/>
        </p:nvSpPr>
        <p:spPr>
          <a:xfrm>
            <a:off x="2258568" y="457200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1" i="0">
                <a:solidFill>
                  <a:srgbClr val="003255"/>
                </a:solidFill>
                <a:latin typeface="Arial"/>
              </a:rPr>
              <a:t>Members</a:t>
            </a:r>
            <a:endParaRPr sz="900"/>
          </a:p>
        </p:txBody>
      </p:sp>
      <p:sp>
        <p:nvSpPr>
          <p:cNvPr id="45" name="Rectangle 44"/>
          <p:cNvSpPr/>
          <p:nvPr/>
        </p:nvSpPr>
        <p:spPr>
          <a:xfrm>
            <a:off x="658368" y="6108192"/>
            <a:ext cx="109728" cy="109728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04672" y="60624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Norway</a:t>
            </a:r>
            <a:endParaRPr sz="800"/>
          </a:p>
        </p:txBody>
      </p:sp>
      <p:sp>
        <p:nvSpPr>
          <p:cNvPr id="47" name="Rectangle 46"/>
          <p:cNvSpPr/>
          <p:nvPr/>
        </p:nvSpPr>
        <p:spPr>
          <a:xfrm>
            <a:off x="1801368" y="6108192"/>
            <a:ext cx="109728" cy="109728"/>
          </a:xfrm>
          <a:prstGeom prst="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947672" y="60624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Sweden</a:t>
            </a:r>
            <a:endParaRPr sz="800"/>
          </a:p>
        </p:txBody>
      </p:sp>
      <p:sp>
        <p:nvSpPr>
          <p:cNvPr id="49" name="Rectangle 48"/>
          <p:cNvSpPr/>
          <p:nvPr/>
        </p:nvSpPr>
        <p:spPr>
          <a:xfrm>
            <a:off x="2944368" y="6108192"/>
            <a:ext cx="109728" cy="109728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090672" y="60624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Finland &amp; Denmark</a:t>
            </a:r>
            <a:endParaRPr sz="800"/>
          </a:p>
        </p:txBody>
      </p:sp>
      <p:sp>
        <p:nvSpPr>
          <p:cNvPr id="51" name="TextBox 50"/>
          <p:cNvSpPr txBox="1"/>
          <p:nvPr/>
        </p:nvSpPr>
        <p:spPr>
          <a:xfrm>
            <a:off x="4270248" y="4160520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Consistent growth with margin expansion</a:t>
            </a:r>
            <a:endParaRPr sz="1200"/>
          </a:p>
        </p:txBody>
      </p:sp>
      <p:cxnSp>
        <p:nvCxnSpPr>
          <p:cNvPr id="52" name="Connector 51"/>
          <p:cNvCxnSpPr/>
          <p:nvPr/>
        </p:nvCxnSpPr>
        <p:spPr>
          <a:xfrm>
            <a:off x="4270248" y="4462272"/>
            <a:ext cx="318211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7571232" y="420624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5</a:t>
            </a:r>
            <a:endParaRPr sz="1200"/>
          </a:p>
        </p:txBody>
      </p:sp>
      <p:graphicFrame>
        <p:nvGraphicFramePr>
          <p:cNvPr id="54" name="Chart 53"/>
          <p:cNvGraphicFramePr>
            <a:graphicFrameLocks noGrp="1"/>
          </p:cNvGraphicFramePr>
          <p:nvPr/>
        </p:nvGraphicFramePr>
        <p:xfrm>
          <a:off x="4270248" y="4572000"/>
          <a:ext cx="3611880" cy="1783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8110727" y="416052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…and returns well above the cost of capital</a:t>
            </a:r>
            <a:endParaRPr sz="1200"/>
          </a:p>
        </p:txBody>
      </p:sp>
      <p:cxnSp>
        <p:nvCxnSpPr>
          <p:cNvPr id="56" name="Connector 55"/>
          <p:cNvCxnSpPr/>
          <p:nvPr/>
        </p:nvCxnSpPr>
        <p:spPr>
          <a:xfrm>
            <a:off x="8110727" y="4462272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1457432" y="420624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6</a:t>
            </a:r>
            <a:endParaRPr sz="1200"/>
          </a:p>
        </p:txBody>
      </p:sp>
      <p:sp>
        <p:nvSpPr>
          <p:cNvPr id="58" name="Rectangle 57"/>
          <p:cNvSpPr/>
          <p:nvPr/>
        </p:nvSpPr>
        <p:spPr>
          <a:xfrm>
            <a:off x="8110727" y="4544568"/>
            <a:ext cx="3657600" cy="1764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8110727" y="4572000"/>
          <a:ext cx="3657597" cy="179222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237533"/>
                <a:gridCol w="403344"/>
                <a:gridCol w="403344"/>
                <a:gridCol w="403344"/>
                <a:gridCol w="403344"/>
                <a:gridCol w="403344"/>
                <a:gridCol w="403344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2023A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2024A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Profitability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EBITDA margin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37.7%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38.3%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38.3%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39.2%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39.7%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40.1%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EBIT adj. margin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10.3%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14.2%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Returns &amp; cash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ROIC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11.1%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15.3%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18.9%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21.8%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23.5%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24.9%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WACC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FCF yield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Dividend yield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#2 Leading positions in every Nordic market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Market overview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SATS is #1 in Norway, Sweden and Finland and #2 in Denmark – price, utilisation and new clubs drive growth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SATS ASA interim reports (clubs, members, revenue per member, market positions, signed locations); Nordic fitness members (5.2m, 2025): EuropeActive/Deloitte European Health &amp; Fitness Market Report 2025, as quoted in the 2026 Pareto case workbook.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4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80160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More members per club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81912"/>
            <a:ext cx="318211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73075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1</a:t>
            </a:r>
            <a:endParaRPr sz="1200"/>
          </a:p>
        </p:txBody>
      </p:sp>
      <p:sp>
        <p:nvSpPr>
          <p:cNvPr id="14" name="Rectangle 13"/>
          <p:cNvSpPr/>
          <p:nvPr/>
        </p:nvSpPr>
        <p:spPr>
          <a:xfrm>
            <a:off x="429768" y="1664207"/>
            <a:ext cx="3611880" cy="21031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75488" y="1737360"/>
          <a:ext cx="352044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270248" y="1280160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Revenue per member (NOK/month)</a:t>
            </a:r>
            <a:endParaRPr sz="1200"/>
          </a:p>
        </p:txBody>
      </p:sp>
      <p:cxnSp>
        <p:nvCxnSpPr>
          <p:cNvPr id="17" name="Connector 16"/>
          <p:cNvCxnSpPr/>
          <p:nvPr/>
        </p:nvCxnSpPr>
        <p:spPr>
          <a:xfrm>
            <a:off x="4270248" y="1581912"/>
            <a:ext cx="318211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57123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2</a:t>
            </a:r>
            <a:endParaRPr sz="1200"/>
          </a:p>
        </p:txBody>
      </p:sp>
      <p:sp>
        <p:nvSpPr>
          <p:cNvPr id="19" name="Rectangle 18"/>
          <p:cNvSpPr/>
          <p:nvPr/>
        </p:nvSpPr>
        <p:spPr>
          <a:xfrm>
            <a:off x="4270248" y="1664207"/>
            <a:ext cx="3611880" cy="21031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315968" y="1737360"/>
          <a:ext cx="3520440" cy="2011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29768" y="3822191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~15% of all Nordic fitness members</a:t>
            </a:r>
            <a:endParaRPr sz="1200"/>
          </a:p>
        </p:txBody>
      </p:sp>
      <p:cxnSp>
        <p:nvCxnSpPr>
          <p:cNvPr id="22" name="Connector 21"/>
          <p:cNvCxnSpPr/>
          <p:nvPr/>
        </p:nvCxnSpPr>
        <p:spPr>
          <a:xfrm>
            <a:off x="429768" y="4123944"/>
            <a:ext cx="318211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73075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3</a:t>
            </a:r>
            <a:endParaRPr sz="1200"/>
          </a:p>
        </p:txBody>
      </p:sp>
      <p:sp>
        <p:nvSpPr>
          <p:cNvPr id="24" name="Rectangle 23"/>
          <p:cNvSpPr/>
          <p:nvPr/>
        </p:nvSpPr>
        <p:spPr>
          <a:xfrm>
            <a:off x="429768" y="4206240"/>
            <a:ext cx="3611880" cy="21031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48056" y="4389120"/>
          <a:ext cx="1463040" cy="1645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813816" y="5038344"/>
            <a:ext cx="731520" cy="347472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700" b="1" i="0">
                <a:solidFill>
                  <a:srgbClr val="003255"/>
                </a:solidFill>
                <a:latin typeface="Arial"/>
              </a:rPr>
              <a:t>2025</a:t>
            </a:r>
            <a:endParaRPr sz="700"/>
          </a:p>
          <a:p>
            <a:pPr algn="ctr">
              <a:buNone/>
            </a:pPr>
            <a:r>
              <a:rPr sz="700" b="1" i="0">
                <a:solidFill>
                  <a:srgbClr val="003255"/>
                </a:solidFill>
                <a:latin typeface="Arial"/>
              </a:rPr>
              <a:t>Nordics</a:t>
            </a:r>
            <a:endParaRPr sz="700"/>
          </a:p>
        </p:txBody>
      </p:sp>
      <p:sp>
        <p:nvSpPr>
          <p:cNvPr id="27" name="TextBox 26"/>
          <p:cNvSpPr txBox="1"/>
          <p:nvPr/>
        </p:nvSpPr>
        <p:spPr>
          <a:xfrm>
            <a:off x="1965960" y="4389120"/>
            <a:ext cx="1984248" cy="17373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6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#1 in Norway: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120 clubs (78 SATS, 42 Fresh Fitness)</a:t>
            </a:r>
            <a:endParaRPr sz="900"/>
          </a:p>
          <a:p>
            <a:pPr algn="l" marL="146304" indent="-146304">
              <a:spcAft>
                <a:spcPts val="6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#1 in Sweden</a:t>
            </a:r>
            <a:r>
              <a:rPr sz="900" b="0" i="0">
                <a:solidFill>
                  <a:srgbClr val="1F1F1F"/>
                </a:solidFill>
                <a:latin typeface="Arial"/>
              </a:rPr>
              <a:t> by revenue: 93 clubs</a:t>
            </a:r>
            <a:endParaRPr sz="900"/>
          </a:p>
          <a:p>
            <a:pPr algn="l" marL="146304" indent="-146304">
              <a:spcAft>
                <a:spcPts val="6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#1 in Finland</a:t>
            </a:r>
            <a:r>
              <a:rPr sz="900" b="0" i="0">
                <a:solidFill>
                  <a:srgbClr val="1F1F1F"/>
                </a:solidFill>
                <a:latin typeface="Arial"/>
              </a:rPr>
              <a:t> (ELIXIA): 32 clubs</a:t>
            </a:r>
            <a:endParaRPr sz="900"/>
          </a:p>
          <a:p>
            <a:pPr algn="l" marL="146304" indent="-146304">
              <a:spcAft>
                <a:spcPts val="6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#2 in Denmark: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28 clubs in Greater Copenhagen</a:t>
            </a:r>
            <a:endParaRPr sz="900"/>
          </a:p>
        </p:txBody>
      </p:sp>
      <p:sp>
        <p:nvSpPr>
          <p:cNvPr id="28" name="TextBox 27"/>
          <p:cNvSpPr txBox="1"/>
          <p:nvPr/>
        </p:nvSpPr>
        <p:spPr>
          <a:xfrm>
            <a:off x="4270248" y="3822191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Demand absorbs price increases</a:t>
            </a:r>
            <a:endParaRPr sz="1200"/>
          </a:p>
        </p:txBody>
      </p:sp>
      <p:cxnSp>
        <p:nvCxnSpPr>
          <p:cNvPr id="29" name="Connector 28"/>
          <p:cNvCxnSpPr/>
          <p:nvPr/>
        </p:nvCxnSpPr>
        <p:spPr>
          <a:xfrm>
            <a:off x="4270248" y="4123944"/>
            <a:ext cx="318211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57123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4</a:t>
            </a:r>
            <a:endParaRPr sz="1200"/>
          </a:p>
        </p:txBody>
      </p:sp>
      <p:sp>
        <p:nvSpPr>
          <p:cNvPr id="31" name="Rectangle 30"/>
          <p:cNvSpPr/>
          <p:nvPr/>
        </p:nvSpPr>
        <p:spPr>
          <a:xfrm>
            <a:off x="4270248" y="4206240"/>
            <a:ext cx="3611880" cy="21031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4407408" y="4325112"/>
            <a:ext cx="530352" cy="530352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+3%</a:t>
            </a:r>
            <a:endParaRPr sz="1100"/>
          </a:p>
        </p:txBody>
      </p:sp>
      <p:sp>
        <p:nvSpPr>
          <p:cNvPr id="33" name="TextBox 32"/>
          <p:cNvSpPr txBox="1"/>
          <p:nvPr/>
        </p:nvSpPr>
        <p:spPr>
          <a:xfrm>
            <a:off x="5074920" y="4343399"/>
            <a:ext cx="2697480" cy="51206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member growth in 2025 on a flat club base – 755,000 members at year end</a:t>
            </a:r>
            <a:endParaRPr sz="950"/>
          </a:p>
        </p:txBody>
      </p:sp>
      <p:sp>
        <p:nvSpPr>
          <p:cNvPr id="34" name="Oval 33"/>
          <p:cNvSpPr/>
          <p:nvPr/>
        </p:nvSpPr>
        <p:spPr>
          <a:xfrm>
            <a:off x="4407408" y="4965192"/>
            <a:ext cx="530352" cy="530352"/>
          </a:xfrm>
          <a:prstGeom prst="ellipse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+7%</a:t>
            </a:r>
            <a:endParaRPr sz="1100"/>
          </a:p>
        </p:txBody>
      </p:sp>
      <p:sp>
        <p:nvSpPr>
          <p:cNvPr id="35" name="TextBox 34"/>
          <p:cNvSpPr txBox="1"/>
          <p:nvPr/>
        </p:nvSpPr>
        <p:spPr>
          <a:xfrm>
            <a:off x="5074920" y="4983479"/>
            <a:ext cx="2697480" cy="51206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currency-adjusted revenue growth in Q2 2026 with three fewer clubs than a year earlier</a:t>
            </a:r>
            <a:endParaRPr sz="950"/>
          </a:p>
        </p:txBody>
      </p:sp>
      <p:sp>
        <p:nvSpPr>
          <p:cNvPr id="36" name="Oval 35"/>
          <p:cNvSpPr/>
          <p:nvPr/>
        </p:nvSpPr>
        <p:spPr>
          <a:xfrm>
            <a:off x="4407408" y="5605271"/>
            <a:ext cx="530352" cy="530352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30</a:t>
            </a:r>
            <a:endParaRPr sz="1100"/>
          </a:p>
        </p:txBody>
      </p:sp>
      <p:sp>
        <p:nvSpPr>
          <p:cNvPr id="37" name="TextBox 36"/>
          <p:cNvSpPr txBox="1"/>
          <p:nvPr/>
        </p:nvSpPr>
        <p:spPr>
          <a:xfrm>
            <a:off x="5074920" y="5623559"/>
            <a:ext cx="2697480" cy="51206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new club locations signed through 2028, against a target of 8-12 openings a year</a:t>
            </a:r>
            <a:endParaRPr sz="950"/>
          </a:p>
        </p:txBody>
      </p:sp>
      <p:sp>
        <p:nvSpPr>
          <p:cNvPr id="38" name="Rectangle 37"/>
          <p:cNvSpPr/>
          <p:nvPr/>
        </p:nvSpPr>
        <p:spPr>
          <a:xfrm>
            <a:off x="8110727" y="1280160"/>
            <a:ext cx="3657600" cy="310896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Opportunities</a:t>
            </a:r>
            <a:endParaRPr sz="1200"/>
          </a:p>
        </p:txBody>
      </p:sp>
      <p:sp>
        <p:nvSpPr>
          <p:cNvPr id="39" name="Rectangle 38"/>
          <p:cNvSpPr/>
          <p:nvPr/>
        </p:nvSpPr>
        <p:spPr>
          <a:xfrm>
            <a:off x="8110727" y="1627631"/>
            <a:ext cx="3657600" cy="13716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220455" y="1709928"/>
            <a:ext cx="3438144" cy="12344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Price increases above cost inflation</a:t>
            </a:r>
            <a:r>
              <a:rPr sz="950" b="0" i="0">
                <a:solidFill>
                  <a:srgbClr val="1F1F1F"/>
                </a:solidFill>
                <a:latin typeface="Arial"/>
              </a:rPr>
              <a:t> backed by product tiers and upgrades</a:t>
            </a:r>
            <a:endParaRPr sz="95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Higher utilisation: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more members per club at near-zero marginal cost</a:t>
            </a:r>
            <a:endParaRPr sz="95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Roll-out: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8-12 new clubs a year with a ~3-year payback</a:t>
            </a:r>
            <a:endParaRPr sz="950"/>
          </a:p>
        </p:txBody>
      </p:sp>
      <p:sp>
        <p:nvSpPr>
          <p:cNvPr id="41" name="Rectangle 40"/>
          <p:cNvSpPr/>
          <p:nvPr/>
        </p:nvSpPr>
        <p:spPr>
          <a:xfrm>
            <a:off x="8110727" y="3136391"/>
            <a:ext cx="3657600" cy="310896"/>
          </a:xfrm>
          <a:prstGeom prst="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Disruption</a:t>
            </a:r>
            <a:endParaRPr sz="1200"/>
          </a:p>
        </p:txBody>
      </p:sp>
      <p:sp>
        <p:nvSpPr>
          <p:cNvPr id="42" name="Rectangle 41"/>
          <p:cNvSpPr/>
          <p:nvPr/>
        </p:nvSpPr>
        <p:spPr>
          <a:xfrm>
            <a:off x="8110727" y="3483863"/>
            <a:ext cx="3657600" cy="10515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220455" y="3566159"/>
            <a:ext cx="3438144" cy="9144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Boutique studios and digital training</a:t>
            </a:r>
            <a:r>
              <a:rPr sz="950" b="0" i="0">
                <a:solidFill>
                  <a:srgbClr val="1F1F1F"/>
                </a:solidFill>
                <a:latin typeface="Arial"/>
              </a:rPr>
              <a:t> – met with premium concepts inside the clubs and the SATS app</a:t>
            </a:r>
            <a:endParaRPr sz="95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Low-cost segment</a:t>
            </a:r>
            <a:r>
              <a:rPr sz="950" b="0" i="0">
                <a:solidFill>
                  <a:srgbClr val="1F1F1F"/>
                </a:solidFill>
                <a:latin typeface="Arial"/>
              </a:rPr>
              <a:t> – addressed with Fresh Fitness (42 clubs in Norway)</a:t>
            </a:r>
            <a:endParaRPr sz="950"/>
          </a:p>
        </p:txBody>
      </p:sp>
      <p:sp>
        <p:nvSpPr>
          <p:cNvPr id="44" name="Rectangle 43"/>
          <p:cNvSpPr/>
          <p:nvPr/>
        </p:nvSpPr>
        <p:spPr>
          <a:xfrm>
            <a:off x="8110727" y="4672583"/>
            <a:ext cx="3657600" cy="310896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Threats</a:t>
            </a:r>
            <a:endParaRPr sz="1200"/>
          </a:p>
        </p:txBody>
      </p:sp>
      <p:sp>
        <p:nvSpPr>
          <p:cNvPr id="45" name="Rectangle 44"/>
          <p:cNvSpPr/>
          <p:nvPr/>
        </p:nvSpPr>
        <p:spPr>
          <a:xfrm>
            <a:off x="8110727" y="5020055"/>
            <a:ext cx="3657600" cy="10515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220455" y="5102351"/>
            <a:ext cx="3438144" cy="9144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Low-cost expansion</a:t>
            </a:r>
            <a:r>
              <a:rPr sz="950" b="0" i="0">
                <a:solidFill>
                  <a:srgbClr val="1F1F1F"/>
                </a:solidFill>
                <a:latin typeface="Arial"/>
              </a:rPr>
              <a:t> in the big cities could cap pricing power</a:t>
            </a:r>
            <a:endParaRPr sz="95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Regulation: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Denmark's VAT on group training and PT (2026) cut the Danish member base by 4%</a:t>
            </a:r>
            <a:endParaRPr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#3 Historical analysis and forecasts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Financials and estimates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New locations, like-for-like and price drive a 5.8% revenue CAGR 2025–30E, with EBIT margins expanding to 15%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Company reports, case team estimates (see Excel model: Model, DCF and Comps sheets). Peer multiples: Yahoo Finance consensus (Sep 2026).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5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61872"/>
            <a:ext cx="71597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Financial summary (NOKm)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63624"/>
            <a:ext cx="71140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662672" y="1307592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1</a:t>
            </a:r>
            <a:endParaRPr sz="120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29768" y="1847088"/>
          <a:ext cx="7543796" cy="246430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743700"/>
                <a:gridCol w="725012"/>
                <a:gridCol w="725012"/>
                <a:gridCol w="725012"/>
                <a:gridCol w="725012"/>
                <a:gridCol w="725012"/>
                <a:gridCol w="725012"/>
                <a:gridCol w="725012"/>
                <a:gridCol w="725012"/>
              </a:tblGrid>
              <a:tr h="214884">
                <a:tc>
                  <a:txBody>
                    <a:bodyPr wrap="square"/>
                    <a:lstStyle/>
                    <a:p>
                      <a:pPr algn="l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2023A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2024A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4F7F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4F7F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4F7F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2029E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4F7F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2030E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4F7FA0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Revenue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4,734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5,064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5,509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5,751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6,082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6,469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6,883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7,288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  Growth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16.0%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7.0%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8.8%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4.4%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5.8%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6.4%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6.4%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5.9%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EBITDA (reported)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1,784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1,941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2,109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2,255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2,414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2,592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2,788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2,976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  Margin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37.7%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38.3%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38.3%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39.2%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39.7%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40.1%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40.5%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40.8%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EBIT adj.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375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521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647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756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838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916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1,010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1,095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  Margin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7.9%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10.3%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11.7%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13.2%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13.8%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14.2%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14.7%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15.0%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Net profit to shareholders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224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326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475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548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614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672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742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804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EPS (NOK)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1.10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1.59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2.39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2.95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3.44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3.93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4.54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5.14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DPS (NOK)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0.00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0.63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0.67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1.48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1.72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2.16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2.49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3.09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Free cash flow to firm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356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446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519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532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562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625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707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765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ROIC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15.3%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18.9%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21.8%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23.5%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24.9%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26.6%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28.1%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NIBD / EBITDAaL (x)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2.4x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1.5x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1.1x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1.0x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1.0x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1.0x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1.0x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1.0x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173468" y="1645920"/>
            <a:ext cx="2156749" cy="173736"/>
          </a:xfrm>
          <a:prstGeom prst="rect">
            <a:avLst/>
          </a:prstGeom>
          <a:solidFill>
            <a:srgbClr val="8C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Historical</a:t>
            </a:r>
            <a:endParaRPr sz="800"/>
          </a:p>
        </p:txBody>
      </p:sp>
      <p:sp>
        <p:nvSpPr>
          <p:cNvPr id="16" name="Rectangle 15"/>
          <p:cNvSpPr/>
          <p:nvPr/>
        </p:nvSpPr>
        <p:spPr>
          <a:xfrm>
            <a:off x="4348505" y="1645920"/>
            <a:ext cx="3625062" cy="173736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Forecast</a:t>
            </a:r>
            <a:endParaRPr sz="800"/>
          </a:p>
        </p:txBody>
      </p:sp>
      <p:sp>
        <p:nvSpPr>
          <p:cNvPr id="17" name="TextBox 16"/>
          <p:cNvSpPr txBox="1"/>
          <p:nvPr/>
        </p:nvSpPr>
        <p:spPr>
          <a:xfrm>
            <a:off x="429768" y="4370832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Growth: new locations, like-for-like, price</a:t>
            </a:r>
            <a:endParaRPr sz="1200"/>
          </a:p>
        </p:txBody>
      </p:sp>
      <p:cxnSp>
        <p:nvCxnSpPr>
          <p:cNvPr id="18" name="Connector 17"/>
          <p:cNvCxnSpPr/>
          <p:nvPr/>
        </p:nvCxnSpPr>
        <p:spPr>
          <a:xfrm>
            <a:off x="429768" y="4672584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776472" y="4416552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2</a:t>
            </a:r>
            <a:endParaRPr sz="1200"/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29768" y="4754880"/>
          <a:ext cx="3657600" cy="15727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315968" y="4370832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Revenue by scenario (NOKm)</a:t>
            </a:r>
            <a:endParaRPr sz="1200"/>
          </a:p>
        </p:txBody>
      </p:sp>
      <p:cxnSp>
        <p:nvCxnSpPr>
          <p:cNvPr id="22" name="Connector 21"/>
          <p:cNvCxnSpPr/>
          <p:nvPr/>
        </p:nvCxnSpPr>
        <p:spPr>
          <a:xfrm>
            <a:off x="4315968" y="4672584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662671" y="4416552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3</a:t>
            </a:r>
            <a:endParaRPr sz="1200"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4315968" y="4754880"/>
          <a:ext cx="3657600" cy="157276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8202168" y="1261872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Financial commentary</a:t>
            </a:r>
            <a:endParaRPr sz="1200"/>
          </a:p>
        </p:txBody>
      </p:sp>
      <p:cxnSp>
        <p:nvCxnSpPr>
          <p:cNvPr id="26" name="Connector 25"/>
          <p:cNvCxnSpPr/>
          <p:nvPr/>
        </p:nvCxnSpPr>
        <p:spPr>
          <a:xfrm>
            <a:off x="8202168" y="1563624"/>
            <a:ext cx="313639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1457432" y="1307592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4</a:t>
            </a:r>
            <a:endParaRPr sz="1200"/>
          </a:p>
        </p:txBody>
      </p:sp>
      <p:sp>
        <p:nvSpPr>
          <p:cNvPr id="28" name="Rectangle 27"/>
          <p:cNvSpPr/>
          <p:nvPr/>
        </p:nvSpPr>
        <p:spPr>
          <a:xfrm>
            <a:off x="8202168" y="1645920"/>
            <a:ext cx="3566160" cy="26974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11896" y="1719072"/>
            <a:ext cx="3346704" cy="26060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5.8% revenue CAGR</a:t>
            </a:r>
            <a:r>
              <a:rPr sz="900" b="0" i="0">
                <a:solidFill>
                  <a:srgbClr val="1F1F1F"/>
                </a:solidFill>
                <a:latin typeface="Arial"/>
              </a:rPr>
              <a:t> 2025–30E: new locations add ~2.0pp, like-for-like ~0.8pp and price/mix ~3.0pp p.a.</a:t>
            </a:r>
            <a:endParaRPr sz="90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Operating leverage</a:t>
            </a:r>
            <a:r>
              <a:rPr sz="900" b="0" i="0">
                <a:solidFill>
                  <a:srgbClr val="1F1F1F"/>
                </a:solidFill>
                <a:latin typeface="Arial"/>
              </a:rPr>
              <a:t> lifts EBIT adj. margin from 11.7% to 15.0% as fixed costs and rent grow with inflation and locations, not with sales</a:t>
            </a:r>
            <a:endParaRPr sz="90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Growth is paid for: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36 openings at ~NOK 9m each lift capex to 5.3% of sales (5.6% in 2025A)</a:t>
            </a:r>
            <a:endParaRPr sz="90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Highly cash generative: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~54% of EBITDAaL converts to FCFF; negative working capital funds growth</a:t>
            </a:r>
            <a:endParaRPr sz="90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ROIC of 28% by 2030E</a:t>
            </a:r>
            <a:r>
              <a:rPr sz="900" b="0" i="0">
                <a:solidFill>
                  <a:srgbClr val="1F1F1F"/>
                </a:solidFill>
                <a:latin typeface="Arial"/>
              </a:rPr>
              <a:t> – far above our 9.0% WACC</a:t>
            </a:r>
            <a:endParaRPr sz="90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Shareholder returns: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payout from 50% to 60%; cash above 1.00x NIBD/EBITDAaL funds buybacks – NOK 1,889m over 2026–30E</a:t>
            </a:r>
            <a:endParaRPr sz="900"/>
          </a:p>
        </p:txBody>
      </p:sp>
      <p:sp>
        <p:nvSpPr>
          <p:cNvPr id="30" name="TextBox 29"/>
          <p:cNvSpPr txBox="1"/>
          <p:nvPr/>
        </p:nvSpPr>
        <p:spPr>
          <a:xfrm>
            <a:off x="8202168" y="4370832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Our estimates vs. consensus</a:t>
            </a:r>
            <a:endParaRPr sz="1200"/>
          </a:p>
        </p:txBody>
      </p:sp>
      <p:cxnSp>
        <p:nvCxnSpPr>
          <p:cNvPr id="31" name="Connector 30"/>
          <p:cNvCxnSpPr/>
          <p:nvPr/>
        </p:nvCxnSpPr>
        <p:spPr>
          <a:xfrm>
            <a:off x="8202168" y="4672584"/>
            <a:ext cx="313639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1457432" y="4416552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5</a:t>
            </a:r>
            <a:endParaRPr sz="1200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8202168" y="4782312"/>
          <a:ext cx="3566160" cy="1088136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097280"/>
                <a:gridCol w="822960"/>
                <a:gridCol w="822960"/>
                <a:gridCol w="822960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vs. consensus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Revenue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E7D32"/>
                          </a:solidFill>
                          <a:latin typeface="Arial"/>
                        </a:rPr>
                        <a:t>+0.5%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+0.3%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EBITDA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EBIT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EPS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+0.4%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-2.6%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8202168" y="5907024"/>
            <a:ext cx="3566160" cy="502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1" i="0">
                <a:solidFill>
                  <a:srgbClr val="1F1F1F"/>
                </a:solidFill>
                <a:latin typeface="Arial"/>
              </a:rPr>
              <a:t>Where we differ – operating leverage.</a:t>
            </a:r>
            <a:r>
              <a:rPr sz="750" b="0" i="0">
                <a:solidFill>
                  <a:srgbClr val="1F1F1F"/>
                </a:solidFill>
                <a:latin typeface="Arial"/>
              </a:rPr>
              <a:t> Consensus: Near-term estimates are close to ours, but the share price implies only ~12.7% in 2033 (11.7% today). We: EBIT adj. margin rises from 11.7% (2025) to 15.6% by 2033 on a largely fixed cost base.</a:t>
            </a:r>
            <a:endParaRPr sz="7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#4 Valuation and concluding thoughts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Valuation and recommendation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We recommend BUY with a target price of NOK 57 – 35% upside and 38% expected total return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Case team DCF and peer analysis; peer multiples from Yahoo Finance consensus (Sep 2026). (1) TP = 70% DCF + 30% peer multiples, rolled forward 12 months at the cost of equity less next year's dividend.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6</a:t>
            </a:r>
            <a:endParaRPr sz="900"/>
          </a:p>
        </p:txBody>
      </p:sp>
      <p:sp>
        <p:nvSpPr>
          <p:cNvPr id="11" name="Rectangle 10"/>
          <p:cNvSpPr/>
          <p:nvPr/>
        </p:nvSpPr>
        <p:spPr>
          <a:xfrm>
            <a:off x="429768" y="1243584"/>
            <a:ext cx="11338559" cy="5029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Our take: at NOK 42 the market prices in an EBIT margin of </a:t>
            </a:r>
            <a:r>
              <a:rPr sz="1050" b="1" i="0">
                <a:solidFill>
                  <a:srgbClr val="FFFFFF"/>
                </a:solidFill>
                <a:latin typeface="Arial"/>
              </a:rPr>
              <a:t>12.7%</a:t>
            </a:r>
            <a:r>
              <a:rPr sz="1050" b="0" i="0">
                <a:solidFill>
                  <a:srgbClr val="FFFFFF"/>
                </a:solidFill>
                <a:latin typeface="Arial"/>
              </a:rPr>
              <a:t> in 2033E – above the 11.7% SATS earns today. We see </a:t>
            </a:r>
            <a:r>
              <a:rPr sz="1050" b="1" i="0">
                <a:solidFill>
                  <a:srgbClr val="FFFFFF"/>
                </a:solidFill>
                <a:latin typeface="Arial"/>
              </a:rPr>
              <a:t>15.6%</a:t>
            </a:r>
            <a:r>
              <a:rPr sz="1050" b="0" i="0">
                <a:solidFill>
                  <a:srgbClr val="FFFFFF"/>
                </a:solidFill>
                <a:latin typeface="Arial"/>
              </a:rPr>
              <a:t> as fixed costs are spread over more locations. DCF NOK 54 and peers NOK 52 both point higher: </a:t>
            </a:r>
            <a:r>
              <a:rPr sz="1050" b="1" i="0">
                <a:solidFill>
                  <a:srgbClr val="FFFFFF"/>
                </a:solidFill>
                <a:latin typeface="Arial"/>
              </a:rPr>
              <a:t>12-month target price NOK 57</a:t>
            </a:r>
            <a:r>
              <a:rPr sz="1050" b="0" i="0">
                <a:solidFill>
                  <a:srgbClr val="FFFFFF"/>
                </a:solidFill>
                <a:latin typeface="Arial"/>
              </a:rPr>
              <a:t>(1), </a:t>
            </a:r>
            <a:r>
              <a:rPr sz="1050" b="1" i="0">
                <a:solidFill>
                  <a:srgbClr val="FFFFFF"/>
                </a:solidFill>
                <a:latin typeface="Arial"/>
              </a:rPr>
              <a:t>BUY</a:t>
            </a:r>
            <a:r>
              <a:rPr sz="1050" b="0" i="0">
                <a:solidFill>
                  <a:srgbClr val="FFFFFF"/>
                </a:solidFill>
                <a:latin typeface="Arial"/>
              </a:rPr>
              <a:t>.</a:t>
            </a:r>
            <a:endParaRPr sz="1050"/>
          </a:p>
        </p:txBody>
      </p:sp>
      <p:sp>
        <p:nvSpPr>
          <p:cNvPr id="12" name="TextBox 11"/>
          <p:cNvSpPr txBox="1"/>
          <p:nvPr/>
        </p:nvSpPr>
        <p:spPr>
          <a:xfrm>
            <a:off x="429768" y="184708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BUY – TP NOK 57</a:t>
            </a:r>
            <a:endParaRPr sz="1200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148840"/>
            <a:ext cx="425196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29768" y="2231136"/>
            <a:ext cx="4297680" cy="17373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39496" y="2304288"/>
            <a:ext cx="4078224" cy="1645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Little operating leverage priced in: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the share price implies a 12.7% EBIT margin in 2033E (11.7% today) – we model 15.6%</a:t>
            </a:r>
            <a:endParaRPr sz="95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Growth engine intact: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revenue per member, members per club and ~9 net openings a year from 30 signed leases</a:t>
            </a:r>
            <a:endParaRPr sz="95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Cash machine: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FCF yield rising to 8% by 2029E funds rising dividends</a:t>
            </a:r>
            <a:endParaRPr sz="95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Asymmetric risk/reward: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bull NOK 92 vs. bear NOK 15 per share (DCF)</a:t>
            </a:r>
            <a:endParaRPr sz="95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Catalysts: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Q3 report 27 Oct 2026 (margins), the next buyback programme, the 2027 opening pipeline</a:t>
            </a:r>
            <a:endParaRPr sz="950"/>
          </a:p>
        </p:txBody>
      </p:sp>
      <p:sp>
        <p:nvSpPr>
          <p:cNvPr id="16" name="TextBox 15"/>
          <p:cNvSpPr txBox="1"/>
          <p:nvPr/>
        </p:nvSpPr>
        <p:spPr>
          <a:xfrm>
            <a:off x="429768" y="41148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Valuation summary – football field (NOK/share)</a:t>
            </a:r>
            <a:endParaRPr sz="1200"/>
          </a:p>
        </p:txBody>
      </p:sp>
      <p:cxnSp>
        <p:nvCxnSpPr>
          <p:cNvPr id="17" name="Connector 16"/>
          <p:cNvCxnSpPr/>
          <p:nvPr/>
        </p:nvCxnSpPr>
        <p:spPr>
          <a:xfrm>
            <a:off x="429768" y="4416552"/>
            <a:ext cx="425196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29768" y="4681728"/>
          <a:ext cx="4297680" cy="1554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421236" y="4857140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35</a:t>
            </a:r>
            <a:endParaRPr sz="800"/>
          </a:p>
        </p:txBody>
      </p:sp>
      <p:sp>
        <p:nvSpPr>
          <p:cNvPr id="20" name="TextBox 19"/>
          <p:cNvSpPr txBox="1"/>
          <p:nvPr/>
        </p:nvSpPr>
        <p:spPr>
          <a:xfrm>
            <a:off x="3406861" y="4857140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47</a:t>
            </a:r>
            <a:endParaRPr sz="800"/>
          </a:p>
        </p:txBody>
      </p:sp>
      <p:sp>
        <p:nvSpPr>
          <p:cNvPr id="21" name="TextBox 20"/>
          <p:cNvSpPr txBox="1"/>
          <p:nvPr/>
        </p:nvSpPr>
        <p:spPr>
          <a:xfrm>
            <a:off x="2579090" y="5079949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49</a:t>
            </a:r>
            <a:endParaRPr sz="800"/>
          </a:p>
        </p:txBody>
      </p:sp>
      <p:sp>
        <p:nvSpPr>
          <p:cNvPr id="22" name="TextBox 21"/>
          <p:cNvSpPr txBox="1"/>
          <p:nvPr/>
        </p:nvSpPr>
        <p:spPr>
          <a:xfrm>
            <a:off x="3468589" y="5079949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60</a:t>
            </a:r>
            <a:endParaRPr sz="800"/>
          </a:p>
        </p:txBody>
      </p:sp>
      <p:sp>
        <p:nvSpPr>
          <p:cNvPr id="23" name="TextBox 22"/>
          <p:cNvSpPr txBox="1"/>
          <p:nvPr/>
        </p:nvSpPr>
        <p:spPr>
          <a:xfrm>
            <a:off x="1934427" y="5302758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15</a:t>
            </a:r>
            <a:endParaRPr sz="800"/>
          </a:p>
        </p:txBody>
      </p:sp>
      <p:sp>
        <p:nvSpPr>
          <p:cNvPr id="24" name="TextBox 23"/>
          <p:cNvSpPr txBox="1"/>
          <p:nvPr/>
        </p:nvSpPr>
        <p:spPr>
          <a:xfrm>
            <a:off x="4215716" y="5302758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92</a:t>
            </a:r>
            <a:endParaRPr sz="800"/>
          </a:p>
        </p:txBody>
      </p:sp>
      <p:sp>
        <p:nvSpPr>
          <p:cNvPr id="25" name="TextBox 24"/>
          <p:cNvSpPr txBox="1"/>
          <p:nvPr/>
        </p:nvSpPr>
        <p:spPr>
          <a:xfrm>
            <a:off x="2579090" y="5525566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44</a:t>
            </a:r>
            <a:endParaRPr sz="800"/>
          </a:p>
        </p:txBody>
      </p:sp>
      <p:sp>
        <p:nvSpPr>
          <p:cNvPr id="26" name="TextBox 25"/>
          <p:cNvSpPr txBox="1"/>
          <p:nvPr/>
        </p:nvSpPr>
        <p:spPr>
          <a:xfrm>
            <a:off x="3383506" y="5525566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57</a:t>
            </a:r>
            <a:endParaRPr sz="800"/>
          </a:p>
        </p:txBody>
      </p:sp>
      <p:sp>
        <p:nvSpPr>
          <p:cNvPr id="27" name="TextBox 26"/>
          <p:cNvSpPr txBox="1"/>
          <p:nvPr/>
        </p:nvSpPr>
        <p:spPr>
          <a:xfrm>
            <a:off x="2579090" y="5748375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47</a:t>
            </a:r>
            <a:endParaRPr sz="800"/>
          </a:p>
        </p:txBody>
      </p:sp>
      <p:sp>
        <p:nvSpPr>
          <p:cNvPr id="28" name="TextBox 27"/>
          <p:cNvSpPr txBox="1"/>
          <p:nvPr/>
        </p:nvSpPr>
        <p:spPr>
          <a:xfrm>
            <a:off x="3795952" y="5748375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74</a:t>
            </a:r>
            <a:endParaRPr sz="800"/>
          </a:p>
        </p:txBody>
      </p:sp>
      <p:sp>
        <p:nvSpPr>
          <p:cNvPr id="29" name="TextBox 28"/>
          <p:cNvSpPr txBox="1"/>
          <p:nvPr/>
        </p:nvSpPr>
        <p:spPr>
          <a:xfrm>
            <a:off x="2579090" y="597118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43</a:t>
            </a:r>
            <a:endParaRPr sz="800"/>
          </a:p>
        </p:txBody>
      </p:sp>
      <p:sp>
        <p:nvSpPr>
          <p:cNvPr id="30" name="TextBox 29"/>
          <p:cNvSpPr txBox="1"/>
          <p:nvPr/>
        </p:nvSpPr>
        <p:spPr>
          <a:xfrm>
            <a:off x="3522441" y="597118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63</a:t>
            </a:r>
            <a:endParaRPr sz="800"/>
          </a:p>
        </p:txBody>
      </p:sp>
      <p:cxnSp>
        <p:nvCxnSpPr>
          <p:cNvPr id="31" name="Connector 30"/>
          <p:cNvCxnSpPr/>
          <p:nvPr/>
        </p:nvCxnSpPr>
        <p:spPr>
          <a:xfrm>
            <a:off x="3008858" y="4818888"/>
            <a:ext cx="0" cy="1355140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79528" y="4818888"/>
            <a:ext cx="0" cy="1355140"/>
          </a:xfrm>
          <a:prstGeom prst="line">
            <a:avLst/>
          </a:prstGeom>
          <a:ln w="1905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61141" y="4818888"/>
            <a:ext cx="0" cy="1355140"/>
          </a:xfrm>
          <a:prstGeom prst="line">
            <a:avLst/>
          </a:prstGeom>
          <a:ln w="15875">
            <a:solidFill>
              <a:srgbClr val="2E7D3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487650" y="459943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800" b="1" i="0">
                <a:solidFill>
                  <a:srgbClr val="C00000"/>
                </a:solidFill>
                <a:latin typeface="Arial"/>
              </a:rPr>
              <a:t>42</a:t>
            </a:r>
            <a:endParaRPr sz="800"/>
          </a:p>
        </p:txBody>
      </p:sp>
      <p:sp>
        <p:nvSpPr>
          <p:cNvPr id="35" name="TextBox 34"/>
          <p:cNvSpPr txBox="1"/>
          <p:nvPr/>
        </p:nvSpPr>
        <p:spPr>
          <a:xfrm>
            <a:off x="2758320" y="459943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54</a:t>
            </a:r>
            <a:endParaRPr sz="800"/>
          </a:p>
        </p:txBody>
      </p:sp>
      <p:sp>
        <p:nvSpPr>
          <p:cNvPr id="36" name="TextBox 35"/>
          <p:cNvSpPr txBox="1"/>
          <p:nvPr/>
        </p:nvSpPr>
        <p:spPr>
          <a:xfrm>
            <a:off x="3379429" y="459943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2E7D32"/>
                </a:solidFill>
                <a:latin typeface="Arial"/>
              </a:rPr>
              <a:t>57</a:t>
            </a:r>
            <a:endParaRPr sz="800"/>
          </a:p>
        </p:txBody>
      </p:sp>
      <p:cxnSp>
        <p:nvCxnSpPr>
          <p:cNvPr id="37" name="Connector 36"/>
          <p:cNvCxnSpPr/>
          <p:nvPr/>
        </p:nvCxnSpPr>
        <p:spPr>
          <a:xfrm>
            <a:off x="521207" y="6309360"/>
            <a:ext cx="228601" cy="0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95527" y="6217920"/>
            <a:ext cx="100584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Share price</a:t>
            </a:r>
            <a:endParaRPr sz="750"/>
          </a:p>
        </p:txBody>
      </p:sp>
      <p:cxnSp>
        <p:nvCxnSpPr>
          <p:cNvPr id="39" name="Connector 38"/>
          <p:cNvCxnSpPr/>
          <p:nvPr/>
        </p:nvCxnSpPr>
        <p:spPr>
          <a:xfrm>
            <a:off x="1664207" y="6309360"/>
            <a:ext cx="228600" cy="0"/>
          </a:xfrm>
          <a:prstGeom prst="line">
            <a:avLst/>
          </a:prstGeom>
          <a:ln w="1905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938528" y="6217920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Fair value today</a:t>
            </a:r>
            <a:endParaRPr sz="750"/>
          </a:p>
        </p:txBody>
      </p:sp>
      <p:cxnSp>
        <p:nvCxnSpPr>
          <p:cNvPr id="41" name="Connector 40"/>
          <p:cNvCxnSpPr/>
          <p:nvPr/>
        </p:nvCxnSpPr>
        <p:spPr>
          <a:xfrm>
            <a:off x="3035808" y="6309360"/>
            <a:ext cx="228600" cy="0"/>
          </a:xfrm>
          <a:prstGeom prst="line">
            <a:avLst/>
          </a:prstGeom>
          <a:ln w="15875">
            <a:solidFill>
              <a:srgbClr val="2E7D3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310127" y="6217920"/>
            <a:ext cx="192024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12m target price (rolled forward)</a:t>
            </a:r>
            <a:endParaRPr sz="750"/>
          </a:p>
        </p:txBody>
      </p:sp>
      <p:cxnSp>
        <p:nvCxnSpPr>
          <p:cNvPr id="43" name="Connector 42"/>
          <p:cNvCxnSpPr/>
          <p:nvPr/>
        </p:nvCxnSpPr>
        <p:spPr>
          <a:xfrm>
            <a:off x="4937760" y="1874519"/>
            <a:ext cx="0" cy="4389121"/>
          </a:xfrm>
          <a:prstGeom prst="line">
            <a:avLst/>
          </a:prstGeom>
          <a:ln w="9525">
            <a:solidFill>
              <a:srgbClr val="C8C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138928" y="1847088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DCF valuation – sensitivity analysis (NOK per share)</a:t>
            </a:r>
            <a:endParaRPr sz="1200"/>
          </a:p>
        </p:txBody>
      </p:sp>
      <p:cxnSp>
        <p:nvCxnSpPr>
          <p:cNvPr id="45" name="Connector 44"/>
          <p:cNvCxnSpPr/>
          <p:nvPr/>
        </p:nvCxnSpPr>
        <p:spPr>
          <a:xfrm>
            <a:off x="5138928" y="2148840"/>
            <a:ext cx="658368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5138928" y="2276856"/>
          <a:ext cx="4800598" cy="155448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46153"/>
                <a:gridCol w="564776"/>
                <a:gridCol w="555667"/>
                <a:gridCol w="555667"/>
                <a:gridCol w="555667"/>
                <a:gridCol w="555667"/>
                <a:gridCol w="555667"/>
                <a:gridCol w="555667"/>
                <a:gridCol w="555667"/>
              </a:tblGrid>
              <a:tr h="237744">
                <a:tc rowSpan="2" gridSpan="2">
                  <a:txBody>
                    <a:bodyPr wrap="square"/>
                    <a:lstStyle/>
                    <a:p>
                      <a:pPr algn="l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rowSpan="2" hMerge="1">
                  <a:txBody>
                    <a:bodyPr wrap="square"/>
                    <a:lstStyle/>
                    <a:p>
                      <a:pPr algn="r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gridSpan="7"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WACC</a:t>
                      </a:r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19456">
                <a:tc gridSpan="2" vMerge="1">
                  <a:txBody>
                    <a:bodyPr wrap="square"/>
                    <a:lstStyle/>
                    <a:p>
                      <a:pPr algn="l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hMerge="1" vMerge="1">
                  <a:txBody>
                    <a:bodyPr wrap="square"/>
                    <a:lstStyle/>
                    <a:p>
                      <a:pPr algn="r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7.52%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8.02%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8.52%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9.02%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9.52%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10.02%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10.52%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19456">
                <a:tc rowSpan="5"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Arial"/>
                        </a:rPr>
                        <a:t>Terminal growth</a:t>
                      </a:r>
                      <a:endParaRPr sz="900"/>
                    </a:p>
                  </a:txBody>
                  <a:tcPr marL="36576" marR="36576" marT="0" marB="0" anchor="ctr" vert="vert27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1.50%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67.2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61.5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56.5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52.3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48.5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45.2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42.3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19456">
                <a:tc vMerge="1">
                  <a:txBody>
                    <a:bodyPr wrap="square"/>
                    <a:lstStyle/>
                    <a:p>
                      <a:pPr algn="l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1.75%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69.0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62.9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57.7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53.2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49.3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45.9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42.9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19456">
                <a:tc vMerge="1">
                  <a:txBody>
                    <a:bodyPr wrap="square"/>
                    <a:lstStyle/>
                    <a:p>
                      <a:pPr algn="l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2.00%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71.0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64.5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59.0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54.3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9EC3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50.2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46.6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43.5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19456">
                <a:tc vMerge="1">
                  <a:txBody>
                    <a:bodyPr wrap="square"/>
                    <a:lstStyle/>
                    <a:p>
                      <a:pPr algn="l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2.25%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73.1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66.2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60.3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55.4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51.1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47.4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44.1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19456">
                <a:tc vMerge="1">
                  <a:txBody>
                    <a:bodyPr wrap="square"/>
                    <a:lstStyle/>
                    <a:p>
                      <a:pPr algn="l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2.50%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75.4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68.0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61.8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56.6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52.1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48.2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44.8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Rectangle 46"/>
          <p:cNvSpPr/>
          <p:nvPr/>
        </p:nvSpPr>
        <p:spPr>
          <a:xfrm>
            <a:off x="10076688" y="2276856"/>
            <a:ext cx="1691640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0076688" y="2276856"/>
            <a:ext cx="1691640" cy="1572768"/>
          </a:xfrm>
          <a:prstGeom prst="rect">
            <a:avLst/>
          </a:prstGeom>
          <a:noFill/>
          <a:ln w="9525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9" name="Chart 48"/>
          <p:cNvGraphicFramePr>
            <a:graphicFrameLocks noGrp="1"/>
          </p:cNvGraphicFramePr>
          <p:nvPr/>
        </p:nvGraphicFramePr>
        <p:xfrm>
          <a:off x="10149840" y="2487168"/>
          <a:ext cx="1545336" cy="1325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0" name="Oval 49"/>
          <p:cNvSpPr/>
          <p:nvPr/>
        </p:nvSpPr>
        <p:spPr>
          <a:xfrm>
            <a:off x="11014176" y="2352971"/>
            <a:ext cx="512064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1F1F1F"/>
                </a:solidFill>
                <a:latin typeface="Arial"/>
              </a:rPr>
              <a:t>+28%</a:t>
            </a:r>
            <a:endParaRPr sz="800"/>
          </a:p>
        </p:txBody>
      </p:sp>
      <p:cxnSp>
        <p:nvCxnSpPr>
          <p:cNvPr id="51" name="Connector 50"/>
          <p:cNvCxnSpPr/>
          <p:nvPr/>
        </p:nvCxnSpPr>
        <p:spPr>
          <a:xfrm>
            <a:off x="11270208" y="2554139"/>
            <a:ext cx="0" cy="9144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138928" y="41148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What the market is pricing in (reverse DCF)</a:t>
            </a:r>
            <a:endParaRPr sz="1200"/>
          </a:p>
        </p:txBody>
      </p:sp>
      <p:cxnSp>
        <p:nvCxnSpPr>
          <p:cNvPr id="53" name="Connector 52"/>
          <p:cNvCxnSpPr/>
          <p:nvPr/>
        </p:nvCxnSpPr>
        <p:spPr>
          <a:xfrm>
            <a:off x="5138928" y="4416552"/>
            <a:ext cx="658368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5138928" y="4498848"/>
            <a:ext cx="4800600" cy="1810512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5230368" y="4590288"/>
          <a:ext cx="4617717" cy="86410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904214"/>
                <a:gridCol w="904501"/>
                <a:gridCol w="904501"/>
                <a:gridCol w="904501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Market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Ours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EBIT adj. margin 2033E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12.7%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15.6%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Revenue CAGR 2025–33E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4.8%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5.4%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10.5%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WACC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10.7%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5248656" y="5532120"/>
            <a:ext cx="4581144" cy="7772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Little operating leverage priced in: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the market's 2033E margin is only 0.9pp above today's and 2.9pp below ours</a:t>
            </a:r>
            <a:endParaRPr sz="90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Each 1pp of margin is worth NOK 4.1 per share</a:t>
            </a:r>
            <a:r>
              <a:rPr sz="900" b="0" i="0">
                <a:solidFill>
                  <a:srgbClr val="1F1F1F"/>
                </a:solidFill>
                <a:latin typeface="Arial"/>
              </a:rPr>
              <a:t> – our upside rests on margins, not on multiples</a:t>
            </a:r>
            <a:endParaRPr sz="900"/>
          </a:p>
        </p:txBody>
      </p:sp>
      <p:sp>
        <p:nvSpPr>
          <p:cNvPr id="57" name="Rectangle 56"/>
          <p:cNvSpPr/>
          <p:nvPr/>
        </p:nvSpPr>
        <p:spPr>
          <a:xfrm>
            <a:off x="10076688" y="4498848"/>
            <a:ext cx="1691640" cy="1810512"/>
          </a:xfrm>
          <a:prstGeom prst="rect">
            <a:avLst/>
          </a:prstGeom>
          <a:noFill/>
          <a:ln w="9525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168128" y="4572000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700" b="1" i="0">
                <a:solidFill>
                  <a:srgbClr val="C00000"/>
                </a:solidFill>
                <a:latin typeface="Arial"/>
              </a:rPr>
              <a:t>12.7%</a:t>
            </a:r>
            <a:endParaRPr sz="1700"/>
          </a:p>
        </p:txBody>
      </p:sp>
      <p:sp>
        <p:nvSpPr>
          <p:cNvPr id="59" name="TextBox 58"/>
          <p:cNvSpPr txBox="1"/>
          <p:nvPr/>
        </p:nvSpPr>
        <p:spPr>
          <a:xfrm>
            <a:off x="10168128" y="4873752"/>
            <a:ext cx="150876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Market-implied, 2033E</a:t>
            </a:r>
            <a:endParaRPr sz="750"/>
          </a:p>
        </p:txBody>
      </p:sp>
      <p:sp>
        <p:nvSpPr>
          <p:cNvPr id="60" name="TextBox 59"/>
          <p:cNvSpPr txBox="1"/>
          <p:nvPr/>
        </p:nvSpPr>
        <p:spPr>
          <a:xfrm>
            <a:off x="10168128" y="5138928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700" b="1" i="0">
                <a:solidFill>
                  <a:srgbClr val="003255"/>
                </a:solidFill>
                <a:latin typeface="Arial"/>
              </a:rPr>
              <a:t>15.6%</a:t>
            </a:r>
            <a:endParaRPr sz="1700"/>
          </a:p>
        </p:txBody>
      </p:sp>
      <p:sp>
        <p:nvSpPr>
          <p:cNvPr id="61" name="TextBox 60"/>
          <p:cNvSpPr txBox="1"/>
          <p:nvPr/>
        </p:nvSpPr>
        <p:spPr>
          <a:xfrm>
            <a:off x="10168128" y="5440680"/>
            <a:ext cx="150876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Our base case, 2033E</a:t>
            </a:r>
            <a:endParaRPr sz="750"/>
          </a:p>
        </p:txBody>
      </p:sp>
      <p:sp>
        <p:nvSpPr>
          <p:cNvPr id="62" name="TextBox 61"/>
          <p:cNvSpPr txBox="1"/>
          <p:nvPr/>
        </p:nvSpPr>
        <p:spPr>
          <a:xfrm>
            <a:off x="10168128" y="5705856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700" b="1" i="0">
                <a:solidFill>
                  <a:srgbClr val="6B7480"/>
                </a:solidFill>
                <a:latin typeface="Arial"/>
              </a:rPr>
              <a:t>11.7%</a:t>
            </a:r>
            <a:endParaRPr sz="1700"/>
          </a:p>
        </p:txBody>
      </p:sp>
      <p:sp>
        <p:nvSpPr>
          <p:cNvPr id="63" name="TextBox 62"/>
          <p:cNvSpPr txBox="1"/>
          <p:nvPr/>
        </p:nvSpPr>
        <p:spPr>
          <a:xfrm>
            <a:off x="10168128" y="6007608"/>
            <a:ext cx="150876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Today (2025A)</a:t>
            </a:r>
            <a:endParaRPr sz="7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1221638" y="2492654"/>
            <a:ext cx="1044245" cy="0"/>
          </a:xfrm>
          <a:prstGeom prst="line">
            <a:avLst/>
          </a:prstGeom>
          <a:ln w="19050">
            <a:solidFill>
              <a:srgbClr val="81B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224381" y="2697480"/>
            <a:ext cx="8229600" cy="685800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3600" b="0" i="0">
                <a:solidFill>
                  <a:srgbClr val="FFFFFF"/>
                </a:solidFill>
                <a:latin typeface="Cambria"/>
              </a:rPr>
              <a:t>Appendix</a:t>
            </a:r>
            <a:endParaRPr sz="3600"/>
          </a:p>
        </p:txBody>
      </p:sp>
      <p:sp>
        <p:nvSpPr>
          <p:cNvPr id="5" name="TextBox 4"/>
          <p:cNvSpPr txBox="1"/>
          <p:nvPr/>
        </p:nvSpPr>
        <p:spPr>
          <a:xfrm>
            <a:off x="1228953" y="4129430"/>
            <a:ext cx="8229600" cy="96926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800" b="0" i="0">
                <a:solidFill>
                  <a:srgbClr val="81B0C0"/>
                </a:solidFill>
                <a:latin typeface="Arial"/>
              </a:rPr>
              <a:t>Supporting analysis and model details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Appendix #4.1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DCF model – base case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Base case DCF value of NOK 54 per share – the terminal value accounts for 66% of enterprise value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Case team estimates (Excel model, DCF and WACC sheets). FCFF on a pre-IFRS 16 basis: lease payments are treated as operating costs, so lease liabilities are not deducted.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8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61872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Free cash flow to firm and discounting (NOKm)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63624"/>
            <a:ext cx="777240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9768" y="1664208"/>
          <a:ext cx="7818120" cy="321868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600200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2029E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2030E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2031E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2032E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2033E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TY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4F7FA0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Revenue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5,509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5,751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6,082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6,469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6,883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7,288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7,673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8,038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8,399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8,567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  Growth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8.8%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4.4%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5.8%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6.4%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6.4%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5.9%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5.3%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4.8%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4.5%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2.0%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EBITDAaL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866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986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1,081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1,175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1,285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1,387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1,481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1,570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1,649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  Margin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15.7%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17.2%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17.8%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18.2%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18.7%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19.0%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19.3%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19.5%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19.6%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EBIT adj.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647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756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838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916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1,010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1,095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1,174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1,249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1,313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1,339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  Margin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11.7%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13.2%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13.8%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14.2%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14.7%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15.0%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15.3%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15.5%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15.6%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15.6%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Taxes on EBIT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(142)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(166)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(184)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(202)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(222)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(241)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(258)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(275)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(289)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(295)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NOPAT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505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590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654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714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788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854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916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974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1,024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1,045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+ D&amp;A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219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230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243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259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275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292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307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322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336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– Capex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(306)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(306)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(388)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(410)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(423)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(445)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(435)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(455)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(474)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– Increase in NWC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101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17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53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62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66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65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62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58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58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Free cash flow to firm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519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532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562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625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707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765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849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899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944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961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Share of year included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25%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100%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100%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100%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100%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100%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100%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100%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Discount period (years)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0.13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0.75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1.75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2.75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3.75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4.75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5.75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6.75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Discount factor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0.989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0.937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0.860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0.789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0.723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0.663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0.609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0.558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PV of FCFF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133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527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538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557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554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564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547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527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29768" y="5074920"/>
            <a:ext cx="7818120" cy="1216152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5138928"/>
            <a:ext cx="7543800" cy="10972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003255"/>
                </a:solidFill>
                <a:latin typeface="Arial"/>
              </a:rPr>
              <a:t>Key DCF assumptions</a:t>
            </a:r>
            <a:endParaRPr sz="100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Valuation date</a:t>
            </a:r>
            <a:r>
              <a:rPr sz="900" b="0" i="0">
                <a:solidFill>
                  <a:srgbClr val="1F1F1F"/>
                </a:solidFill>
                <a:latin typeface="Arial"/>
              </a:rPr>
              <a:t> 30.09.2026 – only 25% of 2026E FCFF is included (stub); </a:t>
            </a:r>
            <a:r>
              <a:rPr sz="900" b="1" i="0">
                <a:solidFill>
                  <a:srgbClr val="1F1F1F"/>
                </a:solidFill>
                <a:latin typeface="Arial"/>
              </a:rPr>
              <a:t>mid-year</a:t>
            </a:r>
            <a:r>
              <a:rPr sz="900" b="0" i="0">
                <a:solidFill>
                  <a:srgbClr val="1F1F1F"/>
                </a:solidFill>
                <a:latin typeface="Arial"/>
              </a:rPr>
              <a:t> discounting</a:t>
            </a:r>
            <a:endParaRPr sz="90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Terminal value: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Gordon growth with g = 2.0% and value-driver reinvestment (RONIC 25%) – implied exit multiple 8.3x EV/EBITDAaL</a:t>
            </a:r>
            <a:endParaRPr sz="90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Lease consistency: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FCFF after lease payments, WACC and net debt excl. leases (pre-IFRS 16 basis)</a:t>
            </a:r>
            <a:endParaRPr sz="900"/>
          </a:p>
          <a:p>
            <a:pPr algn="l" marL="146304" indent="-146304"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Sensitivity: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±0.5pp WACC moves the value by NOK 4.1–4.7 per share; ±0.25pp terminal growth by only NOK 1.0–1.1 (RONIC above WACC)</a:t>
            </a:r>
            <a:endParaRPr sz="900"/>
          </a:p>
        </p:txBody>
      </p:sp>
      <p:sp>
        <p:nvSpPr>
          <p:cNvPr id="16" name="TextBox 15"/>
          <p:cNvSpPr txBox="1"/>
          <p:nvPr/>
        </p:nvSpPr>
        <p:spPr>
          <a:xfrm>
            <a:off x="8458200" y="1261872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WACC</a:t>
            </a:r>
            <a:endParaRPr sz="1200"/>
          </a:p>
        </p:txBody>
      </p:sp>
      <p:cxnSp>
        <p:nvCxnSpPr>
          <p:cNvPr id="17" name="Connector 16"/>
          <p:cNvCxnSpPr/>
          <p:nvPr/>
        </p:nvCxnSpPr>
        <p:spPr>
          <a:xfrm>
            <a:off x="8458200" y="1563624"/>
            <a:ext cx="3264408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458200" y="1664208"/>
          <a:ext cx="3310127" cy="146304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022856"/>
                <a:gridCol w="1287271"/>
              </a:tblGrid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Risk-free rate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4.62%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Equity risk premium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5.00%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Relevered beta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0.79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Size premium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1.00%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Cost of equity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9.57%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After-tax cost of debt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4.97%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Target D / (D+E)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WACC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9.02%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458200" y="3291840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Valuation summary (NOKm)</a:t>
            </a:r>
            <a:endParaRPr sz="1200"/>
          </a:p>
        </p:txBody>
      </p:sp>
      <p:cxnSp>
        <p:nvCxnSpPr>
          <p:cNvPr id="20" name="Connector 19"/>
          <p:cNvCxnSpPr/>
          <p:nvPr/>
        </p:nvCxnSpPr>
        <p:spPr>
          <a:xfrm>
            <a:off x="8458200" y="3593592"/>
            <a:ext cx="3264408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458200" y="3694176"/>
          <a:ext cx="3310127" cy="219456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022856"/>
                <a:gridCol w="1287271"/>
              </a:tblGrid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PV of FCFF 2026E–2033E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3,946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PV of terminal value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7,648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Enterprise value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11,593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Net interest-bearing debt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(1,077)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Minority interests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Associates &amp; investments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Pensions &amp; other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Equity value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10,516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Diluted shares (m)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193.8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DCF value per share (NOK)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54.3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Current share price (NOK)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42.3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Upside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+28.3%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Appendix #4.2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What the market is pricing in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At NOK 42 the market prices in an EBIT margin of 12.7% in 2033E – above the 11.7% earned in 2025A; our base case is 15.6%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Case team reverse DCF (Excel model, Reverse_DCF sheet). Each driver is solved on its own with all other assumptions at the base case; growth is interpolated in Sensitivity table 5.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9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61872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Market-implied vs. our base case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63624"/>
            <a:ext cx="594360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9768" y="1664208"/>
          <a:ext cx="5989320" cy="161848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057400"/>
                <a:gridCol w="960120"/>
                <a:gridCol w="960120"/>
                <a:gridCol w="822960"/>
                <a:gridCol w="1188720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Market-implied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Our base case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Difference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Reference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EBIT adj. margin, 2033E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12.7%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15.6%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−2.9pp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11.7% (2025A)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EBIT adj. margin, forecast average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11.7%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14.7%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−2.9pp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10.0% (3y avg.)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Revenue CAGR, 2025A–2033E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4.8%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5.4%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−0.6pp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10.5% (2022–25A)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1">
                          <a:solidFill>
                            <a:srgbClr val="1F1F1F"/>
                          </a:solidFill>
                          <a:latin typeface="Arial"/>
                        </a:rPr>
                        <a:t>  … EBIT margin at that growth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1">
                          <a:solidFill>
                            <a:srgbClr val="1F1F1F"/>
                          </a:solidFill>
                          <a:latin typeface="Arial"/>
                        </a:rPr>
                        <a:t>12.8%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1">
                          <a:solidFill>
                            <a:srgbClr val="1F1F1F"/>
                          </a:solidFill>
                          <a:latin typeface="Arial"/>
                        </a:rPr>
                        <a:t>15.6%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1">
                          <a:solidFill>
                            <a:srgbClr val="1F1F1F"/>
                          </a:solidFill>
                          <a:latin typeface="Arial"/>
                        </a:rPr>
                        <a:t>−2.9pp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WACC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10.72%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9.02%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+1.7pp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Terminal growth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-2.49%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2.00%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−4.5pp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29768" y="3429000"/>
            <a:ext cx="5989320" cy="27889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3520440"/>
            <a:ext cx="5715000" cy="26517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400"/>
              </a:spcAft>
              <a:buNone/>
            </a:pPr>
            <a:r>
              <a:rPr sz="1050" b="1" i="0">
                <a:solidFill>
                  <a:srgbClr val="003255"/>
                </a:solidFill>
                <a:latin typeface="Arial"/>
              </a:rPr>
              <a:t>How to read it</a:t>
            </a:r>
            <a:endParaRPr sz="105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00" b="1" i="0">
                <a:solidFill>
                  <a:srgbClr val="1F1F1F"/>
                </a:solidFill>
                <a:latin typeface="Arial"/>
              </a:rPr>
              <a:t>Margins:</a:t>
            </a:r>
            <a:r>
              <a:rPr sz="1000" b="0" i="0">
                <a:solidFill>
                  <a:srgbClr val="1F1F1F"/>
                </a:solidFill>
                <a:latin typeface="Arial"/>
              </a:rPr>
              <a:t> the share price discounts an EBIT margin of 12.7% in 2033E – above today's 11.7%. Our 15.6% rests on operating leverage from a largely fixed cost base.</a:t>
            </a:r>
            <a:endParaRPr sz="100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00" b="1" i="0">
                <a:solidFill>
                  <a:srgbClr val="1F1F1F"/>
                </a:solidFill>
                <a:latin typeface="Arial"/>
              </a:rPr>
              <a:t>Growth:</a:t>
            </a:r>
            <a:r>
              <a:rPr sz="1000" b="0" i="0">
                <a:solidFill>
                  <a:srgbClr val="1F1F1F"/>
                </a:solidFill>
                <a:latin typeface="Arial"/>
              </a:rPr>
              <a:t> or revenue growth of 4.8% a year instead of our 5.4% – with our cost base that also means a margin of 12.8%.</a:t>
            </a:r>
            <a:endParaRPr sz="100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00" b="1" i="0">
                <a:solidFill>
                  <a:srgbClr val="1F1F1F"/>
                </a:solidFill>
                <a:latin typeface="Arial"/>
              </a:rPr>
              <a:t>Discount rate:</a:t>
            </a:r>
            <a:r>
              <a:rPr sz="1000" b="0" i="0">
                <a:solidFill>
                  <a:srgbClr val="1F1F1F"/>
                </a:solidFill>
                <a:latin typeface="Arial"/>
              </a:rPr>
              <a:t> or a WACC of 10.7% (ours 9.0%).</a:t>
            </a:r>
            <a:endParaRPr sz="1000"/>
          </a:p>
          <a:p>
            <a:pPr algn="l" marL="146304" indent="-146304">
              <a:buClr>
                <a:srgbClr val="003255"/>
              </a:buClr>
              <a:buSzPct val="100000"/>
              <a:buFont typeface="Arial"/>
              <a:buChar char="▪"/>
            </a:pPr>
            <a:r>
              <a:rPr sz="1000" b="1" i="0">
                <a:solidFill>
                  <a:srgbClr val="1F1F1F"/>
                </a:solidFill>
                <a:latin typeface="Arial"/>
              </a:rPr>
              <a:t>What it is worth:</a:t>
            </a:r>
            <a:r>
              <a:rPr sz="1000" b="0" i="0">
                <a:solidFill>
                  <a:srgbClr val="1F1F1F"/>
                </a:solidFill>
                <a:latin typeface="Arial"/>
              </a:rPr>
              <a:t> each percentage point of EBIT margin in every year is worth </a:t>
            </a:r>
            <a:r>
              <a:rPr sz="1000" b="1" i="0">
                <a:solidFill>
                  <a:srgbClr val="1F1F1F"/>
                </a:solidFill>
                <a:latin typeface="Arial"/>
              </a:rPr>
              <a:t>NOK 4.1 per share</a:t>
            </a:r>
            <a:r>
              <a:rPr sz="1000" b="0" i="0">
                <a:solidFill>
                  <a:srgbClr val="1F1F1F"/>
                </a:solidFill>
                <a:latin typeface="Arial"/>
              </a:rPr>
              <a:t> – the upside rests on margins, not on multiples.</a:t>
            </a:r>
            <a:endParaRPr sz="1000"/>
          </a:p>
        </p:txBody>
      </p:sp>
      <p:sp>
        <p:nvSpPr>
          <p:cNvPr id="16" name="TextBox 15"/>
          <p:cNvSpPr txBox="1"/>
          <p:nvPr/>
        </p:nvSpPr>
        <p:spPr>
          <a:xfrm>
            <a:off x="6647688" y="126187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DCF value per share vs. EBIT adj. margin in 2033E (NOK)</a:t>
            </a:r>
            <a:endParaRPr sz="1200"/>
          </a:p>
        </p:txBody>
      </p:sp>
      <p:cxnSp>
        <p:nvCxnSpPr>
          <p:cNvPr id="17" name="Connector 16"/>
          <p:cNvCxnSpPr/>
          <p:nvPr/>
        </p:nvCxnSpPr>
        <p:spPr>
          <a:xfrm>
            <a:off x="6647688" y="1563624"/>
            <a:ext cx="5074919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647688" y="1691640"/>
          <a:ext cx="51206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647688" y="5321808"/>
            <a:ext cx="5120640" cy="8229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0" i="1">
                <a:solidFill>
                  <a:srgbClr val="6B7480"/>
                </a:solidFill>
                <a:latin typeface="Arial"/>
              </a:rPr>
              <a:t>The line crosses today's share price at an EBIT margin of 12.7% (red point). Our base case of 15.6% (navy point) gives NOK 54 per share. Each point on the line shifts the margin by the same amount in every forecast year and the terminal year.</a:t>
            </a:r>
            <a:endParaRPr sz="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Appendix #4.3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Scenario analysis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Bear-to-bull DCF range of NOK 15–92 per share; probability-weighted value of NOK 54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Case team estimates (Excel model, Drivers and Sensitivity sheets – Bear/Base/Bull data table). Scenario adjustments are applied to every forecast year.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10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61872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Scenario assumptions and outcomes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63624"/>
            <a:ext cx="576072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9768" y="1664208"/>
          <a:ext cx="5806437" cy="362102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701734"/>
                <a:gridCol w="1034901"/>
                <a:gridCol w="1034901"/>
                <a:gridCol w="1034901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Bear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Base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Bull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03255"/>
                          </a:solidFill>
                          <a:latin typeface="Arial"/>
                        </a:rPr>
                        <a:t>Assumptions (vs. base case, p.a.)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Volume / like-for-like growth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−1.0pp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+0.8pp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Price/mix growth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−0.8pp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+0.5pp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Net new locations per segment p.a.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COGS in % of revenue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+0.2pp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−0.2pp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Personnel, variable part (% of rev.)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+0.4pp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−0.2pp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Other opex, variable part (% of rev.)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+0.3pp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−0.2pp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Maintenance capex (% of revenue)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+0.2pp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Terminal growth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−0.5pp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+0.2pp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Probability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03255"/>
                          </a:solidFill>
                          <a:latin typeface="Arial"/>
                        </a:rPr>
                        <a:t>Outcomes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Revenue CAGR 2025–2033E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7.6%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EBIT adj. margin 2033E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15.6%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22.2%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Enterprise value (NOKm)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3,914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11,593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18,813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DCF value per share (NOK)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92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Upside vs. current price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-65%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+28%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+116%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Target price (NOK)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89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Implied recommendation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SELL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BUY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BUY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64808" y="126187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DCF value per share by scenario (NOK)</a:t>
            </a:r>
            <a:endParaRPr sz="1200"/>
          </a:p>
        </p:txBody>
      </p:sp>
      <p:cxnSp>
        <p:nvCxnSpPr>
          <p:cNvPr id="15" name="Connector 14"/>
          <p:cNvCxnSpPr/>
          <p:nvPr/>
        </p:nvCxnSpPr>
        <p:spPr>
          <a:xfrm>
            <a:off x="6464808" y="1563624"/>
            <a:ext cx="525780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464808" y="1691640"/>
          <a:ext cx="530352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7" name="Connector 16"/>
          <p:cNvCxnSpPr/>
          <p:nvPr/>
        </p:nvCxnSpPr>
        <p:spPr>
          <a:xfrm>
            <a:off x="6623913" y="2983830"/>
            <a:ext cx="4985309" cy="0"/>
          </a:xfrm>
          <a:prstGeom prst="line">
            <a:avLst/>
          </a:prstGeom>
          <a:ln w="15875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623913" y="2798427"/>
            <a:ext cx="4985309" cy="0"/>
          </a:xfrm>
          <a:prstGeom prst="line">
            <a:avLst/>
          </a:prstGeom>
          <a:ln w="15875">
            <a:solidFill>
              <a:srgbClr val="00325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287768" y="4096512"/>
            <a:ext cx="320040" cy="0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671816" y="4005072"/>
            <a:ext cx="192024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1" i="0">
                <a:solidFill>
                  <a:srgbClr val="C00000"/>
                </a:solidFill>
                <a:latin typeface="Arial"/>
              </a:rPr>
              <a:t>Current share price NOK 42</a:t>
            </a:r>
            <a:endParaRPr sz="850"/>
          </a:p>
        </p:txBody>
      </p:sp>
      <p:cxnSp>
        <p:nvCxnSpPr>
          <p:cNvPr id="21" name="Connector 20"/>
          <p:cNvCxnSpPr/>
          <p:nvPr/>
        </p:nvCxnSpPr>
        <p:spPr>
          <a:xfrm>
            <a:off x="9665208" y="4096512"/>
            <a:ext cx="320040" cy="0"/>
          </a:xfrm>
          <a:prstGeom prst="line">
            <a:avLst/>
          </a:prstGeom>
          <a:ln w="19050">
            <a:solidFill>
              <a:srgbClr val="00325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049256" y="4005072"/>
            <a:ext cx="192024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1" i="0">
                <a:solidFill>
                  <a:srgbClr val="003255"/>
                </a:solidFill>
                <a:latin typeface="Arial"/>
              </a:rPr>
              <a:t>Probability-weighted value NOK 54</a:t>
            </a:r>
            <a:endParaRPr sz="850"/>
          </a:p>
        </p:txBody>
      </p:sp>
      <p:sp>
        <p:nvSpPr>
          <p:cNvPr id="23" name="Rectangle 22"/>
          <p:cNvSpPr/>
          <p:nvPr/>
        </p:nvSpPr>
        <p:spPr>
          <a:xfrm>
            <a:off x="6464808" y="4224528"/>
            <a:ext cx="1676400" cy="2926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Bear</a:t>
            </a:r>
            <a:endParaRPr sz="1000"/>
          </a:p>
        </p:txBody>
      </p:sp>
      <p:sp>
        <p:nvSpPr>
          <p:cNvPr id="24" name="Rectangle 23"/>
          <p:cNvSpPr/>
          <p:nvPr/>
        </p:nvSpPr>
        <p:spPr>
          <a:xfrm>
            <a:off x="6464808" y="4553712"/>
            <a:ext cx="1676400" cy="1481328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37960" y="4608576"/>
            <a:ext cx="1530096" cy="1417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750" b="1" i="0">
                <a:solidFill>
                  <a:srgbClr val="1F1F1F"/>
                </a:solidFill>
                <a:latin typeface="Arial"/>
              </a:rPr>
              <a:t>Story:</a:t>
            </a:r>
            <a:r>
              <a:rPr sz="750" b="0" i="0">
                <a:solidFill>
                  <a:srgbClr val="1F1F1F"/>
                </a:solidFill>
                <a:latin typeface="Arial"/>
              </a:rPr>
              <a:t> Low-cost chains and wage inflation squeeze the model: ARPM growth stalls and the roll-out slips</a:t>
            </a:r>
            <a:endParaRPr sz="75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750" b="1" i="0">
                <a:solidFill>
                  <a:srgbClr val="1F1F1F"/>
                </a:solidFill>
                <a:latin typeface="Arial"/>
              </a:rPr>
              <a:t>Watch:</a:t>
            </a:r>
            <a:r>
              <a:rPr sz="750" b="0" i="0">
                <a:solidFill>
                  <a:srgbClr val="1F1F1F"/>
                </a:solidFill>
                <a:latin typeface="Arial"/>
              </a:rPr>
              <a:t> ARPM and member growth per country; the Danish member trend</a:t>
            </a:r>
            <a:endParaRPr sz="75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750" b="0" i="0">
                <a:solidFill>
                  <a:srgbClr val="1F1F1F"/>
                </a:solidFill>
                <a:latin typeface="Arial"/>
              </a:rPr>
              <a:t>EBIT margin 5.5% in 2033E; revenue CAGR 2.7%</a:t>
            </a:r>
            <a:endParaRPr sz="750"/>
          </a:p>
        </p:txBody>
      </p:sp>
      <p:sp>
        <p:nvSpPr>
          <p:cNvPr id="26" name="Rectangle 25"/>
          <p:cNvSpPr/>
          <p:nvPr/>
        </p:nvSpPr>
        <p:spPr>
          <a:xfrm>
            <a:off x="8278367" y="4224528"/>
            <a:ext cx="1676400" cy="292608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Base</a:t>
            </a:r>
            <a:endParaRPr sz="1000"/>
          </a:p>
        </p:txBody>
      </p:sp>
      <p:sp>
        <p:nvSpPr>
          <p:cNvPr id="27" name="Rectangle 26"/>
          <p:cNvSpPr/>
          <p:nvPr/>
        </p:nvSpPr>
        <p:spPr>
          <a:xfrm>
            <a:off x="8278367" y="4553712"/>
            <a:ext cx="1676400" cy="1481328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51520" y="4608576"/>
            <a:ext cx="1530096" cy="1417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750" b="1" i="0">
                <a:solidFill>
                  <a:srgbClr val="1F1F1F"/>
                </a:solidFill>
                <a:latin typeface="Arial"/>
              </a:rPr>
              <a:t>Story:</a:t>
            </a:r>
            <a:r>
              <a:rPr sz="750" b="0" i="0">
                <a:solidFill>
                  <a:srgbClr val="1F1F1F"/>
                </a:solidFill>
                <a:latin typeface="Arial"/>
              </a:rPr>
              <a:t> Steady member growth, ~9 net openings a year and ~3% price increases on a largely fixed cost base</a:t>
            </a:r>
            <a:endParaRPr sz="75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750" b="1" i="0">
                <a:solidFill>
                  <a:srgbClr val="1F1F1F"/>
                </a:solidFill>
                <a:latin typeface="Arial"/>
              </a:rPr>
              <a:t>Watch:</a:t>
            </a:r>
            <a:r>
              <a:rPr sz="750" b="0" i="0">
                <a:solidFill>
                  <a:srgbClr val="1F1F1F"/>
                </a:solidFill>
                <a:latin typeface="Arial"/>
              </a:rPr>
              <a:t> Country EBITDA margins (Norway &gt;32%); clubs opened vs. the signed pipeline</a:t>
            </a:r>
            <a:endParaRPr sz="75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750" b="0" i="0">
                <a:solidFill>
                  <a:srgbClr val="1F1F1F"/>
                </a:solidFill>
                <a:latin typeface="Arial"/>
              </a:rPr>
              <a:t>EBIT margin 15.6% in 2033E; revenue CAGR 5.4%</a:t>
            </a:r>
            <a:endParaRPr sz="750"/>
          </a:p>
        </p:txBody>
      </p:sp>
      <p:sp>
        <p:nvSpPr>
          <p:cNvPr id="29" name="Rectangle 28"/>
          <p:cNvSpPr/>
          <p:nvPr/>
        </p:nvSpPr>
        <p:spPr>
          <a:xfrm>
            <a:off x="10091928" y="4224528"/>
            <a:ext cx="1676400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Bull</a:t>
            </a:r>
            <a:endParaRPr sz="1000"/>
          </a:p>
        </p:txBody>
      </p:sp>
      <p:sp>
        <p:nvSpPr>
          <p:cNvPr id="30" name="Rectangle 29"/>
          <p:cNvSpPr/>
          <p:nvPr/>
        </p:nvSpPr>
        <p:spPr>
          <a:xfrm>
            <a:off x="10091928" y="4553712"/>
            <a:ext cx="1676400" cy="1481328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165080" y="4608576"/>
            <a:ext cx="1530096" cy="1417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750" b="1" i="0">
                <a:solidFill>
                  <a:srgbClr val="1F1F1F"/>
                </a:solidFill>
                <a:latin typeface="Arial"/>
              </a:rPr>
              <a:t>Story:</a:t>
            </a:r>
            <a:r>
              <a:rPr sz="750" b="0" i="0">
                <a:solidFill>
                  <a:srgbClr val="1F1F1F"/>
                </a:solidFill>
                <a:latin typeface="Arial"/>
              </a:rPr>
              <a:t> Faster roll-out (12 openings a year), ARPM growth of 5%+ and Sweden's margin closing in on Norway's</a:t>
            </a:r>
            <a:endParaRPr sz="75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750" b="1" i="0">
                <a:solidFill>
                  <a:srgbClr val="1F1F1F"/>
                </a:solidFill>
                <a:latin typeface="Arial"/>
              </a:rPr>
              <a:t>Watch:</a:t>
            </a:r>
            <a:r>
              <a:rPr sz="750" b="0" i="0">
                <a:solidFill>
                  <a:srgbClr val="1F1F1F"/>
                </a:solidFill>
                <a:latin typeface="Arial"/>
              </a:rPr>
              <a:t> Sweden's country EBITDA margin; the opening target</a:t>
            </a:r>
            <a:endParaRPr sz="75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750" b="0" i="0">
                <a:solidFill>
                  <a:srgbClr val="1F1F1F"/>
                </a:solidFill>
                <a:latin typeface="Arial"/>
              </a:rPr>
              <a:t>EBIT margin 22.2% in 2033E; revenue CAGR 7.6%</a:t>
            </a:r>
            <a:endParaRPr sz="7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Appendix #4.4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Thesis tracker – what would make us wrong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All 5 kill criteria are on track on the 2025A actuals – we would change our view if any of them is breached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Case team (Excel model, Thesis sheet). Latest actuals link to the last reported year – update them with each quarterly report.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11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6187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Kill criteria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63624"/>
            <a:ext cx="1129284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9768" y="1664208"/>
          <a:ext cx="11338560" cy="1490472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017520"/>
                <a:gridCol w="914400"/>
                <a:gridCol w="1005840"/>
                <a:gridCol w="1188720"/>
                <a:gridCol w="1371600"/>
                <a:gridCol w="1097280"/>
                <a:gridCol w="1371600"/>
                <a:gridCol w="137160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Kill if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Threshold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Latest (2025A)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Base case (2026E)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Watch zone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Base case check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Price/mix growth, group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below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1.5%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5.8%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3.2%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1.0%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ON TRACK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OK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Like-for-like volume growth, group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below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-1.0%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1.0%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1.0%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ON TRACK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OK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EBIT adj. margin (pre-IFRS 16)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below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10.0%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11.7%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13.2%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1.0%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ON TRACK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OK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Cash conversion (FCFF / EBITDAaL)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below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35.0%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59.9%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53.9%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10.0%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ON TRACK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OK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NIBD / EBITDAaL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above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2.00x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1.13x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1.00x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0.25x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ON TRACK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OK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29768" y="3227832"/>
            <a:ext cx="1133856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0" i="1">
                <a:solidFill>
                  <a:srgbClr val="6B7480"/>
                </a:solidFill>
                <a:latin typeface="Arial"/>
              </a:rPr>
              <a:t>Watch zone: the distance to the threshold that turns the status from ON TRACK to WATCH. Base case check: our own forecast for next year must not breach the criterion.</a:t>
            </a:r>
            <a:endParaRPr sz="800"/>
          </a:p>
        </p:txBody>
      </p:sp>
      <p:sp>
        <p:nvSpPr>
          <p:cNvPr id="15" name="TextBox 14"/>
          <p:cNvSpPr txBox="1"/>
          <p:nvPr/>
        </p:nvSpPr>
        <p:spPr>
          <a:xfrm>
            <a:off x="429768" y="370332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Scenario signposts – what has to happen, and what we watch</a:t>
            </a:r>
            <a:endParaRPr sz="1200"/>
          </a:p>
        </p:txBody>
      </p:sp>
      <p:cxnSp>
        <p:nvCxnSpPr>
          <p:cNvPr id="16" name="Connector 15"/>
          <p:cNvCxnSpPr/>
          <p:nvPr/>
        </p:nvCxnSpPr>
        <p:spPr>
          <a:xfrm>
            <a:off x="429768" y="4005072"/>
            <a:ext cx="1129284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9768" y="4114800"/>
            <a:ext cx="3688080" cy="2926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Bear  ·  NOK 15 per share  ·  25%</a:t>
            </a:r>
            <a:endParaRPr sz="1000"/>
          </a:p>
        </p:txBody>
      </p:sp>
      <p:sp>
        <p:nvSpPr>
          <p:cNvPr id="18" name="Rectangle 17"/>
          <p:cNvSpPr/>
          <p:nvPr/>
        </p:nvSpPr>
        <p:spPr>
          <a:xfrm>
            <a:off x="429768" y="4443983"/>
            <a:ext cx="3688080" cy="17830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1207" y="4507992"/>
            <a:ext cx="3505199" cy="16916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Story: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Low-cost chains and wage inflation squeeze the model: ARPM growth stalls and the roll-out slips</a:t>
            </a:r>
            <a:endParaRPr sz="90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What has to happen: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ARPM growth below +2% for two quarters and a falling member base</a:t>
            </a:r>
            <a:endParaRPr sz="900"/>
          </a:p>
          <a:p>
            <a:pPr algn="l" marL="146304" indent="-146304"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Watch: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ARPM and member growth per country; the Danish member trend</a:t>
            </a:r>
            <a:endParaRPr sz="900"/>
          </a:p>
        </p:txBody>
      </p:sp>
      <p:sp>
        <p:nvSpPr>
          <p:cNvPr id="20" name="Rectangle 19"/>
          <p:cNvSpPr/>
          <p:nvPr/>
        </p:nvSpPr>
        <p:spPr>
          <a:xfrm>
            <a:off x="4255008" y="4114800"/>
            <a:ext cx="3688080" cy="292608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Base  ·  NOK 54 per share  ·  50%</a:t>
            </a:r>
            <a:endParaRPr sz="1000"/>
          </a:p>
        </p:txBody>
      </p:sp>
      <p:sp>
        <p:nvSpPr>
          <p:cNvPr id="21" name="Rectangle 20"/>
          <p:cNvSpPr/>
          <p:nvPr/>
        </p:nvSpPr>
        <p:spPr>
          <a:xfrm>
            <a:off x="4255008" y="4443983"/>
            <a:ext cx="3688080" cy="17830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346448" y="4507992"/>
            <a:ext cx="3505199" cy="16916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Story: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Steady member growth, ~9 net openings a year and ~3% price increases on a largely fixed cost base</a:t>
            </a:r>
            <a:endParaRPr sz="90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What has to happen: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2026 EBITDAaL passes NOK 1.0bn and the 2027 openings are delivered on schedule</a:t>
            </a:r>
            <a:endParaRPr sz="900"/>
          </a:p>
          <a:p>
            <a:pPr algn="l" marL="146304" indent="-146304"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Watch: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Country EBITDA margins (Norway &gt;32%); clubs opened vs. the signed pipeline</a:t>
            </a:r>
            <a:endParaRPr sz="900"/>
          </a:p>
        </p:txBody>
      </p:sp>
      <p:sp>
        <p:nvSpPr>
          <p:cNvPr id="23" name="Rectangle 22"/>
          <p:cNvSpPr/>
          <p:nvPr/>
        </p:nvSpPr>
        <p:spPr>
          <a:xfrm>
            <a:off x="8080248" y="4114800"/>
            <a:ext cx="3688080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Bull  ·  NOK 92 per share  ·  25%</a:t>
            </a:r>
            <a:endParaRPr sz="1000"/>
          </a:p>
        </p:txBody>
      </p:sp>
      <p:sp>
        <p:nvSpPr>
          <p:cNvPr id="24" name="Rectangle 23"/>
          <p:cNvSpPr/>
          <p:nvPr/>
        </p:nvSpPr>
        <p:spPr>
          <a:xfrm>
            <a:off x="8080248" y="4443983"/>
            <a:ext cx="3688080" cy="17830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171688" y="4507992"/>
            <a:ext cx="3505199" cy="16916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Story: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Faster roll-out (12 openings a year), ARPM growth of 5%+ and Sweden's margin closing in on Norway's</a:t>
            </a:r>
            <a:endParaRPr sz="90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What has to happen: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Sweden's country EBITDA margin above 25% for a full year and a higher opening target</a:t>
            </a:r>
            <a:endParaRPr sz="900"/>
          </a:p>
          <a:p>
            <a:pPr algn="l" marL="146304" indent="-146304"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Watch: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Sweden's country EBITDA margin; the opening target</a:t>
            </a:r>
            <a:endParaRPr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Appendix #4.5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Where we differ from consensus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Our 2027E revenue is +0.3% vs. consensus and EPS -2.6%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Yahoo Finance consensus (revenue and EPS), 5 analysts; case team estimates (Excel model, Consensus sheet). Reported IFRS 16 basis.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12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6187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Our estimates vs. consensus (NOKm, EPS and DPS in NOK)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63624"/>
            <a:ext cx="1129284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9768" y="1664208"/>
          <a:ext cx="11338551" cy="143560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016558"/>
                <a:gridCol w="1035777"/>
                <a:gridCol w="1035777"/>
                <a:gridCol w="1035777"/>
                <a:gridCol w="1035777"/>
                <a:gridCol w="1035777"/>
                <a:gridCol w="1035777"/>
                <a:gridCol w="1035777"/>
                <a:gridCol w="1035777"/>
                <a:gridCol w="1035777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2026E ours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2026E cons.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2026E diff.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2027E ours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2027E cons.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2027E diff.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2028E ours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2028E cons.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2028E diff.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Revenue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5,751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5,721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E7D32"/>
                          </a:solidFill>
                          <a:latin typeface="Arial"/>
                        </a:rPr>
                        <a:t>+0.5%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6,082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6,064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+0.3%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6,469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6B7480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EBITDA (reported)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2,255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6B7480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2,414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6B7480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2,592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6B7480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EBIT (reported)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1,010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6B7480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1,105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6B7480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1,199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6B7480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EPS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2.95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2.94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+0.4%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3.44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3.53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C00000"/>
                          </a:solidFill>
                          <a:latin typeface="Arial"/>
                        </a:rPr>
                        <a:t>-2.6%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3.93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6B7480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DPS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1.48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6B7480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1.72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6B7480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2.16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6B7480"/>
                          </a:solidFill>
                          <a:latin typeface="Arial"/>
                        </a:rPr>
                        <a:t>n.a.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29768" y="3182112"/>
            <a:ext cx="1133856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0" i="1">
                <a:solidFill>
                  <a:srgbClr val="6B7480"/>
                </a:solidFill>
                <a:latin typeface="Arial"/>
              </a:rPr>
              <a:t>Consensus recommendations: 3 Buy / 3 Hold / 0 Sell · consensus target price NOK 52 (+22% upside). Green = we are above consensus.</a:t>
            </a:r>
            <a:endParaRPr sz="800"/>
          </a:p>
        </p:txBody>
      </p:sp>
      <p:sp>
        <p:nvSpPr>
          <p:cNvPr id="15" name="TextBox 14"/>
          <p:cNvSpPr txBox="1"/>
          <p:nvPr/>
        </p:nvSpPr>
        <p:spPr>
          <a:xfrm>
            <a:off x="429768" y="352044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Our variant perception</a:t>
            </a:r>
            <a:endParaRPr sz="1200"/>
          </a:p>
        </p:txBody>
      </p:sp>
      <p:cxnSp>
        <p:nvCxnSpPr>
          <p:cNvPr id="16" name="Connector 15"/>
          <p:cNvCxnSpPr/>
          <p:nvPr/>
        </p:nvCxnSpPr>
        <p:spPr>
          <a:xfrm>
            <a:off x="429768" y="3822191"/>
            <a:ext cx="1129284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9768" y="3931920"/>
            <a:ext cx="3688080" cy="310896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1. Operating leverage</a:t>
            </a:r>
            <a:endParaRPr sz="1050"/>
          </a:p>
        </p:txBody>
      </p:sp>
      <p:sp>
        <p:nvSpPr>
          <p:cNvPr id="18" name="Rectangle 17"/>
          <p:cNvSpPr/>
          <p:nvPr/>
        </p:nvSpPr>
        <p:spPr>
          <a:xfrm>
            <a:off x="429768" y="4279392"/>
            <a:ext cx="3688080" cy="18288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1207" y="4343400"/>
            <a:ext cx="3505199" cy="1417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We: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EBIT adj. margin rises from 11.7% (2025) to 15.6% by 2033 on a largely fixed cost base</a:t>
            </a:r>
            <a:endParaRPr sz="850"/>
          </a:p>
          <a:p>
            <a:pPr algn="l">
              <a:spcAft>
                <a:spcPts val="300"/>
              </a:spcAft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Consensus: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Near-term estimates are close to ours, but the share price implies only ~12.7% in 2033 (11.7% today)</a:t>
            </a:r>
            <a:endParaRPr sz="850"/>
          </a:p>
          <a:p>
            <a:pPr algn="l">
              <a:spcAft>
                <a:spcPts val="300"/>
              </a:spcAft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Why: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~70% of personnel and ~60% of other opex are club-level fixed costs. H1 2026: revenue +5%, EBITDA before IFRS 16 +17%; Norway country EBITDA margin 37% in Q2 (+1.2pp)</a:t>
            </a:r>
            <a:endParaRPr sz="850"/>
          </a:p>
          <a:p>
            <a:pPr algn="l"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Proof – and when: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Q3 2026 (27 Oct) and Q4 2026 (Feb 2027) reports: group EBITDA before IFRS 16 above NOK 1.0bn for 2026</a:t>
            </a:r>
            <a:endParaRPr sz="850"/>
          </a:p>
        </p:txBody>
      </p:sp>
      <p:sp>
        <p:nvSpPr>
          <p:cNvPr id="20" name="TextBox 19"/>
          <p:cNvSpPr txBox="1"/>
          <p:nvPr/>
        </p:nvSpPr>
        <p:spPr>
          <a:xfrm>
            <a:off x="521207" y="5760720"/>
            <a:ext cx="3505199" cy="3200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00" b="1" i="0">
                <a:solidFill>
                  <a:srgbClr val="C00000"/>
                </a:solidFill>
                <a:latin typeface="Arial"/>
              </a:rPr>
              <a:t>EPS 2027E: -2.6% vs. consensus</a:t>
            </a:r>
            <a:endParaRPr sz="1100"/>
          </a:p>
        </p:txBody>
      </p:sp>
      <p:sp>
        <p:nvSpPr>
          <p:cNvPr id="21" name="Rectangle 20"/>
          <p:cNvSpPr/>
          <p:nvPr/>
        </p:nvSpPr>
        <p:spPr>
          <a:xfrm>
            <a:off x="4255008" y="3931920"/>
            <a:ext cx="3688080" cy="310896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2. Roll-out</a:t>
            </a:r>
            <a:endParaRPr sz="1050"/>
          </a:p>
        </p:txBody>
      </p:sp>
      <p:sp>
        <p:nvSpPr>
          <p:cNvPr id="22" name="Rectangle 21"/>
          <p:cNvSpPr/>
          <p:nvPr/>
        </p:nvSpPr>
        <p:spPr>
          <a:xfrm>
            <a:off x="4255008" y="4279392"/>
            <a:ext cx="3688080" cy="18288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346448" y="4343400"/>
            <a:ext cx="3505199" cy="1417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We: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Nine net openings a year in 2027-28 from the 30 signed leases, each reaching mature volume in its third year</a:t>
            </a:r>
            <a:endParaRPr sz="850"/>
          </a:p>
          <a:p>
            <a:pPr algn="l">
              <a:spcAft>
                <a:spcPts val="300"/>
              </a:spcAft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Consensus: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Roll-out stays below the 8-12 target and closures offset openings (net -3 clubs in H1 2026)</a:t>
            </a:r>
            <a:endParaRPr sz="850"/>
          </a:p>
          <a:p>
            <a:pPr algn="l">
              <a:spcAft>
                <a:spcPts val="300"/>
              </a:spcAft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Why: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30 locations signed through 2028 (Q2 2026 report) and about NOK 9m capex per club; the H1 2026 closures were portfolio optimisation, not demand</a:t>
            </a:r>
            <a:endParaRPr sz="850"/>
          </a:p>
          <a:p>
            <a:pPr algn="l"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Proof – and when: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Q4 2026 report (Feb 2027): clubs opened in H2 2026 and the 2027 opening pipeline</a:t>
            </a:r>
            <a:endParaRPr sz="850"/>
          </a:p>
        </p:txBody>
      </p:sp>
      <p:sp>
        <p:nvSpPr>
          <p:cNvPr id="24" name="TextBox 23"/>
          <p:cNvSpPr txBox="1"/>
          <p:nvPr/>
        </p:nvSpPr>
        <p:spPr>
          <a:xfrm>
            <a:off x="4346448" y="5760720"/>
            <a:ext cx="3505199" cy="3200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00" b="1" i="0">
                <a:solidFill>
                  <a:srgbClr val="2E7D32"/>
                </a:solidFill>
                <a:latin typeface="Arial"/>
              </a:rPr>
              <a:t>Revenue 2027E: +0.3% vs. consensus</a:t>
            </a:r>
            <a:endParaRPr sz="1100"/>
          </a:p>
        </p:txBody>
      </p:sp>
      <p:sp>
        <p:nvSpPr>
          <p:cNvPr id="25" name="Rectangle 24"/>
          <p:cNvSpPr/>
          <p:nvPr/>
        </p:nvSpPr>
        <p:spPr>
          <a:xfrm>
            <a:off x="8080248" y="3931920"/>
            <a:ext cx="3688080" cy="310896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3. Capital returns</a:t>
            </a:r>
            <a:endParaRPr sz="1050"/>
          </a:p>
        </p:txBody>
      </p:sp>
      <p:sp>
        <p:nvSpPr>
          <p:cNvPr id="26" name="Rectangle 25"/>
          <p:cNvSpPr/>
          <p:nvPr/>
        </p:nvSpPr>
        <p:spPr>
          <a:xfrm>
            <a:off x="8080248" y="4279392"/>
            <a:ext cx="3688080" cy="18288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71688" y="4343400"/>
            <a:ext cx="3505199" cy="1417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We: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Buybacks keep NIBD/EBITDAaL at ~1.0x on top of a 50-60% dividend payout – the share count falls ~4% a year</a:t>
            </a:r>
            <a:endParaRPr sz="850"/>
          </a:p>
          <a:p>
            <a:pPr algn="l">
              <a:spcAft>
                <a:spcPts val="300"/>
              </a:spcAft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Consensus: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The market values SATS on its ~3.5% dividend yield and treats buybacks as one-offs (our reading)</a:t>
            </a:r>
            <a:endParaRPr sz="850"/>
          </a:p>
          <a:p>
            <a:pPr algn="l">
              <a:spcAft>
                <a:spcPts val="300"/>
              </a:spcAft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Why: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H1 2026 payout ratio 152% (NOK 318m buybacks + NOK 0.72 dividend), 4.0m + 2.5m shares cancelled in 2026 and 'high ambitions for further share buybacks' (CEO, Q2 2026)</a:t>
            </a:r>
            <a:endParaRPr sz="850"/>
          </a:p>
          <a:p>
            <a:pPr algn="l"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Proof – and when: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Q4 2026 report (Feb 2027): size of the next buyback programme; AGM May 2027: renewed mandate</a:t>
            </a:r>
            <a:endParaRPr sz="850"/>
          </a:p>
        </p:txBody>
      </p:sp>
      <p:sp>
        <p:nvSpPr>
          <p:cNvPr id="28" name="TextBox 27"/>
          <p:cNvSpPr txBox="1"/>
          <p:nvPr/>
        </p:nvSpPr>
        <p:spPr>
          <a:xfrm>
            <a:off x="8171688" y="5760720"/>
            <a:ext cx="3505199" cy="3200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00" b="1" i="0">
                <a:solidFill>
                  <a:srgbClr val="2E7D32"/>
                </a:solidFill>
                <a:latin typeface="Arial"/>
              </a:rPr>
              <a:t>EPS 2026E: +0.4% vs. consensus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Appendix #4.6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Growth engine – like-for-like and new locations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36 new locations over 2026E–2030E add ~2.0pp a year, like-for-like ~0.8pp and price/mix ~3.0pp – 5.8% revenue CAGR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Case team estimates (Excel model, Model and Drivers sheets – location mode). New locations ramp up over three years; fixed costs and rent grow with inflation and the number of locations.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13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6187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Revenue growth by source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63624"/>
            <a:ext cx="553212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29768" y="1645920"/>
          <a:ext cx="5577840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190488" y="126187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Locations (year end) and revenue per location (NOKm)</a:t>
            </a:r>
            <a:endParaRPr sz="1200"/>
          </a:p>
        </p:txBody>
      </p:sp>
      <p:cxnSp>
        <p:nvCxnSpPr>
          <p:cNvPr id="15" name="Connector 14"/>
          <p:cNvCxnSpPr/>
          <p:nvPr/>
        </p:nvCxnSpPr>
        <p:spPr>
          <a:xfrm>
            <a:off x="6190488" y="1563624"/>
            <a:ext cx="5532119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190488" y="1645920"/>
          <a:ext cx="5577840" cy="2148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29768" y="402336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Location economics – base case</a:t>
            </a:r>
            <a:endParaRPr sz="1200"/>
          </a:p>
        </p:txBody>
      </p:sp>
      <p:cxnSp>
        <p:nvCxnSpPr>
          <p:cNvPr id="18" name="Connector 17"/>
          <p:cNvCxnSpPr/>
          <p:nvPr/>
        </p:nvCxnSpPr>
        <p:spPr>
          <a:xfrm>
            <a:off x="429768" y="4325112"/>
            <a:ext cx="1129284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9768" y="4425696"/>
          <a:ext cx="7680960" cy="1545336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74320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8C96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2029E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2030E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Locations, year end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273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275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284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293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301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309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Net new locations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+2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+9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+9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+8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+8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Mature-equivalent locations (all segments)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273.0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273.7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277.6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284.8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293.1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301.4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Revenue per average location (NOKm)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20.2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21.0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21.8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22.4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23.2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23.9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Capex per new location (NOKm)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9.0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9.3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9.6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9.8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10.1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Growth capex (NOKm)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84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86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78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81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8321040" y="4425696"/>
            <a:ext cx="3447288" cy="1581912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30768" y="4480560"/>
            <a:ext cx="3246120" cy="15087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003255"/>
                </a:solidFill>
                <a:latin typeface="Arial"/>
              </a:rPr>
              <a:t>How a new location matures</a:t>
            </a:r>
            <a:endParaRPr sz="100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0" i="0">
                <a:solidFill>
                  <a:srgbClr val="1F1F1F"/>
                </a:solidFill>
                <a:latin typeface="Arial"/>
              </a:rPr>
              <a:t>Volume vs. a mature location: </a:t>
            </a:r>
            <a:r>
              <a:rPr sz="900" b="1" i="0">
                <a:solidFill>
                  <a:srgbClr val="1F1F1F"/>
                </a:solidFill>
                <a:latin typeface="Arial"/>
              </a:rPr>
              <a:t>35%</a:t>
            </a:r>
            <a:r>
              <a:rPr sz="900" b="0" i="0">
                <a:solidFill>
                  <a:srgbClr val="1F1F1F"/>
                </a:solidFill>
                <a:latin typeface="Arial"/>
              </a:rPr>
              <a:t> in the opening year, </a:t>
            </a:r>
            <a:r>
              <a:rPr sz="900" b="1" i="0">
                <a:solidFill>
                  <a:srgbClr val="1F1F1F"/>
                </a:solidFill>
                <a:latin typeface="Arial"/>
              </a:rPr>
              <a:t>75%</a:t>
            </a:r>
            <a:r>
              <a:rPr sz="900" b="0" i="0">
                <a:solidFill>
                  <a:srgbClr val="1F1F1F"/>
                </a:solidFill>
                <a:latin typeface="Arial"/>
              </a:rPr>
              <a:t> in year two, </a:t>
            </a:r>
            <a:r>
              <a:rPr sz="900" b="1" i="0">
                <a:solidFill>
                  <a:srgbClr val="1F1F1F"/>
                </a:solidFill>
                <a:latin typeface="Arial"/>
              </a:rPr>
              <a:t>95%</a:t>
            </a:r>
            <a:r>
              <a:rPr sz="900" b="0" i="0">
                <a:solidFill>
                  <a:srgbClr val="1F1F1F"/>
                </a:solidFill>
                <a:latin typeface="Arial"/>
              </a:rPr>
              <a:t> in year three, 100% from year four.</a:t>
            </a:r>
            <a:endParaRPr sz="900"/>
          </a:p>
          <a:p>
            <a:pPr algn="l" marL="146304" indent="-146304"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0" i="0">
                <a:solidFill>
                  <a:srgbClr val="1F1F1F"/>
                </a:solidFill>
                <a:latin typeface="Arial"/>
              </a:rPr>
              <a:t>Rent and staff are paid from day one – openings dilute margins first and lift them as they mature.</a:t>
            </a:r>
            <a:endParaRPr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Appendix #4.7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Peer group and multiples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SATS trades at a 21% discount to peers on 2027E EV/EBIT despite a 5pp higher EBIT margin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Yahoo Finance consensus (Sep 2026), case team estimates. Multiples at current share prices; EV excl. lease liabilities (pre-IFRS 16 basis); peers: 2026E = last twelve months, 2027E = next twelve months consensus.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14</a:t>
            </a:r>
            <a:endParaRPr sz="90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29768" y="1280160"/>
          <a:ext cx="11338558" cy="270662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230536"/>
                <a:gridCol w="743512"/>
                <a:gridCol w="1022329"/>
                <a:gridCol w="929390"/>
                <a:gridCol w="929390"/>
                <a:gridCol w="929390"/>
                <a:gridCol w="929390"/>
                <a:gridCol w="836451"/>
                <a:gridCol w="836451"/>
                <a:gridCol w="1022329"/>
                <a:gridCol w="92939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Company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Country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Mcap (NOKm)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EV/EBITDA 2026E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EV/EBITDA 2027E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EV/EBIT 2026E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EV/EBIT 2027E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P/E 2026E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P/E 2027E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EBIT margin 2027E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Growth 2027E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Basic-Fit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NL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22,723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10.5x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45.9x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20.7x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22.2x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14.3x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Planet Fitness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US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33,255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9.7x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9.1x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14.2x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12.7x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31.0%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Life Time Group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US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84,692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13.8x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12.0x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23.9x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19.0x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22.9x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19.7x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The Gym Group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UK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4,157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8.4x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7.1x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30.3x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18.2x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36.4x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32.8x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10.8%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Europris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NO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13,780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11.5x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10.8x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13.1x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15.4x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12.3x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Kid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NO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4,951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11.8x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10.9x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15.7x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14.1x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14.9x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12.3x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9.4%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Clas Ohlson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SE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26,048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14.0x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12.5x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15.5x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13.7x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19.0x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17.7x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Rusta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SE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11,288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10.9x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9.6x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13.7x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11.8x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17.3x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14.9x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9.2%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Peer median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18,252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11.2x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10.2x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15.6x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13.9x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18.1x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14.6x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8.6%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8.1%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Peer mean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25,112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11.3x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10.0x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21.4x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15.2x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20.3x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17.1x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SATS ASA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NO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8,151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9.4x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8.5x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12.2x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11.0x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14.3x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12.3x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13.8%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5.8%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Premium / (discount) vs. median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(16%)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(16%)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(22%)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(21%)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(21%)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(16%)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+5.1pp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-2.3pp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29768" y="431596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EV/EBIT 2027E – peers vs. SATS</a:t>
            </a:r>
            <a:endParaRPr sz="1200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4617720"/>
            <a:ext cx="553212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29768" y="4700016"/>
          <a:ext cx="5577840" cy="1600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5" name="Connector 14"/>
          <p:cNvCxnSpPr/>
          <p:nvPr/>
        </p:nvCxnSpPr>
        <p:spPr>
          <a:xfrm>
            <a:off x="541324" y="5313240"/>
            <a:ext cx="5354727" cy="0"/>
          </a:xfrm>
          <a:prstGeom prst="line">
            <a:avLst/>
          </a:prstGeom>
          <a:ln w="12700">
            <a:solidFill>
              <a:srgbClr val="1F1F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44567" y="5112072"/>
            <a:ext cx="141732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800" b="1" i="0">
                <a:solidFill>
                  <a:srgbClr val="1F1F1F"/>
                </a:solidFill>
                <a:latin typeface="Arial"/>
              </a:rPr>
              <a:t>Peer median 13.9x</a:t>
            </a:r>
            <a:endParaRPr sz="800"/>
          </a:p>
        </p:txBody>
      </p:sp>
      <p:sp>
        <p:nvSpPr>
          <p:cNvPr id="17" name="TextBox 16"/>
          <p:cNvSpPr txBox="1"/>
          <p:nvPr/>
        </p:nvSpPr>
        <p:spPr>
          <a:xfrm>
            <a:off x="6236208" y="4315968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Implied value per share from peer multiples (NOK)</a:t>
            </a:r>
            <a:endParaRPr sz="1200"/>
          </a:p>
        </p:txBody>
      </p:sp>
      <p:cxnSp>
        <p:nvCxnSpPr>
          <p:cNvPr id="18" name="Connector 17"/>
          <p:cNvCxnSpPr/>
          <p:nvPr/>
        </p:nvCxnSpPr>
        <p:spPr>
          <a:xfrm>
            <a:off x="6236208" y="4617720"/>
            <a:ext cx="548640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36208" y="4727448"/>
          <a:ext cx="5532120" cy="1307592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600200"/>
                <a:gridCol w="1188720"/>
                <a:gridCol w="685800"/>
                <a:gridCol w="685800"/>
                <a:gridCol w="685800"/>
                <a:gridCol w="68580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Multiple (2027E)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Company metric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25th pct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Median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75th pct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Included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EV / Sales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NOKm 6,082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43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No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EV / EBITDA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NOKm 1,081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E7D32"/>
                          </a:solidFill>
                          <a:latin typeface="Arial"/>
                        </a:rPr>
                        <a:t>Yes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EV / EBIT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NOKm 838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E7D32"/>
                          </a:solidFill>
                          <a:latin typeface="Arial"/>
                        </a:rPr>
                        <a:t>Yes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 / 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NOK 3.44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E7D32"/>
                          </a:solidFill>
                          <a:latin typeface="Arial"/>
                        </a:rPr>
                        <a:t>Yes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Average (included)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45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64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236208" y="6144768"/>
            <a:ext cx="553212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EV/Sales excluded: ignores the company's superior margins.</a:t>
            </a:r>
            <a:endParaRPr sz="7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Appendix #4.8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WACC and key forecast assumptions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9.0% WACC from a peer-based beta; forecast drivers anchored in the historical track record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Norwegian 10-year government bond 30 Sep 2026 (risk-free rate), NFF/PwC risk premium survey, Yahoo Finance (peer betas), case team estimates.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15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61872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Cost of capital build-up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63624"/>
            <a:ext cx="438912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9768" y="1664208"/>
          <a:ext cx="4434838" cy="3145536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956559"/>
                <a:gridCol w="1478279"/>
              </a:tblGrid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Cost of equity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Risk-free rate (10y NGB)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4.62%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Equity risk premium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5.00%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Unlevered beta (peer median)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0.71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Target D/E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13.6%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Relevered beta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0.79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Size premium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1.00%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Cost of equity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9.57%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Cost of debt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Pre-tax cost of debt (rf + spread)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6.37%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Tax rate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After-tax cost of debt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4.97%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Capital structure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Target D / (D+E)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Target E / (D+E)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WACC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9.02%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29768" y="4892040"/>
            <a:ext cx="443484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00" b="1" i="0">
                <a:solidFill>
                  <a:srgbClr val="003255"/>
                </a:solidFill>
                <a:latin typeface="Arial"/>
              </a:rPr>
              <a:t>Peer betas (5y monthly, Blume-adjusted)</a:t>
            </a:r>
            <a:endParaRPr sz="90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29768" y="5102352"/>
          <a:ext cx="4434835" cy="106070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463039"/>
                <a:gridCol w="731519"/>
                <a:gridCol w="731519"/>
                <a:gridCol w="731519"/>
                <a:gridCol w="777239"/>
              </a:tblGrid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Peer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Raw β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Adj. β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D/E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Unlev. β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Basic-Fit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0.89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0.93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58%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0.65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Planet Fitness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1.01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1.01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70%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0.65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Life Time Group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1.48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1.32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17%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1.17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The Gym Group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0.83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0.89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19%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0.78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Median (8 peers)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0.90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0.93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16%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0.71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138928" y="1261872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Base case forecast drivers</a:t>
            </a:r>
            <a:endParaRPr sz="1200"/>
          </a:p>
        </p:txBody>
      </p:sp>
      <p:cxnSp>
        <p:nvCxnSpPr>
          <p:cNvPr id="17" name="Connector 16"/>
          <p:cNvCxnSpPr/>
          <p:nvPr/>
        </p:nvCxnSpPr>
        <p:spPr>
          <a:xfrm>
            <a:off x="5138928" y="1563624"/>
            <a:ext cx="658368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138928" y="1664208"/>
          <a:ext cx="6629395" cy="3545125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826280"/>
                <a:gridCol w="566147"/>
                <a:gridCol w="529621"/>
                <a:gridCol w="529621"/>
                <a:gridCol w="529621"/>
                <a:gridCol w="529621"/>
                <a:gridCol w="529621"/>
                <a:gridCol w="529621"/>
                <a:gridCol w="529621"/>
                <a:gridCol w="529621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Hist. 3y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8C96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2029E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2030E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2031E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2032E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2033E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03255"/>
                          </a:solidFill>
                          <a:latin typeface="Arial"/>
                        </a:rPr>
                        <a:t>Revenue drivers (location mode)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Like-for-like – Norway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0.8%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0.3%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0.3%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0.3%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Like-for-like – Sweden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1.3%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1.2%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0.8%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0.3%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Like-for-like – Finland &amp; Denmark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0.8%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0.8%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0.3%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0.3%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Net new locations – Norway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-1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Net new locations – Sweden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Net new locations – Finland &amp; Denmark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-0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Price/mix – Norway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6.3%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2.8%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Price/mix – Sweden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9.6%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2.8%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Price/mix – Finland &amp; Denmark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14.1%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-1.0%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03255"/>
                          </a:solidFill>
                          <a:latin typeface="Arial"/>
                        </a:rPr>
                        <a:t>Costs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COGS (% of revenue)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2.8%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Personnel, variable (% of rev.)¹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36.5%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11.2%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11.2%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11.2%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11.2%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11.2%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11.2%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11.2%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11.2%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Other opex, variable (% of rev.)¹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8.7%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8.7%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8.7%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8.7%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8.7%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8.7%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8.7%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8.7%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Cost inflation, fixed costs and rent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D&amp;A (owned assets)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03255"/>
                          </a:solidFill>
                          <a:latin typeface="Arial"/>
                        </a:rPr>
                        <a:t>Investments and other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Maintenance capex (% of revenue)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Capex per new location (NOKm)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9.0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9.3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9.6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9.8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10.1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10.3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10.6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10.8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NWC (% of revenue)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-15.6%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-16.0%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-16.0%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-16.0%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-16.0%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-16.0%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-16.0%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-16.0%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-16.0%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Tax rate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25.4%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Dividend payout ratio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50.0%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50.0%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55.0%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55.0%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60.0%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60.0%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60.0%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60.0%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5138928" y="5440680"/>
            <a:ext cx="6629400" cy="8229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276088" y="5486400"/>
            <a:ext cx="6355080" cy="7315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200"/>
              </a:spcAft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Terminal assumptions</a:t>
            </a:r>
            <a:endParaRPr sz="950"/>
          </a:p>
          <a:p>
            <a:pPr algn="l">
              <a:buNone/>
            </a:pPr>
            <a:r>
              <a:rPr sz="900" b="0" i="0">
                <a:solidFill>
                  <a:srgbClr val="1F1F1F"/>
                </a:solidFill>
                <a:latin typeface="Arial"/>
              </a:rPr>
              <a:t>Growth 2.0% • RONIC 25% • EBIT margin 15.6% (final forecast year) • Long-term tax 22% • Exit multiple cross-check 9.0x EV/EBITDAaL</a:t>
            </a:r>
            <a:endParaRPr sz="900"/>
          </a:p>
        </p:txBody>
      </p:sp>
      <p:sp>
        <p:nvSpPr>
          <p:cNvPr id="21" name="TextBox 20"/>
          <p:cNvSpPr txBox="1"/>
          <p:nvPr/>
        </p:nvSpPr>
        <p:spPr>
          <a:xfrm>
            <a:off x="5138928" y="5230368"/>
            <a:ext cx="6629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6B7480"/>
                </a:solidFill>
                <a:latin typeface="Arial"/>
              </a:rPr>
              <a:t>¹ History shows the total cost ratio; the fixed part (Drivers E) grows with inflation and the number of locations instead of with revenue.</a:t>
            </a:r>
            <a:endParaRPr sz="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Appendix #4.9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Key risks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Operating leverage cuts both ways – our bear case DCF of NOK 15 is 65% below today's share price, against 35% upside to our target price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Case team assessment. Probability and impact are qualitative (1 = low, 3 = high).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16</a:t>
            </a:r>
            <a:endParaRPr sz="900"/>
          </a:p>
        </p:txBody>
      </p:sp>
      <p:sp>
        <p:nvSpPr>
          <p:cNvPr id="11" name="Rectangle 10"/>
          <p:cNvSpPr/>
          <p:nvPr/>
        </p:nvSpPr>
        <p:spPr>
          <a:xfrm>
            <a:off x="429768" y="1325880"/>
            <a:ext cx="5394960" cy="489204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58368" y="1554480"/>
            <a:ext cx="420624" cy="42062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  <a:endParaRPr sz="1300"/>
          </a:p>
        </p:txBody>
      </p:sp>
      <p:sp>
        <p:nvSpPr>
          <p:cNvPr id="13" name="TextBox 12"/>
          <p:cNvSpPr txBox="1"/>
          <p:nvPr/>
        </p:nvSpPr>
        <p:spPr>
          <a:xfrm>
            <a:off x="1252728" y="1517904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250" b="1" i="0">
                <a:solidFill>
                  <a:srgbClr val="003255"/>
                </a:solidFill>
                <a:latin typeface="Arial"/>
              </a:rPr>
              <a:t>Low-cost competition</a:t>
            </a:r>
            <a:endParaRPr sz="1250"/>
          </a:p>
        </p:txBody>
      </p:sp>
      <p:sp>
        <p:nvSpPr>
          <p:cNvPr id="14" name="TextBox 13"/>
          <p:cNvSpPr txBox="1"/>
          <p:nvPr/>
        </p:nvSpPr>
        <p:spPr>
          <a:xfrm>
            <a:off x="1252728" y="1792224"/>
            <a:ext cx="4389120" cy="502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0" i="0">
                <a:solidFill>
                  <a:srgbClr val="1F1F1F"/>
                </a:solidFill>
                <a:latin typeface="Arial"/>
              </a:rPr>
              <a:t>Low-cost chains add capacity in the big cities and cap price increases; SATS answers with Fresh Fitness and product tiers.</a:t>
            </a:r>
            <a:endParaRPr sz="1000"/>
          </a:p>
        </p:txBody>
      </p:sp>
      <p:sp>
        <p:nvSpPr>
          <p:cNvPr id="15" name="Oval 14"/>
          <p:cNvSpPr/>
          <p:nvPr/>
        </p:nvSpPr>
        <p:spPr>
          <a:xfrm>
            <a:off x="658368" y="2468880"/>
            <a:ext cx="420624" cy="42062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  <a:endParaRPr sz="1300"/>
          </a:p>
        </p:txBody>
      </p:sp>
      <p:sp>
        <p:nvSpPr>
          <p:cNvPr id="16" name="TextBox 15"/>
          <p:cNvSpPr txBox="1"/>
          <p:nvPr/>
        </p:nvSpPr>
        <p:spPr>
          <a:xfrm>
            <a:off x="1252728" y="2432304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250" b="1" i="0">
                <a:solidFill>
                  <a:srgbClr val="003255"/>
                </a:solidFill>
                <a:latin typeface="Arial"/>
              </a:rPr>
              <a:t>Cost inflation</a:t>
            </a:r>
            <a:endParaRPr sz="1250"/>
          </a:p>
        </p:txBody>
      </p:sp>
      <p:sp>
        <p:nvSpPr>
          <p:cNvPr id="17" name="TextBox 16"/>
          <p:cNvSpPr txBox="1"/>
          <p:nvPr/>
        </p:nvSpPr>
        <p:spPr>
          <a:xfrm>
            <a:off x="1252728" y="2706624"/>
            <a:ext cx="4389120" cy="502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0" i="0">
                <a:solidFill>
                  <a:srgbClr val="1F1F1F"/>
                </a:solidFill>
                <a:latin typeface="Arial"/>
              </a:rPr>
              <a:t>Personnel and rent are ~70% of costs – Nordic wage growth above the growth in revenue per member reverses the operating leverage.</a:t>
            </a:r>
            <a:endParaRPr sz="1000"/>
          </a:p>
        </p:txBody>
      </p:sp>
      <p:sp>
        <p:nvSpPr>
          <p:cNvPr id="18" name="Oval 17"/>
          <p:cNvSpPr/>
          <p:nvPr/>
        </p:nvSpPr>
        <p:spPr>
          <a:xfrm>
            <a:off x="658368" y="3383280"/>
            <a:ext cx="420624" cy="42062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  <a:endParaRPr sz="1300"/>
          </a:p>
        </p:txBody>
      </p:sp>
      <p:sp>
        <p:nvSpPr>
          <p:cNvPr id="19" name="TextBox 18"/>
          <p:cNvSpPr txBox="1"/>
          <p:nvPr/>
        </p:nvSpPr>
        <p:spPr>
          <a:xfrm>
            <a:off x="1252728" y="3346704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250" b="1" i="0">
                <a:solidFill>
                  <a:srgbClr val="003255"/>
                </a:solidFill>
                <a:latin typeface="Arial"/>
              </a:rPr>
              <a:t>Denmark and Finland</a:t>
            </a:r>
            <a:endParaRPr sz="1250"/>
          </a:p>
        </p:txBody>
      </p:sp>
      <p:sp>
        <p:nvSpPr>
          <p:cNvPr id="20" name="TextBox 19"/>
          <p:cNvSpPr txBox="1"/>
          <p:nvPr/>
        </p:nvSpPr>
        <p:spPr>
          <a:xfrm>
            <a:off x="1252728" y="3621024"/>
            <a:ext cx="4389120" cy="502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0" i="0">
                <a:solidFill>
                  <a:srgbClr val="1F1F1F"/>
                </a:solidFill>
                <a:latin typeface="Arial"/>
              </a:rPr>
              <a:t>Denmark lost 4% of its members after VAT on group training and PT (2026); both countries earn thin margins.</a:t>
            </a:r>
            <a:endParaRPr sz="1000"/>
          </a:p>
        </p:txBody>
      </p:sp>
      <p:sp>
        <p:nvSpPr>
          <p:cNvPr id="21" name="Oval 20"/>
          <p:cNvSpPr/>
          <p:nvPr/>
        </p:nvSpPr>
        <p:spPr>
          <a:xfrm>
            <a:off x="658368" y="4297680"/>
            <a:ext cx="420624" cy="42062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  <a:endParaRPr sz="1300"/>
          </a:p>
        </p:txBody>
      </p:sp>
      <p:sp>
        <p:nvSpPr>
          <p:cNvPr id="22" name="TextBox 21"/>
          <p:cNvSpPr txBox="1"/>
          <p:nvPr/>
        </p:nvSpPr>
        <p:spPr>
          <a:xfrm>
            <a:off x="1252728" y="4261104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250" b="1" i="0">
                <a:solidFill>
                  <a:srgbClr val="003255"/>
                </a:solidFill>
                <a:latin typeface="Arial"/>
              </a:rPr>
              <a:t>Roll-out execution</a:t>
            </a:r>
            <a:endParaRPr sz="1250"/>
          </a:p>
        </p:txBody>
      </p:sp>
      <p:sp>
        <p:nvSpPr>
          <p:cNvPr id="23" name="TextBox 22"/>
          <p:cNvSpPr txBox="1"/>
          <p:nvPr/>
        </p:nvSpPr>
        <p:spPr>
          <a:xfrm>
            <a:off x="1252728" y="4535424"/>
            <a:ext cx="4389120" cy="502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0" i="0">
                <a:solidFill>
                  <a:srgbClr val="1F1F1F"/>
                </a:solidFill>
                <a:latin typeface="Arial"/>
              </a:rPr>
              <a:t>8-12 openings a year after years of a flat club count; new clubs may take longer than three years to mature.</a:t>
            </a:r>
            <a:endParaRPr sz="1000"/>
          </a:p>
        </p:txBody>
      </p:sp>
      <p:sp>
        <p:nvSpPr>
          <p:cNvPr id="24" name="Oval 23"/>
          <p:cNvSpPr/>
          <p:nvPr/>
        </p:nvSpPr>
        <p:spPr>
          <a:xfrm>
            <a:off x="658368" y="5212080"/>
            <a:ext cx="420624" cy="42062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  <a:endParaRPr sz="1300"/>
          </a:p>
        </p:txBody>
      </p:sp>
      <p:sp>
        <p:nvSpPr>
          <p:cNvPr id="25" name="TextBox 24"/>
          <p:cNvSpPr txBox="1"/>
          <p:nvPr/>
        </p:nvSpPr>
        <p:spPr>
          <a:xfrm>
            <a:off x="1252728" y="5175504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250" b="1" i="0">
                <a:solidFill>
                  <a:srgbClr val="003255"/>
                </a:solidFill>
                <a:latin typeface="Arial"/>
              </a:rPr>
              <a:t>Consumer slowdown</a:t>
            </a:r>
            <a:endParaRPr sz="1250"/>
          </a:p>
        </p:txBody>
      </p:sp>
      <p:sp>
        <p:nvSpPr>
          <p:cNvPr id="26" name="TextBox 25"/>
          <p:cNvSpPr txBox="1"/>
          <p:nvPr/>
        </p:nvSpPr>
        <p:spPr>
          <a:xfrm>
            <a:off x="1252728" y="5449824"/>
            <a:ext cx="4389120" cy="502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0" i="0">
                <a:solidFill>
                  <a:srgbClr val="1F1F1F"/>
                </a:solidFill>
                <a:latin typeface="Arial"/>
              </a:rPr>
              <a:t>Memberships are discretionary: the member base fell 9% in 2020 and took two years to recover.</a:t>
            </a:r>
            <a:endParaRPr sz="1000"/>
          </a:p>
        </p:txBody>
      </p:sp>
      <p:sp>
        <p:nvSpPr>
          <p:cNvPr id="27" name="Rectangle 26"/>
          <p:cNvSpPr/>
          <p:nvPr/>
        </p:nvSpPr>
        <p:spPr>
          <a:xfrm>
            <a:off x="6949440" y="1463040"/>
            <a:ext cx="1417320" cy="141732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412480" y="1463040"/>
            <a:ext cx="1417320" cy="1417320"/>
          </a:xfrm>
          <a:prstGeom prst="rect">
            <a:avLst/>
          </a:prstGeom>
          <a:solidFill>
            <a:srgbClr val="F0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9875520" y="1463040"/>
            <a:ext cx="1417320" cy="14173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949440" y="2926080"/>
            <a:ext cx="1417320" cy="1417320"/>
          </a:xfrm>
          <a:prstGeom prst="rect">
            <a:avLst/>
          </a:prstGeom>
          <a:solidFill>
            <a:srgbClr val="C7D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412480" y="2926080"/>
            <a:ext cx="1417320" cy="141732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9875520" y="2926080"/>
            <a:ext cx="1417320" cy="1417320"/>
          </a:xfrm>
          <a:prstGeom prst="rect">
            <a:avLst/>
          </a:prstGeom>
          <a:solidFill>
            <a:srgbClr val="F0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949440" y="4389120"/>
            <a:ext cx="1417320" cy="1417320"/>
          </a:xfrm>
          <a:prstGeom prst="rect">
            <a:avLst/>
          </a:prstGeom>
          <a:solidFill>
            <a:srgbClr val="7DB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8412480" y="4389120"/>
            <a:ext cx="1417320" cy="1417320"/>
          </a:xfrm>
          <a:prstGeom prst="rect">
            <a:avLst/>
          </a:prstGeom>
          <a:solidFill>
            <a:srgbClr val="C7D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9875520" y="4389120"/>
            <a:ext cx="1417320" cy="141732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10373868" y="1961388"/>
            <a:ext cx="420624" cy="420624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  <a:endParaRPr sz="1300"/>
          </a:p>
        </p:txBody>
      </p:sp>
      <p:sp>
        <p:nvSpPr>
          <p:cNvPr id="37" name="Oval 36"/>
          <p:cNvSpPr/>
          <p:nvPr/>
        </p:nvSpPr>
        <p:spPr>
          <a:xfrm>
            <a:off x="10373868" y="3424428"/>
            <a:ext cx="420624" cy="420624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  <a:endParaRPr sz="1300"/>
          </a:p>
        </p:txBody>
      </p:sp>
      <p:sp>
        <p:nvSpPr>
          <p:cNvPr id="38" name="Oval 37"/>
          <p:cNvSpPr/>
          <p:nvPr/>
        </p:nvSpPr>
        <p:spPr>
          <a:xfrm>
            <a:off x="7447788" y="1961388"/>
            <a:ext cx="420624" cy="420624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  <a:endParaRPr sz="1300"/>
          </a:p>
        </p:txBody>
      </p:sp>
      <p:sp>
        <p:nvSpPr>
          <p:cNvPr id="39" name="Oval 38"/>
          <p:cNvSpPr/>
          <p:nvPr/>
        </p:nvSpPr>
        <p:spPr>
          <a:xfrm>
            <a:off x="8910828" y="3424428"/>
            <a:ext cx="420624" cy="420624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  <a:endParaRPr sz="1300"/>
          </a:p>
        </p:txBody>
      </p:sp>
      <p:sp>
        <p:nvSpPr>
          <p:cNvPr id="40" name="Oval 39"/>
          <p:cNvSpPr/>
          <p:nvPr/>
        </p:nvSpPr>
        <p:spPr>
          <a:xfrm>
            <a:off x="10373868" y="4887468"/>
            <a:ext cx="420624" cy="420624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  <a:endParaRPr sz="1300"/>
          </a:p>
        </p:txBody>
      </p:sp>
      <p:sp>
        <p:nvSpPr>
          <p:cNvPr id="41" name="TextBox 40"/>
          <p:cNvSpPr txBox="1"/>
          <p:nvPr/>
        </p:nvSpPr>
        <p:spPr>
          <a:xfrm>
            <a:off x="6949440" y="5843016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Low</a:t>
            </a:r>
            <a:endParaRPr sz="900"/>
          </a:p>
        </p:txBody>
      </p:sp>
      <p:sp>
        <p:nvSpPr>
          <p:cNvPr id="42" name="TextBox 41"/>
          <p:cNvSpPr txBox="1"/>
          <p:nvPr/>
        </p:nvSpPr>
        <p:spPr>
          <a:xfrm>
            <a:off x="8412480" y="5843016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Medium</a:t>
            </a:r>
            <a:endParaRPr sz="900"/>
          </a:p>
        </p:txBody>
      </p:sp>
      <p:sp>
        <p:nvSpPr>
          <p:cNvPr id="43" name="TextBox 42"/>
          <p:cNvSpPr txBox="1"/>
          <p:nvPr/>
        </p:nvSpPr>
        <p:spPr>
          <a:xfrm>
            <a:off x="9875520" y="5843016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High</a:t>
            </a:r>
            <a:endParaRPr sz="900"/>
          </a:p>
        </p:txBody>
      </p:sp>
      <p:sp>
        <p:nvSpPr>
          <p:cNvPr id="44" name="TextBox 43"/>
          <p:cNvSpPr txBox="1"/>
          <p:nvPr/>
        </p:nvSpPr>
        <p:spPr>
          <a:xfrm>
            <a:off x="6949440" y="6080759"/>
            <a:ext cx="434340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100" b="1" i="0">
                <a:solidFill>
                  <a:srgbClr val="1F1F1F"/>
                </a:solidFill>
                <a:latin typeface="Arial"/>
              </a:rPr>
              <a:t>Impact →</a:t>
            </a:r>
            <a:endParaRPr sz="1100"/>
          </a:p>
        </p:txBody>
      </p:sp>
      <p:sp>
        <p:nvSpPr>
          <p:cNvPr id="45" name="TextBox 44"/>
          <p:cNvSpPr txBox="1"/>
          <p:nvPr/>
        </p:nvSpPr>
        <p:spPr>
          <a:xfrm rot="16200000">
            <a:off x="5257800" y="3497580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100" b="1" i="0">
                <a:solidFill>
                  <a:srgbClr val="1F1F1F"/>
                </a:solidFill>
                <a:latin typeface="Arial"/>
              </a:rPr>
              <a:t>Probability →</a:t>
            </a:r>
            <a:endParaRPr sz="1100"/>
          </a:p>
        </p:txBody>
      </p:sp>
      <p:sp>
        <p:nvSpPr>
          <p:cNvPr id="46" name="TextBox 45"/>
          <p:cNvSpPr txBox="1"/>
          <p:nvPr/>
        </p:nvSpPr>
        <p:spPr>
          <a:xfrm>
            <a:off x="6382512" y="2071116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High</a:t>
            </a:r>
            <a:endParaRPr sz="900"/>
          </a:p>
        </p:txBody>
      </p:sp>
      <p:sp>
        <p:nvSpPr>
          <p:cNvPr id="47" name="TextBox 46"/>
          <p:cNvSpPr txBox="1"/>
          <p:nvPr/>
        </p:nvSpPr>
        <p:spPr>
          <a:xfrm>
            <a:off x="6382512" y="3534156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Medium</a:t>
            </a:r>
            <a:endParaRPr sz="900"/>
          </a:p>
        </p:txBody>
      </p:sp>
      <p:sp>
        <p:nvSpPr>
          <p:cNvPr id="48" name="TextBox 47"/>
          <p:cNvSpPr txBox="1"/>
          <p:nvPr/>
        </p:nvSpPr>
        <p:spPr>
          <a:xfrm>
            <a:off x="6382512" y="4997196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Low</a:t>
            </a:r>
            <a:endParaRPr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
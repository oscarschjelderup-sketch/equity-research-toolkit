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4F7FA0"/>
              </a:solidFill>
            </c:spPr>
          </c:dPt>
          <c:dPt>
            <c:idx val="2"/>
            <c:spPr>
              <a:solidFill>
                <a:srgbClr val="81B0C0"/>
              </a:solidFill>
            </c:spPr>
          </c:dPt>
          <c:cat>
            <c:strRef>
              <c:f>Sheet1!$A$2:$A$4</c:f>
              <c:strCache>
                <c:ptCount val="3"/>
                <c:pt idx="0">
                  <c:v>Norway</c:v>
                </c:pt>
                <c:pt idx="1">
                  <c:v>Sweden</c:v>
                </c:pt>
                <c:pt idx="2">
                  <c:v>Finland &amp; Denmark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2472</c:v>
                </c:pt>
                <c:pt idx="1">
                  <c:v>1898</c:v>
                </c:pt>
                <c:pt idx="2">
                  <c:v>1139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2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4F7FA0"/>
              </a:solidFill>
            </c:spPr>
          </c:dPt>
          <c:dPt>
            <c:idx val="2"/>
            <c:spPr>
              <a:solidFill>
                <a:srgbClr val="81B0C0"/>
              </a:solidFill>
            </c:spPr>
          </c:dPt>
          <c:cat>
            <c:strRef>
              <c:f>Sheet1!$A$2:$A$4</c:f>
              <c:strCache>
                <c:ptCount val="3"/>
                <c:pt idx="0">
                  <c:v>Norway</c:v>
                </c:pt>
                <c:pt idx="1">
                  <c:v>Sweden</c:v>
                </c:pt>
                <c:pt idx="2">
                  <c:v>Finland &amp; Denmark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345</c:v>
                </c:pt>
                <c:pt idx="1">
                  <c:v>256</c:v>
                </c:pt>
                <c:pt idx="2">
                  <c:v>154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2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1700"/>
          <c:w val="0.9600"/>
          <c:h val="0.70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4734</c:v>
                </c:pt>
                <c:pt idx="1">
                  <c:v>5064</c:v>
                </c:pt>
                <c:pt idx="2">
                  <c:v>5509</c:v>
                </c:pt>
                <c:pt idx="3">
                  <c:v>5664.776144193548</c:v>
                </c:pt>
                <c:pt idx="4">
                  <c:v>5951.562543583052</c:v>
                </c:pt>
                <c:pt idx="5">
                  <c:v>6301.068243984994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adj.(1)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375</c:v>
                </c:pt>
                <c:pt idx="1">
                  <c:v>521</c:v>
                </c:pt>
                <c:pt idx="2">
                  <c:v>647</c:v>
                </c:pt>
                <c:pt idx="3">
                  <c:v>719.1208456165834</c:v>
                </c:pt>
                <c:pt idx="4">
                  <c:v>796.7195650163045</c:v>
                </c:pt>
                <c:pt idx="5">
                  <c:v>864.4347466986234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5"/>
        <c:axId val="-2068027336"/>
        <c:axId val="-2113994440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EBIT adj. margin</c:v>
                </c:pt>
              </c:strCache>
            </c:strRef>
          </c:tx>
          <c:spPr>
            <a:ln w="28575" cap="rnd">
              <a:solidFill>
                <a:srgbClr val="C9A227"/>
              </a:solidFill>
              <a:round/>
            </a:ln>
          </c:spPr>
          <c:marker>
            <c:symbol val="circle"/>
            <c:size val="5"/>
            <c:spPr>
              <a:solidFill>
                <a:srgbClr val="C9A227"/>
              </a:solidFill>
              <a:ln>
                <a:noFill/>
              </a:ln>
            </c:spPr>
          </c:marker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00" b="1">
                    <a:solidFill>
                      <a:srgbClr val="7A6A1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0.07921419518377694</c:v>
                </c:pt>
                <c:pt idx="1">
                  <c:v>0.10288309636650869</c:v>
                </c:pt>
                <c:pt idx="2">
                  <c:v>0.1174441822472318</c:v>
                </c:pt>
                <c:pt idx="3">
                  <c:v>0.1269460305776936</c:v>
                </c:pt>
                <c:pt idx="4">
                  <c:v>0.13386729269531478</c:v>
                </c:pt>
                <c:pt idx="5">
                  <c:v>0.1371886025078071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766.6557781767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0.1855"/>
          <c:min val="-0.2976"/>
        </c:scaling>
        <c:delete val="0"/>
        <c:axPos val="r"/>
        <c:numFmt formatCode="0%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Clubs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2019A</c:v>
                </c:pt>
                <c:pt idx="1">
                  <c:v>2020A</c:v>
                </c:pt>
                <c:pt idx="2">
                  <c:v>2021A</c:v>
                </c:pt>
                <c:pt idx="3">
                  <c:v>2022A</c:v>
                </c:pt>
                <c:pt idx="4">
                  <c:v>2023A</c:v>
                </c:pt>
                <c:pt idx="5">
                  <c:v>2024A</c:v>
                </c:pt>
                <c:pt idx="6">
                  <c:v>2025A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248</c:v>
                </c:pt>
                <c:pt idx="1">
                  <c:v>253</c:v>
                </c:pt>
                <c:pt idx="2">
                  <c:v>262</c:v>
                </c:pt>
                <c:pt idx="3">
                  <c:v>275</c:v>
                </c:pt>
                <c:pt idx="4">
                  <c:v>276</c:v>
                </c:pt>
                <c:pt idx="5">
                  <c:v>272</c:v>
                </c:pt>
                <c:pt idx="6">
                  <c:v>273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solidFill>
                    <a:srgbClr val="003255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Members '000 (rhs)</c:v>
                </c:pt>
              </c:strCache>
            </c:strRef>
          </c:tx>
          <c:spPr>
            <a:ln w="28575" cap="rnd">
              <a:solidFill>
                <a:srgbClr val="003255"/>
              </a:solidFill>
              <a:round/>
            </a:ln>
          </c:spPr>
          <c:marker>
            <c:symbol val="circle"/>
            <c:size val="5"/>
            <c:spPr>
              <a:solidFill>
                <a:srgbClr val="003255"/>
              </a:solidFill>
              <a:ln>
                <a:noFill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00" b="1">
                    <a:solidFill>
                      <a:srgbClr val="003255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2019A</c:v>
                </c:pt>
                <c:pt idx="1">
                  <c:v>2020A</c:v>
                </c:pt>
                <c:pt idx="2">
                  <c:v>2021A</c:v>
                </c:pt>
                <c:pt idx="3">
                  <c:v>2022A</c:v>
                </c:pt>
                <c:pt idx="4">
                  <c:v>2023A</c:v>
                </c:pt>
                <c:pt idx="5">
                  <c:v>2024A</c:v>
                </c:pt>
                <c:pt idx="6">
                  <c:v>2025A</c:v>
                </c:pt>
              </c:strCache>
            </c:strRef>
          </c:cat>
          <c:val>
            <c:numRef>
              <c:f>Sheet1!$C$2:$C$8</c:f>
              <c:numCache>
                <c:formatCode>0</c:formatCode>
                <c:ptCount val="7"/>
                <c:pt idx="0">
                  <c:v>688</c:v>
                </c:pt>
                <c:pt idx="1">
                  <c:v>628</c:v>
                </c:pt>
                <c:pt idx="2">
                  <c:v>668</c:v>
                </c:pt>
                <c:pt idx="3">
                  <c:v>721</c:v>
                </c:pt>
                <c:pt idx="4">
                  <c:v>731</c:v>
                </c:pt>
                <c:pt idx="5">
                  <c:v>733</c:v>
                </c:pt>
                <c:pt idx="6">
                  <c:v>755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2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826.12"/>
          <c:min val="120"/>
        </c:scaling>
        <c:delete val="0"/>
        <c:axPos val="r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Norway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551</c:v>
                </c:pt>
                <c:pt idx="1">
                  <c:v>573</c:v>
                </c:pt>
                <c:pt idx="2">
                  <c:v>608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Sweden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540</c:v>
                </c:pt>
                <c:pt idx="1">
                  <c:v>573</c:v>
                </c:pt>
                <c:pt idx="2">
                  <c:v>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Finland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550</c:v>
                </c:pt>
                <c:pt idx="1">
                  <c:v>588</c:v>
                </c:pt>
                <c:pt idx="2">
                  <c:v>608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Denmark</c:v>
                </c:pt>
              </c:strCache>
            </c:strRef>
          </c:tx>
          <c:spPr>
            <a:solidFill>
              <a:srgbClr val="A9C8D3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517</c:v>
                </c:pt>
                <c:pt idx="1">
                  <c:v>590</c:v>
                </c:pt>
                <c:pt idx="2">
                  <c:v>628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3.6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C9D1D9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8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800" b="1">
                      <a:solidFill>
                        <a:srgbClr val="003255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SATS</c:v>
                </c:pt>
                <c:pt idx="1">
                  <c:v>Other operators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0.146</c:v>
                </c:pt>
                <c:pt idx="1">
                  <c:v>0.854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New locations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Sheet1!$B$2:$B$9</c:f>
              <c:numCache>
                <c:formatCode>0%</c:formatCode>
                <c:ptCount val="8"/>
                <c:pt idx="0">
                  <c:v>0.002375613885413143</c:v>
                </c:pt>
                <c:pt idx="1">
                  <c:v>-0.01434218562522112</c:v>
                </c:pt>
                <c:pt idx="2">
                  <c:v>0.004372959985332122</c:v>
                </c:pt>
                <c:pt idx="3">
                  <c:v>-0.010889804952599553</c:v>
                </c:pt>
                <c:pt idx="4">
                  <c:v>0.009247666668338544</c:v>
                </c:pt>
                <c:pt idx="5">
                  <c:v>0.020946737057646842</c:v>
                </c:pt>
                <c:pt idx="6">
                  <c:v>0.026890287652547206</c:v>
                </c:pt>
                <c:pt idx="7">
                  <c:v>0.027916168435016157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Like-for-like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Sheet1!$C$2:$C$9</c:f>
              <c:numCache>
                <c:formatCode>0%</c:formatCode>
                <c:ptCount val="8"/>
                <c:pt idx="0">
                  <c:v>0.01092541109375304</c:v>
                </c:pt>
                <c:pt idx="1">
                  <c:v>0.017376470940816163</c:v>
                </c:pt>
                <c:pt idx="2">
                  <c:v>0.025435466725318545</c:v>
                </c:pt>
                <c:pt idx="3">
                  <c:v>0.009562147570837162</c:v>
                </c:pt>
                <c:pt idx="4">
                  <c:v>0.009451804910877404</c:v>
                </c:pt>
                <c:pt idx="5">
                  <c:v>0.007901107817455837</c:v>
                </c:pt>
                <c:pt idx="6">
                  <c:v>0.0063678828101061714</c:v>
                </c:pt>
                <c:pt idx="7">
                  <c:v>0.00499508261057759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Price/mix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Sheet1!$D$2:$D$9</c:f>
              <c:numCache>
                <c:formatCode>0%</c:formatCode>
                <c:ptCount val="8"/>
                <c:pt idx="0">
                  <c:v>0.1464245997146113</c:v>
                </c:pt>
                <c:pt idx="1">
                  <c:v>0.06667420644612862</c:v>
                </c:pt>
                <c:pt idx="2">
                  <c:v>0.05806677076170328</c:v>
                </c:pt>
                <c:pt idx="3">
                  <c:v>0.02960432178429424</c:v>
                </c:pt>
                <c:pt idx="4">
                  <c:v>0.03192678303165028</c:v>
                </c:pt>
                <c:pt idx="5">
                  <c:v>0.02987718705433211</c:v>
                </c:pt>
                <c:pt idx="6">
                  <c:v>0.027294989526917182</c:v>
                </c:pt>
                <c:pt idx="7">
                  <c:v>0.02582278127613983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ln w="25400">
              <a:solidFill>
                <a:srgbClr val="C00000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5509</c:v>
                </c:pt>
                <c:pt idx="1">
                  <c:v>5548.323359778226</c:v>
                </c:pt>
                <c:pt idx="2">
                  <c:v>5751.0678306202735</c:v>
                </c:pt>
                <c:pt idx="3">
                  <c:v>5982.720740450366</c:v>
                </c:pt>
                <c:pt idx="4">
                  <c:v>6223.848456806224</c:v>
                </c:pt>
                <c:pt idx="5">
                  <c:v>6463.08875114741</c:v>
                </c:pt>
                <c:pt idx="6">
                  <c:v>6687.249241394905</c:v>
                </c:pt>
                <c:pt idx="7">
                  <c:v>6886.9341113464425</c:v>
                </c:pt>
                <c:pt idx="8">
                  <c:v>7070.142263249492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25400">
              <a:solidFill>
                <a:srgbClr val="003255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Sheet1!$C$2:$C$10</c:f>
              <c:numCache>
                <c:formatCode>0</c:formatCode>
                <c:ptCount val="9"/>
                <c:pt idx="0">
                  <c:v>5509</c:v>
                </c:pt>
                <c:pt idx="1">
                  <c:v>5664.776144193548</c:v>
                </c:pt>
                <c:pt idx="2">
                  <c:v>5951.562543583052</c:v>
                </c:pt>
                <c:pt idx="3">
                  <c:v>6301.068243984994</c:v>
                </c:pt>
                <c:pt idx="4">
                  <c:v>6682.61783746822</c:v>
                </c:pt>
                <c:pt idx="5">
                  <c:v>7075.114929527872</c:v>
                </c:pt>
                <c:pt idx="6">
                  <c:v>7461.3323226919265</c:v>
                </c:pt>
                <c:pt idx="7">
                  <c:v>7830.90421859966</c:v>
                </c:pt>
                <c:pt idx="8">
                  <c:v>8191.960788490563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ln w="25400">
              <a:solidFill>
                <a:srgbClr val="2E7D32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Sheet1!$D$2:$D$10</c:f>
              <c:numCache>
                <c:formatCode>0</c:formatCode>
                <c:ptCount val="9"/>
                <c:pt idx="0">
                  <c:v>5509</c:v>
                </c:pt>
                <c:pt idx="1">
                  <c:v>5768.707637499999</c:v>
                </c:pt>
                <c:pt idx="2">
                  <c:v>6127.396670680786</c:v>
                </c:pt>
                <c:pt idx="3">
                  <c:v>6584.096253590093</c:v>
                </c:pt>
                <c:pt idx="4">
                  <c:v>7097.5683312173205</c:v>
                </c:pt>
                <c:pt idx="5">
                  <c:v>7637.239965595425</c:v>
                </c:pt>
                <c:pt idx="6">
                  <c:v>8182.2286182482885</c:v>
                </c:pt>
                <c:pt idx="7">
                  <c:v>8721.753937651452</c:v>
                </c:pt>
                <c:pt idx="8">
                  <c:v>9264.420626901907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5000.0"/>
        </c:scaling>
        <c:delete val="0"/>
        <c:axPos val="l"/>
        <c:majorGridlines>
          <c:spPr>
            <a:ln>
              <a:solidFill>
                <a:srgbClr val="E3E6EA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4200"/>
          <c:y val="0.1000"/>
          <c:w val="0.5000"/>
          <c:h val="0.8600"/>
        </c:manualLayout>
      </c:layout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Offset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52-week range</c:v>
                </c:pt>
                <c:pt idx="1">
                  <c:v>DCF (WACC ±0.5pp, g ±0.25pp)</c:v>
                </c:pt>
                <c:pt idx="2">
                  <c:v>DCF (bear – bull)</c:v>
                </c:pt>
                <c:pt idx="3">
                  <c:v>EV/EBITDA (peers 25-75th pct)</c:v>
                </c:pt>
                <c:pt idx="4">
                  <c:v>EV/EBIT (peers 25-75th pct)</c:v>
                </c:pt>
                <c:pt idx="5">
                  <c:v>P/E (peers 25-75th pct)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14.950000000000003</c:v>
                </c:pt>
                <c:pt idx="1">
                  <c:v>26.081103334703812</c:v>
                </c:pt>
                <c:pt idx="2">
                  <c:v>7.73834004770794</c:v>
                </c:pt>
                <c:pt idx="3">
                  <c:v>22.178412291840196</c:v>
                </c:pt>
                <c:pt idx="4">
                  <c:v>24.968671660764386</c:v>
                </c:pt>
                <c:pt idx="5">
                  <c:v>21.66961431435881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52-week range</c:v>
                </c:pt>
                <c:pt idx="1">
                  <c:v>DCF (WACC ±0.5pp, g ±0.25pp)</c:v>
                </c:pt>
                <c:pt idx="2">
                  <c:v>DCF (bear – bull)</c:v>
                </c:pt>
                <c:pt idx="3">
                  <c:v>EV/EBITDA (peers 25-75th pct)</c:v>
                </c:pt>
                <c:pt idx="4">
                  <c:v>EV/EBIT (peers 25-75th pct)</c:v>
                </c:pt>
                <c:pt idx="5">
                  <c:v>P/E (peers 25-75th pct)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12.5</c:v>
                </c:pt>
                <c:pt idx="1">
                  <c:v>10.307688221745856</c:v>
                </c:pt>
                <c:pt idx="2">
                  <c:v>46.031521344109024</c:v>
                </c:pt>
                <c:pt idx="3">
                  <c:v>12.382927958101682</c:v>
                </c:pt>
                <c:pt idx="4">
                  <c:v>25.700631129558204</c:v>
                </c:pt>
                <c:pt idx="5">
                  <c:v>18.51982858415947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14684753099866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500"/>
          <c:y val="0.0500"/>
          <c:w val="0.9000"/>
          <c:h val="0.80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NOK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dPt>
            <c:idx val="0"/>
            <c:invertIfNegative val="0"/>
            <c:spPr>
              <a:solidFill>
                <a:srgbClr val="000000"/>
              </a:solidFill>
            </c:spPr>
          </c:dPt>
          <c:dPt>
            <c:idx val="1"/>
            <c:invertIfNegative val="0"/>
            <c:spPr>
              <a:solidFill>
                <a:srgbClr val="81B0C0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DCF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39.75</c:v>
                </c:pt>
                <c:pt idx="1">
                  <c:v>50.70726461760232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5480723376313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Replace the title with your own equity story in 4-6 words (e.g. 'SATS – Healthy body, healthy margins'). Keep the competition name. Update the date line.</a:t>
            </a:r>
          </a:p>
          <a:p/>
          <a:p>
            <a:r>
              <a:t>TALKING POINT: One sentence on who we are and our recommendation: 'We recommend BUY with a target price of NOK 54.'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Update year of study, experience and photos if the team changes. The Pareto rules do not count this slide or the cover towards the 4-slide limit.</a:t>
            </a:r>
          </a:p>
          <a:p/>
          <a:p>
            <a:r>
              <a:t>TALKING POINT: Keep the introduction under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'Company overview' (Pareto rule). Replace the key message, snapshot facts, management and segment names. Charts read from the model (Model sheet).</a:t>
            </a:r>
          </a:p>
          <a:p/>
          <a:p>
            <a:r>
              <a:t>TALKING POINTS: (1) What the company does and why it wins. (2) Growth has been driven by both volume and price. (3) Margins have expanded and returns are far above WACC – quality at a reasonable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overview from company KPIs: (1) more members per club, (2) revenue per member up in every country, (3) market share and positions, (4) demand evidence. Every figure is sourced in the footnote.</a:t>
            </a:r>
          </a:p>
          <a:p/>
          <a:p>
            <a:r>
              <a:t>TALKING POINTS: SATS grows without adding clubs – price and utilisation do the work; the roll-out is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'Financials and estimates'. Tables and charts are generated from the model – re-run the deck builder or copy from the Deck_Feed sheet after changing the model.</a:t>
            </a:r>
          </a:p>
          <a:p/>
          <a:p>
            <a:r>
              <a:t>TALKING POINTS: (1) History proves the model works. (2) Growth from new locations, like-for-like and price. (3) Margin expansion from operating leverage – and it is paid for with capex. (4) Strong cash conversion and ROIC. (5) We are above consensus, and the gap widens – that is our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'Valuation and recommendation'. The sensitivity table, football field and bar charts come from the Sensitivity, Football and Comps sheets.</a:t>
            </a:r>
          </a:p>
          <a:p/>
          <a:p>
            <a:r>
              <a:t>TALKING POINTS: (1) Recommendation and target price first. (2) DCF: NOK 51 with WACC 9.1% and g 2.0%; 34 of 35 cells in the sensitivity grid are above today's price (the value falls below it only at a WACC of 10.6% or more). (3) What the market prices in: an EBIT margin of 12.3% in 2033E vs. our 15.1% – the debate is margins. (4) Peers confirm the gap; target price = blend rolled forward 12 months. (5) Close with the risk/reward: bear vs. bull.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1221638" y="2492654"/>
            <a:ext cx="1044245" cy="0"/>
          </a:xfrm>
          <a:prstGeom prst="line">
            <a:avLst/>
          </a:prstGeom>
          <a:ln w="19050">
            <a:solidFill>
              <a:srgbClr val="81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34847" y="868680"/>
            <a:ext cx="548640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2000" b="0" i="0">
                <a:solidFill>
                  <a:srgbClr val="FFFFFF"/>
                </a:solidFill>
                <a:latin typeface="Cambria"/>
              </a:rPr>
              <a:t>Equity Research Toolkit</a:t>
            </a:r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1221638" y="2817266"/>
            <a:ext cx="8778240" cy="1079906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3600" b="0" i="0">
                <a:solidFill>
                  <a:srgbClr val="FFFFFF"/>
                </a:solidFill>
                <a:latin typeface="Cambria"/>
              </a:rPr>
              <a:t>SATS – Healthy body, healthy margins</a:t>
            </a:r>
            <a:endParaRPr sz="3600"/>
          </a:p>
        </p:txBody>
      </p:sp>
      <p:sp>
        <p:nvSpPr>
          <p:cNvPr id="6" name="TextBox 5"/>
          <p:cNvSpPr txBox="1"/>
          <p:nvPr/>
        </p:nvSpPr>
        <p:spPr>
          <a:xfrm>
            <a:off x="1221638" y="4201668"/>
            <a:ext cx="8778240" cy="82753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2000" b="0" i="0">
                <a:solidFill>
                  <a:srgbClr val="FFFFFF"/>
                </a:solidFill>
                <a:latin typeface="Arial"/>
              </a:rPr>
              <a:t>Pareto Equity Research Competition 2026</a:t>
            </a:r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221638" y="5661050"/>
            <a:ext cx="8778240" cy="3081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Share price and estimates as of 06.10.26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Case-team</a:t>
            </a:r>
            <a:endParaRPr sz="2600"/>
          </a:p>
        </p:txBody>
      </p:sp>
      <p:sp>
        <p:nvSpPr>
          <p:cNvPr id="3" name="TextBox 2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CBS case team with a passion for equity research – presenting a model-driven investment case</a:t>
            </a:r>
            <a:endParaRPr sz="1400"/>
          </a:p>
        </p:txBody>
      </p:sp>
      <p:cxnSp>
        <p:nvCxnSpPr>
          <p:cNvPr id="4" name="Connector 3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7" name="TextBox 6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2</a:t>
            </a:r>
            <a:endParaRPr sz="900"/>
          </a:p>
        </p:txBody>
      </p:sp>
      <p:sp>
        <p:nvSpPr>
          <p:cNvPr id="8" name="Rectangle 7"/>
          <p:cNvSpPr/>
          <p:nvPr/>
        </p:nvSpPr>
        <p:spPr>
          <a:xfrm>
            <a:off x="429768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9" name="TextBox 8"/>
          <p:cNvSpPr txBox="1"/>
          <p:nvPr/>
        </p:nvSpPr>
        <p:spPr>
          <a:xfrm>
            <a:off x="1984248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0" name="Rectangle 9"/>
          <p:cNvSpPr/>
          <p:nvPr/>
        </p:nvSpPr>
        <p:spPr>
          <a:xfrm>
            <a:off x="429768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1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4270248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12" name="TextBox 11"/>
          <p:cNvSpPr txBox="1"/>
          <p:nvPr/>
        </p:nvSpPr>
        <p:spPr>
          <a:xfrm>
            <a:off x="5824728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3" name="Rectangle 12"/>
          <p:cNvSpPr/>
          <p:nvPr/>
        </p:nvSpPr>
        <p:spPr>
          <a:xfrm>
            <a:off x="4270248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2</a:t>
            </a:r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8110727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15" name="TextBox 14"/>
          <p:cNvSpPr txBox="1"/>
          <p:nvPr/>
        </p:nvSpPr>
        <p:spPr>
          <a:xfrm>
            <a:off x="9665207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6" name="Rectangle 15"/>
          <p:cNvSpPr/>
          <p:nvPr/>
        </p:nvSpPr>
        <p:spPr>
          <a:xfrm>
            <a:off x="8110727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3</a:t>
            </a:r>
            <a:endParaRPr sz="1200"/>
          </a:p>
        </p:txBody>
      </p:sp>
      <p:sp>
        <p:nvSpPr>
          <p:cNvPr id="17" name="Rectangle 16"/>
          <p:cNvSpPr/>
          <p:nvPr/>
        </p:nvSpPr>
        <p:spPr>
          <a:xfrm>
            <a:off x="429768" y="4389120"/>
            <a:ext cx="11338560" cy="14173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8368" y="4526280"/>
            <a:ext cx="51206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Why we chose this company</a:t>
            </a:r>
            <a:endParaRPr sz="1200"/>
          </a:p>
        </p:txBody>
      </p:sp>
      <p:sp>
        <p:nvSpPr>
          <p:cNvPr id="19" name="TextBox 18"/>
          <p:cNvSpPr txBox="1"/>
          <p:nvPr/>
        </p:nvSpPr>
        <p:spPr>
          <a:xfrm>
            <a:off x="658368" y="4846320"/>
            <a:ext cx="5212080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Clear equity story: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market leader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with pricing power and a scalable cost base</a:t>
            </a:r>
            <a:endParaRPr sz="105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A market that underestimates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margin expansion and cash generation</a:t>
            </a:r>
            <a:endParaRPr sz="10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Valuation gap we can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quantify and stress-test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in scenarios</a:t>
            </a:r>
            <a:endParaRPr sz="1050"/>
          </a:p>
        </p:txBody>
      </p:sp>
      <p:sp>
        <p:nvSpPr>
          <p:cNvPr id="20" name="TextBox 19"/>
          <p:cNvSpPr txBox="1"/>
          <p:nvPr/>
        </p:nvSpPr>
        <p:spPr>
          <a:xfrm>
            <a:off x="6281928" y="4526280"/>
            <a:ext cx="51206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How we worked</a:t>
            </a:r>
            <a:endParaRPr sz="1200"/>
          </a:p>
        </p:txBody>
      </p:sp>
      <p:sp>
        <p:nvSpPr>
          <p:cNvPr id="21" name="TextBox 20"/>
          <p:cNvSpPr txBox="1"/>
          <p:nvPr/>
        </p:nvSpPr>
        <p:spPr>
          <a:xfrm>
            <a:off x="6281928" y="4846320"/>
            <a:ext cx="5303520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Bottom-up model: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locations x volume x price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per segment, IFRS 16-consistent DCF</a:t>
            </a:r>
            <a:endParaRPr sz="105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Reverse DCF,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consensus gap</a:t>
            </a:r>
            <a:r>
              <a:rPr sz="1050" b="0" i="0">
                <a:solidFill>
                  <a:srgbClr val="1F1F1F"/>
                </a:solidFill>
                <a:latin typeface="Arial"/>
              </a:rPr>
              <a:t>, peers, scenarios and 30 integrity checks</a:t>
            </a:r>
            <a:endParaRPr sz="10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Every number in this deck ties back to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one Excel model</a:t>
            </a:r>
            <a:endParaRPr sz="10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#1 The equity story of the Nordic fitness market leader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ASA – the leading fitness club operator in the Nordics, with pricing power and operating leverage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SATS ASA interim reports (Q4 2019–Q2 2026), satsgroup.com, case team estimates.  (1) EBIT adjusted: pre-IFRS 16 (after lease payments) and excl. special items.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3</a:t>
            </a:r>
            <a:endParaRPr sz="900"/>
          </a:p>
        </p:txBody>
      </p:sp>
      <p:sp>
        <p:nvSpPr>
          <p:cNvPr id="11" name="Rectangle 10"/>
          <p:cNvSpPr/>
          <p:nvPr/>
        </p:nvSpPr>
        <p:spPr>
          <a:xfrm>
            <a:off x="429768" y="1243584"/>
            <a:ext cx="11338559" cy="5029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SATS ASA is the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#1 fitness operator in the Nordics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with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755k members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in 273 clubs across Norway, Sweden, Finland and Denmark.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Membership subscriptions (83% of revenue)</a:t>
            </a:r>
            <a:r>
              <a:rPr sz="1100" b="0" i="0">
                <a:solidFill>
                  <a:srgbClr val="FFFFFF"/>
                </a:solidFill>
                <a:latin typeface="Arial"/>
              </a:rPr>
              <a:t>, proven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pricing power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and a largely fixed club cost base lift the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EBIT adj. margin to ~14% by 2030E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– with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ROIC well above WACC</a:t>
            </a:r>
            <a:r>
              <a:rPr sz="1100" b="0" i="0">
                <a:solidFill>
                  <a:srgbClr val="FFFFFF"/>
                </a:solidFill>
                <a:latin typeface="Arial"/>
              </a:rPr>
              <a:t>.</a:t>
            </a:r>
            <a:endParaRPr sz="1100"/>
          </a:p>
        </p:txBody>
      </p:sp>
      <p:sp>
        <p:nvSpPr>
          <p:cNvPr id="12" name="TextBox 11"/>
          <p:cNvSpPr txBox="1"/>
          <p:nvPr/>
        </p:nvSpPr>
        <p:spPr>
          <a:xfrm>
            <a:off x="429768" y="1847088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Company snapshot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148840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73075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sp>
        <p:nvSpPr>
          <p:cNvPr id="15" name="Rectangle 14"/>
          <p:cNvSpPr/>
          <p:nvPr/>
        </p:nvSpPr>
        <p:spPr>
          <a:xfrm>
            <a:off x="429768" y="2231136"/>
            <a:ext cx="36118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9496" y="2322576"/>
          <a:ext cx="3392423" cy="16459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42055"/>
                <a:gridCol w="1650368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Sector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Fitness clubs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Headquarters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Oslo, Norway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Listing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Oslo Børs (SATS)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Members (2025)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755k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Locations (2025)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273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Employees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~10,000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Market cap (NOKm)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7,596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Enterprise value (NOKm)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8,673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70248" y="1847088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Scalable model with pricing power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4270248" y="2148840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57123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4270248" y="2231136"/>
            <a:ext cx="36118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79976" y="2322576"/>
            <a:ext cx="3392424" cy="16916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Recurring revenue: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83% of sales are monthly memberships; personal training and retail the rest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Pricing power: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revenue per member up ~6% a year in 2024-25 and +6% currency adjusted in Q2 2026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Operating leverage: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EBITDA before IFRS 16 up from NOK 0.61bn (2023) to NOK 0.87bn (2025) and NOK 0.95bn LTM</a:t>
            </a:r>
            <a:endParaRPr sz="9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Capital light: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capex 5.6% of sales and negative working capital</a:t>
            </a:r>
            <a:endParaRPr sz="950"/>
          </a:p>
        </p:txBody>
      </p:sp>
      <p:sp>
        <p:nvSpPr>
          <p:cNvPr id="22" name="TextBox 21"/>
          <p:cNvSpPr txBox="1"/>
          <p:nvPr/>
        </p:nvSpPr>
        <p:spPr>
          <a:xfrm>
            <a:off x="8110727" y="1847088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Experienced management team</a:t>
            </a:r>
            <a:endParaRPr sz="1200"/>
          </a:p>
        </p:txBody>
      </p:sp>
      <p:cxnSp>
        <p:nvCxnSpPr>
          <p:cNvPr id="23" name="Connector 22"/>
          <p:cNvCxnSpPr/>
          <p:nvPr/>
        </p:nvCxnSpPr>
        <p:spPr>
          <a:xfrm>
            <a:off x="8110727" y="2148840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145743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8110727" y="2231136"/>
            <a:ext cx="365760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275319" y="2350008"/>
            <a:ext cx="457200" cy="457200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SG</a:t>
            </a:r>
            <a:endParaRPr sz="1100"/>
          </a:p>
        </p:txBody>
      </p:sp>
      <p:sp>
        <p:nvSpPr>
          <p:cNvPr id="27" name="TextBox 26"/>
          <p:cNvSpPr txBox="1"/>
          <p:nvPr/>
        </p:nvSpPr>
        <p:spPr>
          <a:xfrm>
            <a:off x="8887967" y="2368296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CEO – Sondre Gravir</a:t>
            </a:r>
            <a:endParaRPr sz="1050"/>
          </a:p>
        </p:txBody>
      </p:sp>
      <p:sp>
        <p:nvSpPr>
          <p:cNvPr id="28" name="TextBox 27"/>
          <p:cNvSpPr txBox="1"/>
          <p:nvPr/>
        </p:nvSpPr>
        <p:spPr>
          <a:xfrm>
            <a:off x="8887967" y="2578608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Joined SATS in 2018</a:t>
            </a:r>
            <a:endParaRPr sz="900"/>
          </a:p>
        </p:txBody>
      </p:sp>
      <p:sp>
        <p:nvSpPr>
          <p:cNvPr id="29" name="Oval 28"/>
          <p:cNvSpPr/>
          <p:nvPr/>
        </p:nvSpPr>
        <p:spPr>
          <a:xfrm>
            <a:off x="8275319" y="2916936"/>
            <a:ext cx="457200" cy="457200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CE</a:t>
            </a:r>
            <a:endParaRPr sz="1100"/>
          </a:p>
        </p:txBody>
      </p:sp>
      <p:sp>
        <p:nvSpPr>
          <p:cNvPr id="30" name="TextBox 29"/>
          <p:cNvSpPr txBox="1"/>
          <p:nvPr/>
        </p:nvSpPr>
        <p:spPr>
          <a:xfrm>
            <a:off x="8887967" y="293522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CFO – Cecilie Elde</a:t>
            </a:r>
            <a:endParaRPr sz="1050"/>
          </a:p>
        </p:txBody>
      </p:sp>
      <p:sp>
        <p:nvSpPr>
          <p:cNvPr id="31" name="TextBox 30"/>
          <p:cNvSpPr txBox="1"/>
          <p:nvPr/>
        </p:nvSpPr>
        <p:spPr>
          <a:xfrm>
            <a:off x="8887967" y="3145536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Joined SATS in 2016</a:t>
            </a:r>
            <a:endParaRPr sz="900"/>
          </a:p>
        </p:txBody>
      </p:sp>
      <p:sp>
        <p:nvSpPr>
          <p:cNvPr id="32" name="Oval 31"/>
          <p:cNvSpPr/>
          <p:nvPr/>
        </p:nvSpPr>
        <p:spPr>
          <a:xfrm>
            <a:off x="8275319" y="3483864"/>
            <a:ext cx="457200" cy="457200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GS</a:t>
            </a:r>
            <a:endParaRPr sz="1100"/>
          </a:p>
        </p:txBody>
      </p:sp>
      <p:sp>
        <p:nvSpPr>
          <p:cNvPr id="33" name="TextBox 32"/>
          <p:cNvSpPr txBox="1"/>
          <p:nvPr/>
        </p:nvSpPr>
        <p:spPr>
          <a:xfrm>
            <a:off x="8887967" y="350215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CDO – Gaute Sandal</a:t>
            </a:r>
            <a:endParaRPr sz="1050"/>
          </a:p>
        </p:txBody>
      </p:sp>
      <p:sp>
        <p:nvSpPr>
          <p:cNvPr id="34" name="TextBox 33"/>
          <p:cNvSpPr txBox="1"/>
          <p:nvPr/>
        </p:nvSpPr>
        <p:spPr>
          <a:xfrm>
            <a:off x="8887967" y="371246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Chief Digital Officer, joined SATS in 2017</a:t>
            </a:r>
            <a:endParaRPr sz="900"/>
          </a:p>
        </p:txBody>
      </p:sp>
      <p:sp>
        <p:nvSpPr>
          <p:cNvPr id="35" name="TextBox 34"/>
          <p:cNvSpPr txBox="1"/>
          <p:nvPr/>
        </p:nvSpPr>
        <p:spPr>
          <a:xfrm>
            <a:off x="429768" y="416052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and member mix (2025)</a:t>
            </a:r>
            <a:endParaRPr sz="1200"/>
          </a:p>
        </p:txBody>
      </p:sp>
      <p:cxnSp>
        <p:nvCxnSpPr>
          <p:cNvPr id="36" name="Connector 35"/>
          <p:cNvCxnSpPr/>
          <p:nvPr/>
        </p:nvCxnSpPr>
        <p:spPr>
          <a:xfrm>
            <a:off x="429768" y="4462272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73075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38" name="Rectangle 37"/>
          <p:cNvSpPr/>
          <p:nvPr/>
        </p:nvSpPr>
        <p:spPr>
          <a:xfrm>
            <a:off x="429768" y="4544568"/>
            <a:ext cx="3611880" cy="176479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75488" y="4727448"/>
          <a:ext cx="1691640" cy="1325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886968" y="5202936"/>
            <a:ext cx="868680" cy="38404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NOKm</a:t>
            </a:r>
            <a:endParaRPr sz="800"/>
          </a:p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5,509</a:t>
            </a:r>
            <a:endParaRPr sz="800"/>
          </a:p>
        </p:txBody>
      </p:sp>
      <p:sp>
        <p:nvSpPr>
          <p:cNvPr id="41" name="TextBox 40"/>
          <p:cNvSpPr txBox="1"/>
          <p:nvPr/>
        </p:nvSpPr>
        <p:spPr>
          <a:xfrm>
            <a:off x="475488" y="4572000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Revenue</a:t>
            </a:r>
            <a:endParaRPr sz="900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2258568" y="4727448"/>
          <a:ext cx="1691640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2670048" y="5202936"/>
            <a:ext cx="868680" cy="38404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755k</a:t>
            </a:r>
            <a:endParaRPr sz="800"/>
          </a:p>
        </p:txBody>
      </p:sp>
      <p:sp>
        <p:nvSpPr>
          <p:cNvPr id="44" name="TextBox 43"/>
          <p:cNvSpPr txBox="1"/>
          <p:nvPr/>
        </p:nvSpPr>
        <p:spPr>
          <a:xfrm>
            <a:off x="2258568" y="4572000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Members</a:t>
            </a:r>
            <a:endParaRPr sz="900"/>
          </a:p>
        </p:txBody>
      </p:sp>
      <p:sp>
        <p:nvSpPr>
          <p:cNvPr id="45" name="Rectangle 44"/>
          <p:cNvSpPr/>
          <p:nvPr/>
        </p:nvSpPr>
        <p:spPr>
          <a:xfrm>
            <a:off x="658368" y="6108192"/>
            <a:ext cx="109728" cy="10972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04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Norway</a:t>
            </a:r>
            <a:endParaRPr sz="800"/>
          </a:p>
        </p:txBody>
      </p:sp>
      <p:sp>
        <p:nvSpPr>
          <p:cNvPr id="47" name="Rectangle 46"/>
          <p:cNvSpPr/>
          <p:nvPr/>
        </p:nvSpPr>
        <p:spPr>
          <a:xfrm>
            <a:off x="1801368" y="6108192"/>
            <a:ext cx="109728" cy="109728"/>
          </a:xfrm>
          <a:prstGeom prst="rect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947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Sweden</a:t>
            </a:r>
            <a:endParaRPr sz="800"/>
          </a:p>
        </p:txBody>
      </p:sp>
      <p:sp>
        <p:nvSpPr>
          <p:cNvPr id="49" name="Rectangle 48"/>
          <p:cNvSpPr/>
          <p:nvPr/>
        </p:nvSpPr>
        <p:spPr>
          <a:xfrm>
            <a:off x="2944368" y="6108192"/>
            <a:ext cx="109728" cy="109728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090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Finland &amp; Denmark</a:t>
            </a:r>
            <a:endParaRPr sz="800"/>
          </a:p>
        </p:txBody>
      </p:sp>
      <p:sp>
        <p:nvSpPr>
          <p:cNvPr id="51" name="TextBox 50"/>
          <p:cNvSpPr txBox="1"/>
          <p:nvPr/>
        </p:nvSpPr>
        <p:spPr>
          <a:xfrm>
            <a:off x="4270248" y="416052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Consistent growth with margin expansion</a:t>
            </a:r>
            <a:endParaRPr sz="1200"/>
          </a:p>
        </p:txBody>
      </p:sp>
      <p:cxnSp>
        <p:nvCxnSpPr>
          <p:cNvPr id="52" name="Connector 51"/>
          <p:cNvCxnSpPr/>
          <p:nvPr/>
        </p:nvCxnSpPr>
        <p:spPr>
          <a:xfrm>
            <a:off x="4270248" y="4462272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57123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5</a:t>
            </a:r>
            <a:endParaRPr sz="1200"/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4270248" y="4572000"/>
          <a:ext cx="3611880" cy="1783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8110727" y="4160520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…and returns well above the cost of capital</a:t>
            </a:r>
            <a:endParaRPr sz="1200"/>
          </a:p>
        </p:txBody>
      </p:sp>
      <p:cxnSp>
        <p:nvCxnSpPr>
          <p:cNvPr id="56" name="Connector 55"/>
          <p:cNvCxnSpPr/>
          <p:nvPr/>
        </p:nvCxnSpPr>
        <p:spPr>
          <a:xfrm>
            <a:off x="8110727" y="4462272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45743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6</a:t>
            </a:r>
            <a:endParaRPr sz="1200"/>
          </a:p>
        </p:txBody>
      </p:sp>
      <p:sp>
        <p:nvSpPr>
          <p:cNvPr id="58" name="Rectangle 57"/>
          <p:cNvSpPr/>
          <p:nvPr/>
        </p:nvSpPr>
        <p:spPr>
          <a:xfrm>
            <a:off x="8110727" y="4544568"/>
            <a:ext cx="365760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8110727" y="4572000"/>
          <a:ext cx="3657597" cy="179222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237533"/>
                <a:gridCol w="403344"/>
                <a:gridCol w="403344"/>
                <a:gridCol w="403344"/>
                <a:gridCol w="403344"/>
                <a:gridCol w="403344"/>
                <a:gridCol w="403344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Profitability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EBITDA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37.7%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Returns &amp; cash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ROIC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15.3%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22.4%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FCF yield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Dividend yield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#2 Leading positions in every Nordic market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is #1 in Norway, Sweden and Finland and #2 in Denmark – price, utilisation and new clubs drive growth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SATS ASA interim reports and the Q2 2026 presentation (clubs, members, revenue per member, market positions, committed pipeline); Nordic fitness members (5.2m, 2025): EuropeActive/Deloitte European Health &amp; Fitness Market Report 2025, as quoted in the 2026 Pareto case workbook.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4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8016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More members per club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81912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730752" y="132588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429768" y="1664207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75488" y="1737360"/>
          <a:ext cx="352044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270248" y="128016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per member (NOK/month)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4270248" y="1581912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571232" y="132588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4270248" y="1664207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15968" y="1737360"/>
          <a:ext cx="352044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29768" y="3822191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~15% of all Nordic fitness members</a:t>
            </a:r>
            <a:endParaRPr sz="1200"/>
          </a:p>
        </p:txBody>
      </p:sp>
      <p:cxnSp>
        <p:nvCxnSpPr>
          <p:cNvPr id="22" name="Connector 21"/>
          <p:cNvCxnSpPr/>
          <p:nvPr/>
        </p:nvCxnSpPr>
        <p:spPr>
          <a:xfrm>
            <a:off x="429768" y="4123944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730752" y="3867911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429768" y="4206240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48056" y="4389120"/>
          <a:ext cx="1463040" cy="1645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13816" y="503834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700" b="1" i="0">
                <a:solidFill>
                  <a:srgbClr val="003255"/>
                </a:solidFill>
                <a:latin typeface="Arial"/>
              </a:rPr>
              <a:t>2025</a:t>
            </a:r>
            <a:endParaRPr sz="700"/>
          </a:p>
          <a:p>
            <a:pPr algn="ctr">
              <a:buNone/>
            </a:pPr>
            <a:r>
              <a:rPr sz="700" b="1" i="0">
                <a:solidFill>
                  <a:srgbClr val="003255"/>
                </a:solidFill>
                <a:latin typeface="Arial"/>
              </a:rPr>
              <a:t>Nordics</a:t>
            </a:r>
            <a:endParaRPr sz="700"/>
          </a:p>
        </p:txBody>
      </p:sp>
      <p:sp>
        <p:nvSpPr>
          <p:cNvPr id="27" name="TextBox 26"/>
          <p:cNvSpPr txBox="1"/>
          <p:nvPr/>
        </p:nvSpPr>
        <p:spPr>
          <a:xfrm>
            <a:off x="1965960" y="4389120"/>
            <a:ext cx="1984248" cy="17373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Norway: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120 clubs (78 SATS, 42 Fresh Fitness)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Sweden</a:t>
            </a:r>
            <a:r>
              <a:rPr sz="900" b="0" i="0">
                <a:solidFill>
                  <a:srgbClr val="1F1F1F"/>
                </a:solidFill>
                <a:latin typeface="Arial"/>
              </a:rPr>
              <a:t> by revenue: 93 clubs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Finland</a:t>
            </a:r>
            <a:r>
              <a:rPr sz="900" b="0" i="0">
                <a:solidFill>
                  <a:srgbClr val="1F1F1F"/>
                </a:solidFill>
                <a:latin typeface="Arial"/>
              </a:rPr>
              <a:t> (ELIXIA): 32 clubs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#2 in Denmark: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28 clubs in Greater Copenhagen</a:t>
            </a:r>
            <a:endParaRPr sz="900"/>
          </a:p>
        </p:txBody>
      </p:sp>
      <p:sp>
        <p:nvSpPr>
          <p:cNvPr id="28" name="TextBox 27"/>
          <p:cNvSpPr txBox="1"/>
          <p:nvPr/>
        </p:nvSpPr>
        <p:spPr>
          <a:xfrm>
            <a:off x="4270248" y="3822191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Demand absorbs price increases</a:t>
            </a:r>
            <a:endParaRPr sz="1200"/>
          </a:p>
        </p:txBody>
      </p:sp>
      <p:cxnSp>
        <p:nvCxnSpPr>
          <p:cNvPr id="29" name="Connector 28"/>
          <p:cNvCxnSpPr/>
          <p:nvPr/>
        </p:nvCxnSpPr>
        <p:spPr>
          <a:xfrm>
            <a:off x="4270248" y="4123944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571232" y="3867911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31" name="Rectangle 30"/>
          <p:cNvSpPr/>
          <p:nvPr/>
        </p:nvSpPr>
        <p:spPr>
          <a:xfrm>
            <a:off x="4270248" y="4206240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407408" y="4325112"/>
            <a:ext cx="530352" cy="530352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+3%</a:t>
            </a:r>
            <a:endParaRPr sz="1100"/>
          </a:p>
        </p:txBody>
      </p:sp>
      <p:sp>
        <p:nvSpPr>
          <p:cNvPr id="33" name="TextBox 32"/>
          <p:cNvSpPr txBox="1"/>
          <p:nvPr/>
        </p:nvSpPr>
        <p:spPr>
          <a:xfrm>
            <a:off x="5074920" y="434339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member growth in 2025 on a flat club base – 755,000 members at year end</a:t>
            </a:r>
            <a:endParaRPr sz="950"/>
          </a:p>
        </p:txBody>
      </p:sp>
      <p:sp>
        <p:nvSpPr>
          <p:cNvPr id="34" name="Oval 33"/>
          <p:cNvSpPr/>
          <p:nvPr/>
        </p:nvSpPr>
        <p:spPr>
          <a:xfrm>
            <a:off x="4407408" y="4965192"/>
            <a:ext cx="530352" cy="530352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+7%</a:t>
            </a:r>
            <a:endParaRPr sz="1100"/>
          </a:p>
        </p:txBody>
      </p:sp>
      <p:sp>
        <p:nvSpPr>
          <p:cNvPr id="35" name="TextBox 34"/>
          <p:cNvSpPr txBox="1"/>
          <p:nvPr/>
        </p:nvSpPr>
        <p:spPr>
          <a:xfrm>
            <a:off x="5074920" y="498347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currency-adjusted revenue growth in Q2 2026 with three fewer clubs than a year earlier</a:t>
            </a:r>
            <a:endParaRPr sz="950"/>
          </a:p>
        </p:txBody>
      </p:sp>
      <p:sp>
        <p:nvSpPr>
          <p:cNvPr id="36" name="Oval 35"/>
          <p:cNvSpPr/>
          <p:nvPr/>
        </p:nvSpPr>
        <p:spPr>
          <a:xfrm>
            <a:off x="4407408" y="5605271"/>
            <a:ext cx="530352" cy="530352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13</a:t>
            </a:r>
            <a:endParaRPr sz="1100"/>
          </a:p>
        </p:txBody>
      </p:sp>
      <p:sp>
        <p:nvSpPr>
          <p:cNvPr id="37" name="TextBox 36"/>
          <p:cNvSpPr txBox="1"/>
          <p:nvPr/>
        </p:nvSpPr>
        <p:spPr>
          <a:xfrm>
            <a:off x="5074920" y="562355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club openings committed through 2028; a run-rate of 8-12 a year is targeted from 2027</a:t>
            </a:r>
            <a:endParaRPr sz="950"/>
          </a:p>
        </p:txBody>
      </p:sp>
      <p:sp>
        <p:nvSpPr>
          <p:cNvPr id="38" name="Rectangle 37"/>
          <p:cNvSpPr/>
          <p:nvPr/>
        </p:nvSpPr>
        <p:spPr>
          <a:xfrm>
            <a:off x="8110727" y="1280160"/>
            <a:ext cx="3657600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Opportunities</a:t>
            </a:r>
            <a:endParaRPr sz="1200"/>
          </a:p>
        </p:txBody>
      </p:sp>
      <p:sp>
        <p:nvSpPr>
          <p:cNvPr id="39" name="Rectangle 38"/>
          <p:cNvSpPr/>
          <p:nvPr/>
        </p:nvSpPr>
        <p:spPr>
          <a:xfrm>
            <a:off x="8110727" y="1627631"/>
            <a:ext cx="3657600" cy="13716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220455" y="1709928"/>
            <a:ext cx="3438144" cy="12344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Price increases above cost inflation</a:t>
            </a:r>
            <a:r>
              <a:rPr sz="950" b="0" i="0">
                <a:solidFill>
                  <a:srgbClr val="1F1F1F"/>
                </a:solidFill>
                <a:latin typeface="Arial"/>
              </a:rPr>
              <a:t> backed by product tiers and upgrades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Higher utilisation: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more members per club at near-zero marginal cost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Roll-out: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8-12 new clubs a year at NOK 7-8m each with a ~3-year payback</a:t>
            </a:r>
            <a:endParaRPr sz="950"/>
          </a:p>
        </p:txBody>
      </p:sp>
      <p:sp>
        <p:nvSpPr>
          <p:cNvPr id="41" name="Rectangle 40"/>
          <p:cNvSpPr/>
          <p:nvPr/>
        </p:nvSpPr>
        <p:spPr>
          <a:xfrm>
            <a:off x="8110727" y="3136391"/>
            <a:ext cx="3657600" cy="310896"/>
          </a:xfrm>
          <a:prstGeom prst="rect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Disruption</a:t>
            </a:r>
            <a:endParaRPr sz="1200"/>
          </a:p>
        </p:txBody>
      </p:sp>
      <p:sp>
        <p:nvSpPr>
          <p:cNvPr id="42" name="Rectangle 41"/>
          <p:cNvSpPr/>
          <p:nvPr/>
        </p:nvSpPr>
        <p:spPr>
          <a:xfrm>
            <a:off x="8110727" y="3483863"/>
            <a:ext cx="3657600" cy="10515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220455" y="3566159"/>
            <a:ext cx="3438144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Boutique studios and digital training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met with premium concepts inside the clubs and the SATS app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Low-cost segment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addressed with Fresh Fitness (42 clubs in Norway)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GLP-1 weight-loss drugs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so far neutral to positive: users join to keep muscle mass</a:t>
            </a:r>
            <a:endParaRPr sz="950"/>
          </a:p>
        </p:txBody>
      </p:sp>
      <p:sp>
        <p:nvSpPr>
          <p:cNvPr id="44" name="Rectangle 43"/>
          <p:cNvSpPr/>
          <p:nvPr/>
        </p:nvSpPr>
        <p:spPr>
          <a:xfrm>
            <a:off x="8110727" y="4672583"/>
            <a:ext cx="365760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Threats</a:t>
            </a:r>
            <a:endParaRPr sz="1200"/>
          </a:p>
        </p:txBody>
      </p:sp>
      <p:sp>
        <p:nvSpPr>
          <p:cNvPr id="45" name="Rectangle 44"/>
          <p:cNvSpPr/>
          <p:nvPr/>
        </p:nvSpPr>
        <p:spPr>
          <a:xfrm>
            <a:off x="8110727" y="5020055"/>
            <a:ext cx="3657600" cy="10515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0455" y="5102351"/>
            <a:ext cx="3438144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Low-cost expansion</a:t>
            </a:r>
            <a:r>
              <a:rPr sz="950" b="0" i="0">
                <a:solidFill>
                  <a:srgbClr val="1F1F1F"/>
                </a:solidFill>
                <a:latin typeface="Arial"/>
              </a:rPr>
              <a:t> in the big cities could cap pricing power – Sweden is the contested market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Regulation: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Denmark's VAT on group training and PT (2026) cut the Danish member base by 4%</a:t>
            </a:r>
            <a:endParaRPr sz="9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New locations, like-for-like and price drive a 5.1% revenue CAGR 2025–30E, with EBIT margins expanding to 14%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Company reports, case team estimates (see Excel model: Model, DCF and Comps sheets). Peer multiples: Yahoo Finance consensus (Oct 2026).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5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71597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Financial summary (NOKm)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71140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62672" y="130759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9768" y="1847088"/>
          <a:ext cx="7543796" cy="24643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43700"/>
                <a:gridCol w="725012"/>
                <a:gridCol w="725012"/>
                <a:gridCol w="725012"/>
                <a:gridCol w="725012"/>
                <a:gridCol w="725012"/>
                <a:gridCol w="725012"/>
                <a:gridCol w="725012"/>
                <a:gridCol w="725012"/>
              </a:tblGrid>
              <a:tr h="214884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4,734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5,064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5,509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5,665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5,952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6,301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6,683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7,075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Growth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16.0%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7.0%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8.8%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2.8%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6.1%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EBITDA (reported)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1,784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1,941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2,109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2,203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2,342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2,500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2,675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2,854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37.7%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39.4%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39.7%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40.0%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40.3%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 adj.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375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521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647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719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797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864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1,020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7.9%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12.7%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13.7%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14.1%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14.4%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Net profit to shareholders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326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523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577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629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686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EPS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1.10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1.59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2.39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2.87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3.31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3.77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4.30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4.88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DPS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1.30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1.65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2.07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2.37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2.93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Free cash flow to firm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356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446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519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508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590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651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707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ROIC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25.0%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26.3%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NIBD / EBITDAaL (x)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2173468" y="1645920"/>
            <a:ext cx="2156749" cy="173736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Historical</a:t>
            </a:r>
            <a:endParaRPr sz="800"/>
          </a:p>
        </p:txBody>
      </p:sp>
      <p:sp>
        <p:nvSpPr>
          <p:cNvPr id="16" name="Rectangle 15"/>
          <p:cNvSpPr/>
          <p:nvPr/>
        </p:nvSpPr>
        <p:spPr>
          <a:xfrm>
            <a:off x="4348505" y="1645920"/>
            <a:ext cx="3625062" cy="17373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Forecast</a:t>
            </a:r>
            <a:endParaRPr sz="800"/>
          </a:p>
        </p:txBody>
      </p:sp>
      <p:sp>
        <p:nvSpPr>
          <p:cNvPr id="17" name="TextBox 16"/>
          <p:cNvSpPr txBox="1"/>
          <p:nvPr/>
        </p:nvSpPr>
        <p:spPr>
          <a:xfrm>
            <a:off x="429768" y="437083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Growth: new locations, like-for-like, price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429768" y="4672584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776472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29768" y="4754880"/>
          <a:ext cx="3657600" cy="15727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315968" y="437083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by scenario (NOKm)</a:t>
            </a:r>
            <a:endParaRPr sz="1200"/>
          </a:p>
        </p:txBody>
      </p:sp>
      <p:cxnSp>
        <p:nvCxnSpPr>
          <p:cNvPr id="22" name="Connector 21"/>
          <p:cNvCxnSpPr/>
          <p:nvPr/>
        </p:nvCxnSpPr>
        <p:spPr>
          <a:xfrm>
            <a:off x="4315968" y="4672584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62671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4315968" y="4754880"/>
          <a:ext cx="365760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202168" y="1261872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Financial commentary</a:t>
            </a:r>
            <a:endParaRPr sz="1200"/>
          </a:p>
        </p:txBody>
      </p:sp>
      <p:cxnSp>
        <p:nvCxnSpPr>
          <p:cNvPr id="26" name="Connector 25"/>
          <p:cNvCxnSpPr/>
          <p:nvPr/>
        </p:nvCxnSpPr>
        <p:spPr>
          <a:xfrm>
            <a:off x="8202168" y="1563624"/>
            <a:ext cx="313639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57432" y="130759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28" name="Rectangle 27"/>
          <p:cNvSpPr/>
          <p:nvPr/>
        </p:nvSpPr>
        <p:spPr>
          <a:xfrm>
            <a:off x="8202168" y="1645920"/>
            <a:ext cx="3566160" cy="26974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11896" y="1719072"/>
            <a:ext cx="3346704" cy="2606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5.1% revenue CAGR</a:t>
            </a:r>
            <a:r>
              <a:rPr sz="900" b="0" i="0">
                <a:solidFill>
                  <a:srgbClr val="1F1F1F"/>
                </a:solidFill>
                <a:latin typeface="Arial"/>
              </a:rPr>
              <a:t> 2025–30E: new locations add ~1.5pp, like-for-like ~0.8pp and price/mix ~2.9pp p.a.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Operating leverage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lifts EBIT adj. margin from 11.7% to 14.4% as fixed costs and rent grow with inflation and locations, not with sales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Growth is paid for: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31 openings at ~NOK 9m each lift capex to 5.0% of sales (5.6% in 2025A)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Highly cash generative: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~53% of EBITDAaL converts to FCFF; negative working capital funds growth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ROIC of 26% by 2030E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– far above our 9.1% WACC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Shareholder returns: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payout from 50% to 60%; cash above 1.25x NIBD/EBITDAaL funds buybacks – NOK 1,888m over 2026–30E</a:t>
            </a:r>
            <a:endParaRPr sz="900"/>
          </a:p>
        </p:txBody>
      </p:sp>
      <p:sp>
        <p:nvSpPr>
          <p:cNvPr id="30" name="TextBox 29"/>
          <p:cNvSpPr txBox="1"/>
          <p:nvPr/>
        </p:nvSpPr>
        <p:spPr>
          <a:xfrm>
            <a:off x="8202168" y="4370832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Our estimates vs. consensus</a:t>
            </a:r>
            <a:endParaRPr sz="1200"/>
          </a:p>
        </p:txBody>
      </p:sp>
      <p:cxnSp>
        <p:nvCxnSpPr>
          <p:cNvPr id="31" name="Connector 30"/>
          <p:cNvCxnSpPr/>
          <p:nvPr/>
        </p:nvCxnSpPr>
        <p:spPr>
          <a:xfrm>
            <a:off x="8202168" y="4672584"/>
            <a:ext cx="313639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1457432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5</a:t>
            </a:r>
            <a:endParaRPr sz="1200"/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8202168" y="4782312"/>
          <a:ext cx="3566160" cy="108813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097280"/>
                <a:gridCol w="822960"/>
                <a:gridCol w="822960"/>
                <a:gridCol w="822960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vs. consensus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0000"/>
                          </a:solidFill>
                          <a:latin typeface="Arial"/>
                        </a:rPr>
                        <a:t>-0.8%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0000"/>
                          </a:solidFill>
                          <a:latin typeface="Arial"/>
                        </a:rPr>
                        <a:t>-1.5%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EBITDA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EPS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-1.1%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-5.8%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8202168" y="5907024"/>
            <a:ext cx="356616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1" i="0">
                <a:solidFill>
                  <a:srgbClr val="1F1F1F"/>
                </a:solidFill>
                <a:latin typeface="Arial"/>
              </a:rPr>
              <a:t>Where we differ – operating leverage.</a:t>
            </a:r>
            <a:r>
              <a:rPr sz="750" b="0" i="0">
                <a:solidFill>
                  <a:srgbClr val="1F1F1F"/>
                </a:solidFill>
                <a:latin typeface="Arial"/>
              </a:rPr>
              <a:t> Consensus: Close to us for 2026 and ~6% above us on 2027 EPS; the share price implies only ~12.3% in 2033 (11.7% today). We: EBIT adj. margin rises from 11.7% (2025) to 15.1% by 2033 on a largely fixed cost base.</a:t>
            </a:r>
            <a:endParaRPr sz="7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We recommend BUY with a target price of NOK 54 – 36% upside and 39% expected total return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DCF and peer analysis; peer multiples from Yahoo Finance consensus (Oct 2026). (1) TP = 70% DCF + 30% peer multiples, rolled forward 12 months at the cost of equity less next year's dividend.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6</a:t>
            </a:r>
            <a:endParaRPr sz="900"/>
          </a:p>
        </p:txBody>
      </p:sp>
      <p:sp>
        <p:nvSpPr>
          <p:cNvPr id="11" name="Rectangle 10"/>
          <p:cNvSpPr/>
          <p:nvPr/>
        </p:nvSpPr>
        <p:spPr>
          <a:xfrm>
            <a:off x="429768" y="1243584"/>
            <a:ext cx="11338559" cy="5029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Our take: at NOK 40 the market prices in an EBIT margin of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12.3%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in 2033E – above the 11.7% SATS earns today. We see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15.1%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as fixed costs are spread over more locations. DCF NOK 51 and peers NOK 50 both point higher: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12-month target price NOK 54</a:t>
            </a:r>
            <a:r>
              <a:rPr sz="1050" b="0" i="0">
                <a:solidFill>
                  <a:srgbClr val="FFFFFF"/>
                </a:solidFill>
                <a:latin typeface="Arial"/>
              </a:rPr>
              <a:t>(1),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BUY</a:t>
            </a:r>
            <a:r>
              <a:rPr sz="1050" b="0" i="0">
                <a:solidFill>
                  <a:srgbClr val="FFFFFF"/>
                </a:solidFill>
                <a:latin typeface="Arial"/>
              </a:rPr>
              <a:t>.</a:t>
            </a:r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429768" y="184708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BUY – TP NOK 54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148840"/>
            <a:ext cx="425196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29768" y="2231136"/>
            <a:ext cx="4297680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9496" y="2304288"/>
            <a:ext cx="4078224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Little operating leverage priced in: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the share price implies a 12.3% EBIT margin in 2033E (11.7% today) – we model 15.1%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Growth engine intact: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revenue per member, members per club and 7-8 net openings a year (13 committed through 2028, target 8-12)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Cash machine: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FCF yield rising to 8% by 2029E funds rising dividends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Asymmetric risk/reward: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bull NOK 74 vs. bear NOK 28 per share (DCF)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Catalysts: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Q3 report 27 Oct 2026 (margins), the next buyback programme, the 2027 opening pipeline</a:t>
            </a:r>
            <a:endParaRPr sz="950"/>
          </a:p>
        </p:txBody>
      </p:sp>
      <p:sp>
        <p:nvSpPr>
          <p:cNvPr id="16" name="TextBox 15"/>
          <p:cNvSpPr txBox="1"/>
          <p:nvPr/>
        </p:nvSpPr>
        <p:spPr>
          <a:xfrm>
            <a:off x="429768" y="411480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Valuation summary – football field (NOK/share)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429768" y="4416552"/>
            <a:ext cx="425196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29768" y="4681728"/>
          <a:ext cx="42976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366455" y="4857140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35</a:t>
            </a:r>
            <a:endParaRPr sz="800"/>
          </a:p>
        </p:txBody>
      </p:sp>
      <p:sp>
        <p:nvSpPr>
          <p:cNvPr id="20" name="TextBox 19"/>
          <p:cNvSpPr txBox="1"/>
          <p:nvPr/>
        </p:nvSpPr>
        <p:spPr>
          <a:xfrm>
            <a:off x="3515753" y="4857140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47</a:t>
            </a:r>
            <a:endParaRPr sz="800"/>
          </a:p>
        </p:txBody>
      </p:sp>
      <p:sp>
        <p:nvSpPr>
          <p:cNvPr id="21" name="TextBox 20"/>
          <p:cNvSpPr txBox="1"/>
          <p:nvPr/>
        </p:nvSpPr>
        <p:spPr>
          <a:xfrm>
            <a:off x="2522554" y="5079949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46</a:t>
            </a:r>
            <a:endParaRPr sz="800"/>
          </a:p>
        </p:txBody>
      </p:sp>
      <p:sp>
        <p:nvSpPr>
          <p:cNvPr id="22" name="TextBox 21"/>
          <p:cNvSpPr txBox="1"/>
          <p:nvPr/>
        </p:nvSpPr>
        <p:spPr>
          <a:xfrm>
            <a:off x="3584251" y="5079949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56</a:t>
            </a:r>
            <a:endParaRPr sz="800"/>
          </a:p>
        </p:txBody>
      </p:sp>
      <p:sp>
        <p:nvSpPr>
          <p:cNvPr id="23" name="TextBox 22"/>
          <p:cNvSpPr txBox="1"/>
          <p:nvPr/>
        </p:nvSpPr>
        <p:spPr>
          <a:xfrm>
            <a:off x="2104452" y="5302758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28</a:t>
            </a:r>
            <a:endParaRPr sz="800"/>
          </a:p>
        </p:txBody>
      </p:sp>
      <p:sp>
        <p:nvSpPr>
          <p:cNvPr id="24" name="TextBox 23"/>
          <p:cNvSpPr txBox="1"/>
          <p:nvPr/>
        </p:nvSpPr>
        <p:spPr>
          <a:xfrm>
            <a:off x="4215716" y="5302758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74</a:t>
            </a:r>
            <a:endParaRPr sz="800"/>
          </a:p>
        </p:txBody>
      </p:sp>
      <p:sp>
        <p:nvSpPr>
          <p:cNvPr id="25" name="TextBox 24"/>
          <p:cNvSpPr txBox="1"/>
          <p:nvPr/>
        </p:nvSpPr>
        <p:spPr>
          <a:xfrm>
            <a:off x="2522554" y="5525566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42</a:t>
            </a:r>
            <a:endParaRPr sz="800"/>
          </a:p>
        </p:txBody>
      </p:sp>
      <p:sp>
        <p:nvSpPr>
          <p:cNvPr id="26" name="TextBox 25"/>
          <p:cNvSpPr txBox="1"/>
          <p:nvPr/>
        </p:nvSpPr>
        <p:spPr>
          <a:xfrm>
            <a:off x="3517859" y="5525566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55</a:t>
            </a:r>
            <a:endParaRPr sz="800"/>
          </a:p>
        </p:txBody>
      </p:sp>
      <p:sp>
        <p:nvSpPr>
          <p:cNvPr id="27" name="TextBox 26"/>
          <p:cNvSpPr txBox="1"/>
          <p:nvPr/>
        </p:nvSpPr>
        <p:spPr>
          <a:xfrm>
            <a:off x="2522554" y="5748375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45</a:t>
            </a:r>
            <a:endParaRPr sz="800"/>
          </a:p>
        </p:txBody>
      </p:sp>
      <p:sp>
        <p:nvSpPr>
          <p:cNvPr id="28" name="TextBox 27"/>
          <p:cNvSpPr txBox="1"/>
          <p:nvPr/>
        </p:nvSpPr>
        <p:spPr>
          <a:xfrm>
            <a:off x="4103071" y="5748375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71</a:t>
            </a:r>
            <a:endParaRPr sz="800"/>
          </a:p>
        </p:txBody>
      </p:sp>
      <p:sp>
        <p:nvSpPr>
          <p:cNvPr id="29" name="TextBox 28"/>
          <p:cNvSpPr txBox="1"/>
          <p:nvPr/>
        </p:nvSpPr>
        <p:spPr>
          <a:xfrm>
            <a:off x="2522554" y="597118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42</a:t>
            </a:r>
            <a:endParaRPr sz="800"/>
          </a:p>
        </p:txBody>
      </p:sp>
      <p:sp>
        <p:nvSpPr>
          <p:cNvPr id="30" name="TextBox 29"/>
          <p:cNvSpPr txBox="1"/>
          <p:nvPr/>
        </p:nvSpPr>
        <p:spPr>
          <a:xfrm>
            <a:off x="3722331" y="597118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60</a:t>
            </a:r>
            <a:endParaRPr sz="800"/>
          </a:p>
        </p:txBody>
      </p:sp>
      <p:cxnSp>
        <p:nvCxnSpPr>
          <p:cNvPr id="31" name="Connector 30"/>
          <p:cNvCxnSpPr/>
          <p:nvPr/>
        </p:nvCxnSpPr>
        <p:spPr>
          <a:xfrm>
            <a:off x="2952322" y="4818888"/>
            <a:ext cx="0" cy="135514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41286" y="4818888"/>
            <a:ext cx="0" cy="1355140"/>
          </a:xfrm>
          <a:prstGeom prst="line">
            <a:avLst/>
          </a:prstGeom>
          <a:ln w="1905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70033" y="4818888"/>
            <a:ext cx="0" cy="1355140"/>
          </a:xfrm>
          <a:prstGeom prst="line">
            <a:avLst/>
          </a:prstGeom>
          <a:ln w="15875">
            <a:solidFill>
              <a:srgbClr val="2E7D3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31114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800" b="1" i="0">
                <a:solidFill>
                  <a:srgbClr val="C00000"/>
                </a:solidFill>
                <a:latin typeface="Arial"/>
              </a:rPr>
              <a:t>40</a:t>
            </a:r>
            <a:endParaRPr sz="800"/>
          </a:p>
        </p:txBody>
      </p:sp>
      <p:sp>
        <p:nvSpPr>
          <p:cNvPr id="35" name="TextBox 34"/>
          <p:cNvSpPr txBox="1"/>
          <p:nvPr/>
        </p:nvSpPr>
        <p:spPr>
          <a:xfrm>
            <a:off x="2820078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50</a:t>
            </a:r>
            <a:endParaRPr sz="800"/>
          </a:p>
        </p:txBody>
      </p:sp>
      <p:sp>
        <p:nvSpPr>
          <p:cNvPr id="36" name="TextBox 35"/>
          <p:cNvSpPr txBox="1"/>
          <p:nvPr/>
        </p:nvSpPr>
        <p:spPr>
          <a:xfrm>
            <a:off x="3488321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2E7D32"/>
                </a:solidFill>
                <a:latin typeface="Arial"/>
              </a:rPr>
              <a:t>54</a:t>
            </a:r>
            <a:endParaRPr sz="800"/>
          </a:p>
        </p:txBody>
      </p:sp>
      <p:cxnSp>
        <p:nvCxnSpPr>
          <p:cNvPr id="37" name="Connector 36"/>
          <p:cNvCxnSpPr/>
          <p:nvPr/>
        </p:nvCxnSpPr>
        <p:spPr>
          <a:xfrm>
            <a:off x="521207" y="6309360"/>
            <a:ext cx="228601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7" y="6217920"/>
            <a:ext cx="10058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Share price</a:t>
            </a:r>
            <a:endParaRPr sz="750"/>
          </a:p>
        </p:txBody>
      </p:sp>
      <p:cxnSp>
        <p:nvCxnSpPr>
          <p:cNvPr id="39" name="Connector 38"/>
          <p:cNvCxnSpPr/>
          <p:nvPr/>
        </p:nvCxnSpPr>
        <p:spPr>
          <a:xfrm>
            <a:off x="1664207" y="6309360"/>
            <a:ext cx="228600" cy="0"/>
          </a:xfrm>
          <a:prstGeom prst="line">
            <a:avLst/>
          </a:prstGeom>
          <a:ln w="1905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8528" y="6217920"/>
            <a:ext cx="109728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Fair value today</a:t>
            </a:r>
            <a:endParaRPr sz="750"/>
          </a:p>
        </p:txBody>
      </p:sp>
      <p:cxnSp>
        <p:nvCxnSpPr>
          <p:cNvPr id="41" name="Connector 40"/>
          <p:cNvCxnSpPr/>
          <p:nvPr/>
        </p:nvCxnSpPr>
        <p:spPr>
          <a:xfrm>
            <a:off x="3035808" y="6309360"/>
            <a:ext cx="228600" cy="0"/>
          </a:xfrm>
          <a:prstGeom prst="line">
            <a:avLst/>
          </a:prstGeom>
          <a:ln w="15875">
            <a:solidFill>
              <a:srgbClr val="2E7D3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10127" y="6217920"/>
            <a:ext cx="19202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12m target price (rolled forward)</a:t>
            </a:r>
            <a:endParaRPr sz="750"/>
          </a:p>
        </p:txBody>
      </p:sp>
      <p:cxnSp>
        <p:nvCxnSpPr>
          <p:cNvPr id="43" name="Connector 42"/>
          <p:cNvCxnSpPr/>
          <p:nvPr/>
        </p:nvCxnSpPr>
        <p:spPr>
          <a:xfrm>
            <a:off x="4937760" y="1874519"/>
            <a:ext cx="0" cy="4389121"/>
          </a:xfrm>
          <a:prstGeom prst="line">
            <a:avLst/>
          </a:prstGeom>
          <a:ln w="9525">
            <a:solidFill>
              <a:srgbClr val="C8CD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38928" y="1847088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DCF valuation – sensitivity analysis (NOK per share)</a:t>
            </a:r>
            <a:endParaRPr sz="1200"/>
          </a:p>
        </p:txBody>
      </p:sp>
      <p:cxnSp>
        <p:nvCxnSpPr>
          <p:cNvPr id="45" name="Connector 44"/>
          <p:cNvCxnSpPr/>
          <p:nvPr/>
        </p:nvCxnSpPr>
        <p:spPr>
          <a:xfrm>
            <a:off x="5138928" y="2148840"/>
            <a:ext cx="658368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5138928" y="2276856"/>
          <a:ext cx="4800598" cy="155448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46153"/>
                <a:gridCol w="564776"/>
                <a:gridCol w="555667"/>
                <a:gridCol w="555667"/>
                <a:gridCol w="555667"/>
                <a:gridCol w="555667"/>
                <a:gridCol w="555667"/>
                <a:gridCol w="555667"/>
                <a:gridCol w="555667"/>
              </a:tblGrid>
              <a:tr h="237744">
                <a:tc rowSpan="2" gridSpan="2">
                  <a:txBody>
                    <a:bodyPr wrap="square"/>
                    <a:lstStyle/>
                    <a:p>
                      <a:pPr algn="l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rowSpan="2"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9456">
                <a:tc gridSpan="2"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 vMerge="1"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7.56%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8.06%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8.56%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9.06%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9.56%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10.06%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10.56%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9456">
                <a:tc rowSpan="5"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FFFFFF"/>
                          </a:solidFill>
                          <a:latin typeface="Arial"/>
                        </a:rPr>
                        <a:t>Terminal growth</a:t>
                      </a:r>
                      <a:endParaRPr sz="900"/>
                    </a:p>
                  </a:txBody>
                  <a:tcPr marL="36576" marR="36576" marT="0" marB="0" anchor="ctr" vert="vert27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57.5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52.8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48.8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45.3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42.2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39.5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64.5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58.8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53.9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49.7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46.1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40.0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66.3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60.3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55.1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50.7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9EC3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46.9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43.5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40.6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68.3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61.8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56.4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51.7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47.7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44.3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41.2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2.50%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70.5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63.6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57.8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48.7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45.0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41.8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10076688" y="2276856"/>
            <a:ext cx="169164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76688" y="2276856"/>
            <a:ext cx="1691640" cy="1572768"/>
          </a:xfrm>
          <a:prstGeom prst="rect">
            <a:avLst/>
          </a:prstGeom>
          <a:noFill/>
          <a:ln w="9525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9" name="Chart 48"/>
          <p:cNvGraphicFramePr>
            <a:graphicFrameLocks noGrp="1"/>
          </p:cNvGraphicFramePr>
          <p:nvPr/>
        </p:nvGraphicFramePr>
        <p:xfrm>
          <a:off x="10149840" y="2487168"/>
          <a:ext cx="1545336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0" name="Oval 49"/>
          <p:cNvSpPr/>
          <p:nvPr/>
        </p:nvSpPr>
        <p:spPr>
          <a:xfrm>
            <a:off x="11014176" y="2352971"/>
            <a:ext cx="512064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 i="0">
                <a:solidFill>
                  <a:srgbClr val="1F1F1F"/>
                </a:solidFill>
                <a:latin typeface="Arial"/>
              </a:rPr>
              <a:t>+28%</a:t>
            </a:r>
            <a:endParaRPr sz="800"/>
          </a:p>
        </p:txBody>
      </p:sp>
      <p:cxnSp>
        <p:nvCxnSpPr>
          <p:cNvPr id="51" name="Connector 50"/>
          <p:cNvCxnSpPr/>
          <p:nvPr/>
        </p:nvCxnSpPr>
        <p:spPr>
          <a:xfrm>
            <a:off x="11270208" y="2554139"/>
            <a:ext cx="0" cy="9144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138928" y="41148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What the market is pricing in (reverse DCF)</a:t>
            </a:r>
            <a:endParaRPr sz="1200"/>
          </a:p>
        </p:txBody>
      </p:sp>
      <p:cxnSp>
        <p:nvCxnSpPr>
          <p:cNvPr id="53" name="Connector 52"/>
          <p:cNvCxnSpPr/>
          <p:nvPr/>
        </p:nvCxnSpPr>
        <p:spPr>
          <a:xfrm>
            <a:off x="5138928" y="4416552"/>
            <a:ext cx="658368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138928" y="4498848"/>
            <a:ext cx="4800600" cy="181051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5230368" y="4590288"/>
          <a:ext cx="4617717" cy="8641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04214"/>
                <a:gridCol w="904501"/>
                <a:gridCol w="904501"/>
                <a:gridCol w="904501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Market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 2033E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12.3%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Revenue CAGR 2025–33E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4.5%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5248656" y="5532120"/>
            <a:ext cx="4581144" cy="7772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Little operating leverage priced in: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the market's 2033E margin is only 0.6pp above today's and 2.8pp below ours</a:t>
            </a:r>
            <a:endParaRPr sz="90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Each 1pp of margin is worth NOK 4.0 per share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– our upside rests on margins, not on multiples</a:t>
            </a:r>
            <a:endParaRPr sz="900"/>
          </a:p>
        </p:txBody>
      </p:sp>
      <p:sp>
        <p:nvSpPr>
          <p:cNvPr id="57" name="Rectangle 56"/>
          <p:cNvSpPr/>
          <p:nvPr/>
        </p:nvSpPr>
        <p:spPr>
          <a:xfrm>
            <a:off x="10076688" y="4498848"/>
            <a:ext cx="1691640" cy="1810512"/>
          </a:xfrm>
          <a:prstGeom prst="rect">
            <a:avLst/>
          </a:prstGeom>
          <a:noFill/>
          <a:ln w="9525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168128" y="4572000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C00000"/>
                </a:solidFill>
                <a:latin typeface="Arial"/>
              </a:rPr>
              <a:t>12.3%</a:t>
            </a:r>
            <a:endParaRPr sz="1700"/>
          </a:p>
        </p:txBody>
      </p:sp>
      <p:sp>
        <p:nvSpPr>
          <p:cNvPr id="59" name="TextBox 58"/>
          <p:cNvSpPr txBox="1"/>
          <p:nvPr/>
        </p:nvSpPr>
        <p:spPr>
          <a:xfrm>
            <a:off x="10168128" y="4873752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Market-implied, 2033E</a:t>
            </a:r>
            <a:endParaRPr sz="750"/>
          </a:p>
        </p:txBody>
      </p:sp>
      <p:sp>
        <p:nvSpPr>
          <p:cNvPr id="60" name="TextBox 59"/>
          <p:cNvSpPr txBox="1"/>
          <p:nvPr/>
        </p:nvSpPr>
        <p:spPr>
          <a:xfrm>
            <a:off x="10168128" y="5138928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003255"/>
                </a:solidFill>
                <a:latin typeface="Arial"/>
              </a:rPr>
              <a:t>15.1%</a:t>
            </a:r>
            <a:endParaRPr sz="1700"/>
          </a:p>
        </p:txBody>
      </p:sp>
      <p:sp>
        <p:nvSpPr>
          <p:cNvPr id="61" name="TextBox 60"/>
          <p:cNvSpPr txBox="1"/>
          <p:nvPr/>
        </p:nvSpPr>
        <p:spPr>
          <a:xfrm>
            <a:off x="10168128" y="5440680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Our base case, 2033E</a:t>
            </a:r>
            <a:endParaRPr sz="750"/>
          </a:p>
        </p:txBody>
      </p:sp>
      <p:sp>
        <p:nvSpPr>
          <p:cNvPr id="62" name="TextBox 61"/>
          <p:cNvSpPr txBox="1"/>
          <p:nvPr/>
        </p:nvSpPr>
        <p:spPr>
          <a:xfrm>
            <a:off x="10168128" y="5705856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6B7480"/>
                </a:solidFill>
                <a:latin typeface="Arial"/>
              </a:rPr>
              <a:t>11.7%</a:t>
            </a:r>
            <a:endParaRPr sz="1700"/>
          </a:p>
        </p:txBody>
      </p:sp>
      <p:sp>
        <p:nvSpPr>
          <p:cNvPr id="63" name="TextBox 62"/>
          <p:cNvSpPr txBox="1"/>
          <p:nvPr/>
        </p:nvSpPr>
        <p:spPr>
          <a:xfrm>
            <a:off x="10168128" y="6007608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Today (2025A)</a:t>
            </a:r>
            <a:endParaRPr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
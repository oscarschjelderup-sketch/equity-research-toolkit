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4F7FA0"/>
              </a:solidFill>
            </c:spPr>
          </c:dPt>
          <c:dPt>
            <c:idx val="2"/>
            <c:spPr>
              <a:solidFill>
                <a:srgbClr val="81B0C0"/>
              </a:solidFill>
            </c:spPr>
          </c:dPt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Finland &amp; Denmark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2472</c:v>
                </c:pt>
                <c:pt idx="1">
                  <c:v>1898</c:v>
                </c:pt>
                <c:pt idx="2">
                  <c:v>1139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2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4F7FA0"/>
              </a:solidFill>
            </c:spPr>
          </c:dPt>
          <c:dPt>
            <c:idx val="2"/>
            <c:spPr>
              <a:solidFill>
                <a:srgbClr val="81B0C0"/>
              </a:solidFill>
            </c:spPr>
          </c:dPt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Finland &amp; Denmark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345</c:v>
                </c:pt>
                <c:pt idx="1">
                  <c:v>256</c:v>
                </c:pt>
                <c:pt idx="2">
                  <c:v>154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2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00"/>
          <c:y val="0.1700"/>
          <c:w val="0.9600"/>
          <c:h val="0.7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4734</c:v>
                </c:pt>
                <c:pt idx="1">
                  <c:v>5064</c:v>
                </c:pt>
                <c:pt idx="2">
                  <c:v>5509</c:v>
                </c:pt>
                <c:pt idx="3">
                  <c:v>5750.541690499999</c:v>
                </c:pt>
                <c:pt idx="4">
                  <c:v>6082.098720965473</c:v>
                </c:pt>
                <c:pt idx="5">
                  <c:v>6469.304083602022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 adj.(1)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375</c:v>
                </c:pt>
                <c:pt idx="1">
                  <c:v>521</c:v>
                </c:pt>
                <c:pt idx="2">
                  <c:v>647</c:v>
                </c:pt>
                <c:pt idx="3">
                  <c:v>756.474970112617</c:v>
                </c:pt>
                <c:pt idx="4">
                  <c:v>837.9352622602976</c:v>
                </c:pt>
                <c:pt idx="5">
                  <c:v>915.9335891910907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 adj. margin</c:v>
                </c:pt>
              </c:strCache>
            </c:strRef>
          </c:tx>
          <c:spPr>
            <a:ln w="28575" cap="rnd">
              <a:solidFill>
                <a:srgbClr val="C9A227"/>
              </a:solidFill>
              <a:round/>
            </a:ln>
          </c:spPr>
          <c:marker>
            <c:symbol val="circle"/>
            <c:size val="5"/>
            <c:spPr>
              <a:solidFill>
                <a:srgbClr val="C9A227"/>
              </a:solidFill>
              <a:ln>
                <a:noFill/>
              </a:ln>
            </c:spPr>
          </c:marker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7A6A1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Sheet1!$D$2:$D$7</c:f>
              <c:numCache>
                <c:formatCode>0</c:formatCode>
                <c:ptCount val="6"/>
                <c:pt idx="0">
                  <c:v>0.07921419518377694</c:v>
                </c:pt>
                <c:pt idx="1">
                  <c:v>0.10288309636650869</c:v>
                </c:pt>
                <c:pt idx="2">
                  <c:v>0.1174441822472318</c:v>
                </c:pt>
                <c:pt idx="3">
                  <c:v>0.13154847157483052</c:v>
                </c:pt>
                <c:pt idx="4">
                  <c:v>0.137770743406691</c:v>
                </c:pt>
                <c:pt idx="5">
                  <c:v>0.14158147110641167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27.421329583134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0.1936"/>
          <c:min val="-0.3262"/>
        </c:scaling>
        <c:delete val="0"/>
        <c:axPos val="r"/>
        <c:numFmt formatCode="0%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Clubs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2019A</c:v>
                </c:pt>
                <c:pt idx="1">
                  <c:v>2020A</c:v>
                </c:pt>
                <c:pt idx="2">
                  <c:v>2021A</c:v>
                </c:pt>
                <c:pt idx="3">
                  <c:v>2022A</c:v>
                </c:pt>
                <c:pt idx="4">
                  <c:v>2023A</c:v>
                </c:pt>
                <c:pt idx="5">
                  <c:v>2024A</c:v>
                </c:pt>
                <c:pt idx="6">
                  <c:v>2025A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248</c:v>
                </c:pt>
                <c:pt idx="1">
                  <c:v>253</c:v>
                </c:pt>
                <c:pt idx="2">
                  <c:v>262</c:v>
                </c:pt>
                <c:pt idx="3">
                  <c:v>275</c:v>
                </c:pt>
                <c:pt idx="4">
                  <c:v>276</c:v>
                </c:pt>
                <c:pt idx="5">
                  <c:v>272</c:v>
                </c:pt>
                <c:pt idx="6">
                  <c:v>273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>
                  <a:solidFill>
                    <a:srgbClr val="003255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Members '000 (rhs)</c:v>
                </c:pt>
              </c:strCache>
            </c:strRef>
          </c:tx>
          <c:spPr>
            <a:ln w="28575" cap="rnd">
              <a:solidFill>
                <a:srgbClr val="003255"/>
              </a:solidFill>
              <a:round/>
            </a:ln>
          </c:spPr>
          <c:marker>
            <c:symbol val="circle"/>
            <c:size val="5"/>
            <c:spPr>
              <a:solidFill>
                <a:srgbClr val="003255"/>
              </a:solidFill>
              <a:ln>
                <a:noFill/>
              </a:ln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003255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2019A</c:v>
                </c:pt>
                <c:pt idx="1">
                  <c:v>2020A</c:v>
                </c:pt>
                <c:pt idx="2">
                  <c:v>2021A</c:v>
                </c:pt>
                <c:pt idx="3">
                  <c:v>2022A</c:v>
                </c:pt>
                <c:pt idx="4">
                  <c:v>2023A</c:v>
                </c:pt>
                <c:pt idx="5">
                  <c:v>2024A</c:v>
                </c:pt>
                <c:pt idx="6">
                  <c:v>2025A</c:v>
                </c:pt>
              </c:strCache>
            </c:strRef>
          </c:cat>
          <c:val>
            <c:numRef>
              <c:f>Sheet1!$C$2:$C$8</c:f>
              <c:numCache>
                <c:formatCode>0</c:formatCode>
                <c:ptCount val="7"/>
                <c:pt idx="0">
                  <c:v>688</c:v>
                </c:pt>
                <c:pt idx="1">
                  <c:v>628</c:v>
                </c:pt>
                <c:pt idx="2">
                  <c:v>668</c:v>
                </c:pt>
                <c:pt idx="3">
                  <c:v>721</c:v>
                </c:pt>
                <c:pt idx="4">
                  <c:v>731</c:v>
                </c:pt>
                <c:pt idx="5">
                  <c:v>733</c:v>
                </c:pt>
                <c:pt idx="6">
                  <c:v>755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2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826.12"/>
          <c:min val="120"/>
        </c:scaling>
        <c:delete val="0"/>
        <c:axPos val="r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Norway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551</c:v>
                </c:pt>
                <c:pt idx="1">
                  <c:v>573</c:v>
                </c:pt>
                <c:pt idx="2">
                  <c:v>608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Sweden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540</c:v>
                </c:pt>
                <c:pt idx="1">
                  <c:v>573</c:v>
                </c:pt>
                <c:pt idx="2">
                  <c:v>627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Finland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0</c:formatCode>
                <c:ptCount val="3"/>
                <c:pt idx="0">
                  <c:v>550</c:v>
                </c:pt>
                <c:pt idx="1">
                  <c:v>588</c:v>
                </c:pt>
                <c:pt idx="2">
                  <c:v>608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Denmark</c:v>
                </c:pt>
              </c:strCache>
            </c:strRef>
          </c:tx>
          <c:spPr>
            <a:solidFill>
              <a:srgbClr val="A9C8D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Sheet1!$E$2:$E$4</c:f>
              <c:numCache>
                <c:formatCode>0</c:formatCode>
                <c:ptCount val="3"/>
                <c:pt idx="0">
                  <c:v>517</c:v>
                </c:pt>
                <c:pt idx="1">
                  <c:v>590</c:v>
                </c:pt>
                <c:pt idx="2">
                  <c:v>628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3.6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C9D1D9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0325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SATS</c:v>
                </c:pt>
                <c:pt idx="1">
                  <c:v>Other operators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0.146</c:v>
                </c:pt>
                <c:pt idx="1">
                  <c:v>0.854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New locations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0.002375613885413143</c:v>
                </c:pt>
                <c:pt idx="1">
                  <c:v>-0.01434218562522112</c:v>
                </c:pt>
                <c:pt idx="2">
                  <c:v>0.004372959985332122</c:v>
                </c:pt>
                <c:pt idx="3">
                  <c:v>0.0025148242270224583</c:v>
                </c:pt>
                <c:pt idx="4">
                  <c:v>0.014342592032979901</c:v>
                </c:pt>
                <c:pt idx="5">
                  <c:v>0.025703217294839275</c:v>
                </c:pt>
                <c:pt idx="6">
                  <c:v>0.029077146894767904</c:v>
                </c:pt>
                <c:pt idx="7">
                  <c:v>0.02803770653989851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Like-for-like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0.01092541109375304</c:v>
                </c:pt>
                <c:pt idx="1">
                  <c:v>0.017376470940816163</c:v>
                </c:pt>
                <c:pt idx="2">
                  <c:v>0.025435466725318545</c:v>
                </c:pt>
                <c:pt idx="3">
                  <c:v>0.009668197495008175</c:v>
                </c:pt>
                <c:pt idx="4">
                  <c:v>0.009503775778117066</c:v>
                </c:pt>
                <c:pt idx="5">
                  <c:v>0.007965939170458795</c:v>
                </c:pt>
                <c:pt idx="6">
                  <c:v>0.006411017482550234</c:v>
                </c:pt>
                <c:pt idx="7">
                  <c:v>0.0050254711384893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Price/mix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Sheet1!$D$2:$D$9</c:f>
              <c:numCache>
                <c:formatCode>0%</c:formatCode>
                <c:ptCount val="8"/>
                <c:pt idx="0">
                  <c:v>0.1464245997146113</c:v>
                </c:pt>
                <c:pt idx="1">
                  <c:v>0.06667420644612862</c:v>
                </c:pt>
                <c:pt idx="2">
                  <c:v>0.05806677076170328</c:v>
                </c:pt>
                <c:pt idx="3">
                  <c:v>0.031661903037453684</c:v>
                </c:pt>
                <c:pt idx="4">
                  <c:v>0.03381029278023682</c:v>
                </c:pt>
                <c:pt idx="5">
                  <c:v>0.029993960560708396</c:v>
                </c:pt>
                <c:pt idx="6">
                  <c:v>0.028384385516544902</c:v>
                </c:pt>
                <c:pt idx="7">
                  <c:v>0.025826579441959686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ln w="25400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5509</c:v>
                </c:pt>
                <c:pt idx="1">
                  <c:v>5617.298318548387</c:v>
                </c:pt>
                <c:pt idx="2">
                  <c:v>5801.902039370527</c:v>
                </c:pt>
                <c:pt idx="3">
                  <c:v>6011.467429338461</c:v>
                </c:pt>
                <c:pt idx="4">
                  <c:v>6226.125094364175</c:v>
                </c:pt>
                <c:pt idx="5">
                  <c:v>6419.623922281015</c:v>
                </c:pt>
                <c:pt idx="6">
                  <c:v>6582.49675575214</c:v>
                </c:pt>
                <c:pt idx="7">
                  <c:v>6716.682939377195</c:v>
                </c:pt>
                <c:pt idx="8">
                  <c:v>6837.090882632527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Sheet1!$C$2:$C$10</c:f>
              <c:numCache>
                <c:formatCode>0</c:formatCode>
                <c:ptCount val="9"/>
                <c:pt idx="0">
                  <c:v>5509</c:v>
                </c:pt>
                <c:pt idx="1">
                  <c:v>5750.541690499999</c:v>
                </c:pt>
                <c:pt idx="2">
                  <c:v>6082.098720965473</c:v>
                </c:pt>
                <c:pt idx="3">
                  <c:v>6469.304083602022</c:v>
                </c:pt>
                <c:pt idx="4">
                  <c:v>6882.515031460463</c:v>
                </c:pt>
                <c:pt idx="5">
                  <c:v>7287.8246700403115</c:v>
                </c:pt>
                <c:pt idx="6">
                  <c:v>7672.770438958042</c:v>
                </c:pt>
                <c:pt idx="7">
                  <c:v>8038.062195854581</c:v>
                </c:pt>
                <c:pt idx="8">
                  <c:v>8399.49812471518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ln w="25400">
              <a:solidFill>
                <a:srgbClr val="2E7D32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Sheet1!$D$2:$D$10</c:f>
              <c:numCache>
                <c:formatCode>0</c:formatCode>
                <c:ptCount val="9"/>
                <c:pt idx="0">
                  <c:v>5509</c:v>
                </c:pt>
                <c:pt idx="1">
                  <c:v>5843.303124703631</c:v>
                </c:pt>
                <c:pt idx="2">
                  <c:v>6305.526535051016</c:v>
                </c:pt>
                <c:pt idx="3">
                  <c:v>6853.6773334616855</c:v>
                </c:pt>
                <c:pt idx="4">
                  <c:v>7449.828622446995</c:v>
                </c:pt>
                <c:pt idx="5">
                  <c:v>8055.507126494461</c:v>
                </c:pt>
                <c:pt idx="6">
                  <c:v>8657.611188198913</c:v>
                </c:pt>
                <c:pt idx="7">
                  <c:v>9256.608335004734</c:v>
                </c:pt>
                <c:pt idx="8">
                  <c:v>9869.742850069655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500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200"/>
          <c:y val="0.1000"/>
          <c:w val="0.5000"/>
          <c:h val="0.8600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52-week range</c:v>
                </c:pt>
                <c:pt idx="1">
                  <c:v>DCF (WACC ±0.5pp, g ±0.25pp)</c:v>
                </c:pt>
                <c:pt idx="2">
                  <c:v>DCF (bear – bull)</c:v>
                </c:pt>
                <c:pt idx="3">
                  <c:v>EV/EBITDA (peers 25-75th pct)</c:v>
                </c:pt>
                <c:pt idx="4">
                  <c:v>EV/EBIT (peers 25-75th pct)</c:v>
                </c:pt>
                <c:pt idx="5">
                  <c:v>P/E (peers 25-75th pct)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24.950000000000003</c:v>
                </c:pt>
                <c:pt idx="1">
                  <c:v>39.323391322778825</c:v>
                </c:pt>
                <c:pt idx="2">
                  <c:v>4.636553115633351</c:v>
                </c:pt>
                <c:pt idx="3">
                  <c:v>33.95676211817794</c:v>
                </c:pt>
                <c:pt idx="4">
                  <c:v>37.1920030937855</c:v>
                </c:pt>
                <c:pt idx="5">
                  <c:v>33.32877208554522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52-week range</c:v>
                </c:pt>
                <c:pt idx="1">
                  <c:v>DCF (WACC ±0.5pp, g ±0.25pp)</c:v>
                </c:pt>
                <c:pt idx="2">
                  <c:v>DCF (bear – bull)</c:v>
                </c:pt>
                <c:pt idx="3">
                  <c:v>EV/EBITDA (peers 25-75th pct)</c:v>
                </c:pt>
                <c:pt idx="4">
                  <c:v>EV/EBIT (peers 25-75th pct)</c:v>
                </c:pt>
                <c:pt idx="5">
                  <c:v>P/E (peers 25-75th pct)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12.5</c:v>
                </c:pt>
                <c:pt idx="1">
                  <c:v>11.015505880986048</c:v>
                </c:pt>
                <c:pt idx="2">
                  <c:v>76.8782715953057</c:v>
                </c:pt>
                <c:pt idx="3">
                  <c:v>12.8318069428664</c:v>
                </c:pt>
                <c:pt idx="4">
                  <c:v>26.8070104541478</c:v>
                </c:pt>
                <c:pt idx="5">
                  <c:v>19.257232038020092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9.66630718203297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500"/>
          <c:y val="0.0500"/>
          <c:w val="0.9000"/>
          <c:h val="0.8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NOK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000000"/>
              </a:solidFill>
            </c:spPr>
          </c:dPt>
          <c:dPt>
            <c:idx val="1"/>
            <c:invertIfNegative val="0"/>
            <c:spPr>
              <a:solidFill>
                <a:srgbClr val="81B0C0"/>
              </a:solidFill>
            </c:spPr>
          </c:dPt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DCF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42.3</c:v>
                </c:pt>
                <c:pt idx="1">
                  <c:v>54.26383208169154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25617331028359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Replace the title with your own equity story in 4-6 words (e.g. 'SATS – Healthy body, healthy margins'). Keep the competition name. Update the date line.</a:t>
            </a:r>
          </a:p>
          <a:p/>
          <a:p>
            <a:r>
              <a:t>TALKING POINT: One sentence on who we are and our recommendation: 'We recommend BUY with a target price of NOK 57.'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Update year of study, experience and photos if the team changes. The Pareto rules do not count this slide or the cover towards the 4-slide limit.</a:t>
            </a:r>
          </a:p>
          <a:p/>
          <a:p>
            <a:r>
              <a:t>TALKING POINT: Keep the introduction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'Company overview' (Pareto rule). Replace the key message, snapshot facts, management and segment names. Charts read from the model (Model sheet).</a:t>
            </a:r>
          </a:p>
          <a:p/>
          <a:p>
            <a:r>
              <a:t>TALKING POINTS: (1) What the company does and why it wins. (2) Growth has been driven by both volume and price. (3) Margins have expanded and returns are far above WACC – quality at a reasonable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overview from company KPIs: (1) more members per club, (2) revenue per member up in every country, (3) market share and positions, (4) demand evidence. Every figure is sourced in the footnote.</a:t>
            </a:r>
          </a:p>
          <a:p/>
          <a:p>
            <a:r>
              <a:t>TALKING POINTS: SATS grows without adding clubs – price and utilisation do the work; the roll-out is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'Financials and estimates'. Tables and charts are generated from the model – re-run the deck builder or copy from the Deck_Feed sheet after changing the model.</a:t>
            </a:r>
          </a:p>
          <a:p/>
          <a:p>
            <a:r>
              <a:t>TALKING POINTS: (1) History proves the model works. (2) Growth from new locations, like-for-like and price. (3) Margin expansion from operating leverage – and it is paid for with capex. (4) Strong cash conversion and ROIC. (5) We are above consensus, and the gap widens – that is our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'Valuation and recommendation'. The sensitivity table, football field and bar charts come from the Sensitivity, Football and Comps sheets.</a:t>
            </a:r>
          </a:p>
          <a:p/>
          <a:p>
            <a:r>
              <a:t>TALKING POINTS: (1) Recommendation and target price first. (2) DCF: NOK 54 with WACC 9.0% and g 2.0%; 34 of 35 cells in the sensitivity grid are above today's price (the value falls below it only at a WACC of 10.5% or more). (3) What the market prices in: an EBIT margin of 12.7% in 2033E vs. our 15.6% – the debate is margins. (4) Peers confirm the gap; target price = blend rolled forward 12 months. (5) Close with the risk/reward: bear vs. bull.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1221638" y="2492654"/>
            <a:ext cx="1044245" cy="0"/>
          </a:xfrm>
          <a:prstGeom prst="line">
            <a:avLst/>
          </a:prstGeom>
          <a:ln w="19050">
            <a:solidFill>
              <a:srgbClr val="81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34847" y="868680"/>
            <a:ext cx="548640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Cambria"/>
              </a:rPr>
              <a:t>Equity Research Toolkit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221638" y="2817266"/>
            <a:ext cx="8778240" cy="1079906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3600" b="0" i="0">
                <a:solidFill>
                  <a:srgbClr val="FFFFFF"/>
                </a:solidFill>
                <a:latin typeface="Cambria"/>
              </a:rPr>
              <a:t>SATS – Healthy body, healthy margins</a:t>
            </a:r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1221638" y="4201668"/>
            <a:ext cx="8778240" cy="82753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Arial"/>
              </a:rPr>
              <a:t>Pareto Equity Research Competition 2026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21638" y="5661050"/>
            <a:ext cx="8778240" cy="30815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Share price and estimates as of 30.09.26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Case-team</a:t>
            </a:r>
            <a:endParaRPr sz="2600"/>
          </a:p>
        </p:txBody>
      </p:sp>
      <p:sp>
        <p:nvSpPr>
          <p:cNvPr id="3" name="TextBox 2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CBS case team with a passion for equity research – presenting a model-driven investment case</a:t>
            </a:r>
            <a:endParaRPr sz="1400"/>
          </a:p>
        </p:txBody>
      </p:sp>
      <p:cxnSp>
        <p:nvCxnSpPr>
          <p:cNvPr id="4" name="Connector 3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7" name="TextBox 6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2</a:t>
            </a:r>
            <a:endParaRPr sz="900"/>
          </a:p>
        </p:txBody>
      </p:sp>
      <p:sp>
        <p:nvSpPr>
          <p:cNvPr id="8" name="Rectangle 7"/>
          <p:cNvSpPr/>
          <p:nvPr/>
        </p:nvSpPr>
        <p:spPr>
          <a:xfrm>
            <a:off x="429768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1984248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0" name="Rectangle 9"/>
          <p:cNvSpPr/>
          <p:nvPr/>
        </p:nvSpPr>
        <p:spPr>
          <a:xfrm>
            <a:off x="429768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1</a:t>
            </a: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4270248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5824728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3" name="Rectangle 12"/>
          <p:cNvSpPr/>
          <p:nvPr/>
        </p:nvSpPr>
        <p:spPr>
          <a:xfrm>
            <a:off x="4270248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2</a:t>
            </a: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8110727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15" name="TextBox 14"/>
          <p:cNvSpPr txBox="1"/>
          <p:nvPr/>
        </p:nvSpPr>
        <p:spPr>
          <a:xfrm>
            <a:off x="9665207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6" name="Rectangle 15"/>
          <p:cNvSpPr/>
          <p:nvPr/>
        </p:nvSpPr>
        <p:spPr>
          <a:xfrm>
            <a:off x="8110727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3</a:t>
            </a:r>
            <a:endParaRPr sz="1200"/>
          </a:p>
        </p:txBody>
      </p:sp>
      <p:sp>
        <p:nvSpPr>
          <p:cNvPr id="17" name="Rectangle 16"/>
          <p:cNvSpPr/>
          <p:nvPr/>
        </p:nvSpPr>
        <p:spPr>
          <a:xfrm>
            <a:off x="429768" y="4389120"/>
            <a:ext cx="11338560" cy="14173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452628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Why we chose this company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658368" y="4846320"/>
            <a:ext cx="521208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Clear equity story: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market leader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with pricing power and a scalable cost base</a:t>
            </a:r>
            <a:endParaRPr sz="10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A market that underestimates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margin expansion and cash generation</a:t>
            </a:r>
            <a:endParaRPr sz="10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Valuation gap we can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quantify and stress-test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in scenarios</a:t>
            </a:r>
            <a:endParaRPr sz="1050"/>
          </a:p>
        </p:txBody>
      </p:sp>
      <p:sp>
        <p:nvSpPr>
          <p:cNvPr id="20" name="TextBox 19"/>
          <p:cNvSpPr txBox="1"/>
          <p:nvPr/>
        </p:nvSpPr>
        <p:spPr>
          <a:xfrm>
            <a:off x="6281928" y="452628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How we worked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6281928" y="4846320"/>
            <a:ext cx="530352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Bottom-up model: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locations x volume x price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per segment, IFRS 16-consistent DCF</a:t>
            </a:r>
            <a:endParaRPr sz="10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Reverse DCF,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consensus gap</a:t>
            </a:r>
            <a:r>
              <a:rPr sz="1050" b="0" i="0">
                <a:solidFill>
                  <a:srgbClr val="1F1F1F"/>
                </a:solidFill>
                <a:latin typeface="Arial"/>
              </a:rPr>
              <a:t>, peers, scenarios and 30 integrity checks</a:t>
            </a:r>
            <a:endParaRPr sz="10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Every number in this deck ties back to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one Excel model</a:t>
            </a:r>
            <a:endParaRPr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#1 The equity story of the Nordic fitness market leader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Company overview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SATS ASA – the leading fitness club operator in the Nordics, with pricing power and operating leverage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SATS ASA interim reports (Q4 2019–Q2 2026), satsgroup.com, case team estimates.  (1) EBIT adjusted: pre-IFRS 16 (after lease payments) and excl. special items.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3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243584"/>
            <a:ext cx="11338559" cy="5029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SATS ASA is the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#1 fitness operator in the Nordics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with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755k members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in 273 clubs across Norway, Sweden, Finland and Denmark.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Membership subscriptions (83% of revenue)</a:t>
            </a:r>
            <a:r>
              <a:rPr sz="1100" b="0" i="0">
                <a:solidFill>
                  <a:srgbClr val="FFFFFF"/>
                </a:solidFill>
                <a:latin typeface="Arial"/>
              </a:rPr>
              <a:t>, proven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pricing power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and a largely fixed club cost base lift the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EBIT adj. margin to ~15% by 2030E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– with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ROIC well above WACC</a:t>
            </a:r>
            <a:r>
              <a:rPr sz="1100" b="0" i="0">
                <a:solidFill>
                  <a:srgbClr val="FFFFFF"/>
                </a:solidFill>
                <a:latin typeface="Arial"/>
              </a:rPr>
              <a:t>.</a:t>
            </a:r>
            <a:endParaRPr sz="1100"/>
          </a:p>
        </p:txBody>
      </p:sp>
      <p:sp>
        <p:nvSpPr>
          <p:cNvPr id="12" name="TextBox 11"/>
          <p:cNvSpPr txBox="1"/>
          <p:nvPr/>
        </p:nvSpPr>
        <p:spPr>
          <a:xfrm>
            <a:off x="429768" y="1847088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Company snapshot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148840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73075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429768" y="2231136"/>
            <a:ext cx="36118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9496" y="2322576"/>
          <a:ext cx="3392423" cy="16459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42055"/>
                <a:gridCol w="1650368"/>
              </a:tblGrid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Sector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Fitness clubs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Headquarters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Oslo, Norway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Listing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Oslo Børs (SATS)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Members (2025)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755k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Locations (2025)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273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Employees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~10,000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Market cap (NOKm)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8,151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Enterprise value (NOKm)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9,228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70248" y="1847088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Scalable model with pricing power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4270248" y="2148840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57123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4270248" y="2231136"/>
            <a:ext cx="36118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79976" y="2322576"/>
            <a:ext cx="3392424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Recurring revenue: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83% of sales are monthly memberships; personal training and retail the rest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Pricing power: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revenue per member up ~6% a year in 2024-25 while the member base grew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Operating leverage: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EBITDA before IFRS 16 up from NOK 0.61bn (2023) to NOK 0.87bn (2025)</a:t>
            </a:r>
            <a:endParaRPr sz="9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Capital light: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capex 5.6% of sales and negative working capital</a:t>
            </a:r>
            <a:endParaRPr sz="950"/>
          </a:p>
        </p:txBody>
      </p:sp>
      <p:sp>
        <p:nvSpPr>
          <p:cNvPr id="22" name="TextBox 21"/>
          <p:cNvSpPr txBox="1"/>
          <p:nvPr/>
        </p:nvSpPr>
        <p:spPr>
          <a:xfrm>
            <a:off x="8110727" y="1847088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Experienced management team</a:t>
            </a:r>
            <a:endParaRPr sz="1200"/>
          </a:p>
        </p:txBody>
      </p:sp>
      <p:cxnSp>
        <p:nvCxnSpPr>
          <p:cNvPr id="23" name="Connector 22"/>
          <p:cNvCxnSpPr/>
          <p:nvPr/>
        </p:nvCxnSpPr>
        <p:spPr>
          <a:xfrm>
            <a:off x="8110727" y="2148840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45743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8110727" y="2231136"/>
            <a:ext cx="365760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275319" y="2350008"/>
            <a:ext cx="457200" cy="457200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SG</a:t>
            </a:r>
            <a:endParaRPr sz="1100"/>
          </a:p>
        </p:txBody>
      </p:sp>
      <p:sp>
        <p:nvSpPr>
          <p:cNvPr id="27" name="TextBox 26"/>
          <p:cNvSpPr txBox="1"/>
          <p:nvPr/>
        </p:nvSpPr>
        <p:spPr>
          <a:xfrm>
            <a:off x="8887967" y="2368296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CEO – Sondre Gravir</a:t>
            </a:r>
            <a:endParaRPr sz="1050"/>
          </a:p>
        </p:txBody>
      </p:sp>
      <p:sp>
        <p:nvSpPr>
          <p:cNvPr id="28" name="TextBox 27"/>
          <p:cNvSpPr txBox="1"/>
          <p:nvPr/>
        </p:nvSpPr>
        <p:spPr>
          <a:xfrm>
            <a:off x="8887967" y="2578608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Joined SATS in 2018</a:t>
            </a:r>
            <a:endParaRPr sz="900"/>
          </a:p>
        </p:txBody>
      </p:sp>
      <p:sp>
        <p:nvSpPr>
          <p:cNvPr id="29" name="Oval 28"/>
          <p:cNvSpPr/>
          <p:nvPr/>
        </p:nvSpPr>
        <p:spPr>
          <a:xfrm>
            <a:off x="8275319" y="2916936"/>
            <a:ext cx="457200" cy="457200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CE</a:t>
            </a:r>
            <a:endParaRPr sz="1100"/>
          </a:p>
        </p:txBody>
      </p:sp>
      <p:sp>
        <p:nvSpPr>
          <p:cNvPr id="30" name="TextBox 29"/>
          <p:cNvSpPr txBox="1"/>
          <p:nvPr/>
        </p:nvSpPr>
        <p:spPr>
          <a:xfrm>
            <a:off x="8887967" y="2935224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CFO – Cecilie Elde</a:t>
            </a:r>
            <a:endParaRPr sz="1050"/>
          </a:p>
        </p:txBody>
      </p:sp>
      <p:sp>
        <p:nvSpPr>
          <p:cNvPr id="31" name="TextBox 30"/>
          <p:cNvSpPr txBox="1"/>
          <p:nvPr/>
        </p:nvSpPr>
        <p:spPr>
          <a:xfrm>
            <a:off x="8887967" y="3145536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Joined SATS in 2016</a:t>
            </a:r>
            <a:endParaRPr sz="900"/>
          </a:p>
        </p:txBody>
      </p:sp>
      <p:sp>
        <p:nvSpPr>
          <p:cNvPr id="32" name="Oval 31"/>
          <p:cNvSpPr/>
          <p:nvPr/>
        </p:nvSpPr>
        <p:spPr>
          <a:xfrm>
            <a:off x="8275319" y="3483864"/>
            <a:ext cx="457200" cy="457200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GS</a:t>
            </a:r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8887967" y="3502152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CDO – Gaute Sandal</a:t>
            </a:r>
            <a:endParaRPr sz="1050"/>
          </a:p>
        </p:txBody>
      </p:sp>
      <p:sp>
        <p:nvSpPr>
          <p:cNvPr id="34" name="TextBox 33"/>
          <p:cNvSpPr txBox="1"/>
          <p:nvPr/>
        </p:nvSpPr>
        <p:spPr>
          <a:xfrm>
            <a:off x="8887967" y="3712464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Chief Digital Officer, joined SATS in 2017</a:t>
            </a:r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429768" y="416052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and member mix (2025)</a:t>
            </a:r>
            <a:endParaRPr sz="1200"/>
          </a:p>
        </p:txBody>
      </p:sp>
      <p:cxnSp>
        <p:nvCxnSpPr>
          <p:cNvPr id="36" name="Connector 35"/>
          <p:cNvCxnSpPr/>
          <p:nvPr/>
        </p:nvCxnSpPr>
        <p:spPr>
          <a:xfrm>
            <a:off x="429768" y="4462272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73075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429768" y="4544568"/>
            <a:ext cx="3611880" cy="176479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475488" y="4727448"/>
          <a:ext cx="1691640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886968" y="5202936"/>
            <a:ext cx="8686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NOKm</a:t>
            </a:r>
            <a:endParaRPr sz="800"/>
          </a:p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5,509</a:t>
            </a:r>
            <a:endParaRPr sz="800"/>
          </a:p>
        </p:txBody>
      </p:sp>
      <p:sp>
        <p:nvSpPr>
          <p:cNvPr id="41" name="TextBox 40"/>
          <p:cNvSpPr txBox="1"/>
          <p:nvPr/>
        </p:nvSpPr>
        <p:spPr>
          <a:xfrm>
            <a:off x="475488" y="457200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Revenue</a:t>
            </a:r>
            <a:endParaRPr sz="900"/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258568" y="4727448"/>
          <a:ext cx="1691640" cy="1325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2670048" y="5202936"/>
            <a:ext cx="8686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755k</a:t>
            </a:r>
            <a:endParaRPr sz="800"/>
          </a:p>
        </p:txBody>
      </p:sp>
      <p:sp>
        <p:nvSpPr>
          <p:cNvPr id="44" name="TextBox 43"/>
          <p:cNvSpPr txBox="1"/>
          <p:nvPr/>
        </p:nvSpPr>
        <p:spPr>
          <a:xfrm>
            <a:off x="2258568" y="457200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Members</a:t>
            </a:r>
            <a:endParaRPr sz="900"/>
          </a:p>
        </p:txBody>
      </p:sp>
      <p:sp>
        <p:nvSpPr>
          <p:cNvPr id="45" name="Rectangle 44"/>
          <p:cNvSpPr/>
          <p:nvPr/>
        </p:nvSpPr>
        <p:spPr>
          <a:xfrm>
            <a:off x="658368" y="6108192"/>
            <a:ext cx="109728" cy="10972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04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Norway</a:t>
            </a:r>
            <a:endParaRPr sz="800"/>
          </a:p>
        </p:txBody>
      </p:sp>
      <p:sp>
        <p:nvSpPr>
          <p:cNvPr id="47" name="Rectangle 46"/>
          <p:cNvSpPr/>
          <p:nvPr/>
        </p:nvSpPr>
        <p:spPr>
          <a:xfrm>
            <a:off x="1801368" y="6108192"/>
            <a:ext cx="109728" cy="109728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947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Sweden</a:t>
            </a:r>
            <a:endParaRPr sz="800"/>
          </a:p>
        </p:txBody>
      </p:sp>
      <p:sp>
        <p:nvSpPr>
          <p:cNvPr id="49" name="Rectangle 48"/>
          <p:cNvSpPr/>
          <p:nvPr/>
        </p:nvSpPr>
        <p:spPr>
          <a:xfrm>
            <a:off x="2944368" y="6108192"/>
            <a:ext cx="109728" cy="109728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090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Finland &amp; Denmark</a:t>
            </a:r>
            <a:endParaRPr sz="800"/>
          </a:p>
        </p:txBody>
      </p:sp>
      <p:sp>
        <p:nvSpPr>
          <p:cNvPr id="51" name="TextBox 50"/>
          <p:cNvSpPr txBox="1"/>
          <p:nvPr/>
        </p:nvSpPr>
        <p:spPr>
          <a:xfrm>
            <a:off x="4270248" y="416052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Consistent growth with margin expansion</a:t>
            </a:r>
            <a:endParaRPr sz="1200"/>
          </a:p>
        </p:txBody>
      </p:sp>
      <p:cxnSp>
        <p:nvCxnSpPr>
          <p:cNvPr id="52" name="Connector 51"/>
          <p:cNvCxnSpPr/>
          <p:nvPr/>
        </p:nvCxnSpPr>
        <p:spPr>
          <a:xfrm>
            <a:off x="4270248" y="4462272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57123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graphicFrame>
        <p:nvGraphicFramePr>
          <p:cNvPr id="54" name="Chart 53"/>
          <p:cNvGraphicFramePr>
            <a:graphicFrameLocks noGrp="1"/>
          </p:cNvGraphicFramePr>
          <p:nvPr/>
        </p:nvGraphicFramePr>
        <p:xfrm>
          <a:off x="4270248" y="4572000"/>
          <a:ext cx="3611880" cy="1783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8110727" y="416052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…and returns well above the cost of capital</a:t>
            </a:r>
            <a:endParaRPr sz="1200"/>
          </a:p>
        </p:txBody>
      </p:sp>
      <p:cxnSp>
        <p:nvCxnSpPr>
          <p:cNvPr id="56" name="Connector 55"/>
          <p:cNvCxnSpPr/>
          <p:nvPr/>
        </p:nvCxnSpPr>
        <p:spPr>
          <a:xfrm>
            <a:off x="8110727" y="446227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45743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6</a:t>
            </a:r>
            <a:endParaRPr sz="1200"/>
          </a:p>
        </p:txBody>
      </p:sp>
      <p:sp>
        <p:nvSpPr>
          <p:cNvPr id="58" name="Rectangle 57"/>
          <p:cNvSpPr/>
          <p:nvPr/>
        </p:nvSpPr>
        <p:spPr>
          <a:xfrm>
            <a:off x="8110727" y="4544568"/>
            <a:ext cx="3657600" cy="1764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8110727" y="4572000"/>
          <a:ext cx="3657597" cy="17922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237533"/>
                <a:gridCol w="403344"/>
                <a:gridCol w="403344"/>
                <a:gridCol w="403344"/>
                <a:gridCol w="403344"/>
                <a:gridCol w="403344"/>
                <a:gridCol w="403344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Profitability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EBITDA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39.2%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39.7%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40.1%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Returns &amp; cash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ROIC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11.1%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15.3%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18.9%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21.8%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23.5%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24.9%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FCF yield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Dividend yield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#2 Leading positions in every Nordic market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Market overview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SATS is #1 in Norway, Sweden and Finland and #2 in Denmark – price, utilisation and new clubs drive growth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SATS ASA interim reports (clubs, members, revenue per member, market positions, signed locations); Nordic fitness members (5.2m, 2025): EuropeActive/Deloitte European Health &amp; Fitness Market Report 2025, as quoted in the 2026 Pareto case workbook.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4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More members per club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3075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429768" y="1664207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75488" y="1737360"/>
          <a:ext cx="352044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270248" y="128016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per member (NOK/month)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4270248" y="1581912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5712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4270248" y="1664207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315968" y="1737360"/>
          <a:ext cx="352044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29768" y="3822191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~15% of all Nordic fitness members</a:t>
            </a:r>
            <a:endParaRPr sz="1200"/>
          </a:p>
        </p:txBody>
      </p:sp>
      <p:cxnSp>
        <p:nvCxnSpPr>
          <p:cNvPr id="22" name="Connector 21"/>
          <p:cNvCxnSpPr/>
          <p:nvPr/>
        </p:nvCxnSpPr>
        <p:spPr>
          <a:xfrm>
            <a:off x="429768" y="4123944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73075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429768" y="4206240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48056" y="4389120"/>
          <a:ext cx="1463040" cy="1645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13816" y="5038344"/>
            <a:ext cx="731520" cy="347472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700" b="1" i="0">
                <a:solidFill>
                  <a:srgbClr val="003255"/>
                </a:solidFill>
                <a:latin typeface="Arial"/>
              </a:rPr>
              <a:t>2025</a:t>
            </a:r>
            <a:endParaRPr sz="700"/>
          </a:p>
          <a:p>
            <a:pPr algn="ctr">
              <a:buNone/>
            </a:pPr>
            <a:r>
              <a:rPr sz="700" b="1" i="0">
                <a:solidFill>
                  <a:srgbClr val="003255"/>
                </a:solidFill>
                <a:latin typeface="Arial"/>
              </a:rPr>
              <a:t>Nordics</a:t>
            </a:r>
            <a:endParaRPr sz="700"/>
          </a:p>
        </p:txBody>
      </p:sp>
      <p:sp>
        <p:nvSpPr>
          <p:cNvPr id="27" name="TextBox 26"/>
          <p:cNvSpPr txBox="1"/>
          <p:nvPr/>
        </p:nvSpPr>
        <p:spPr>
          <a:xfrm>
            <a:off x="1965960" y="4389120"/>
            <a:ext cx="1984248" cy="17373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#1 in Norway: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120 clubs (78 SATS, 42 Fresh Fitness)</a:t>
            </a:r>
            <a:endParaRPr sz="9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#1 in Sweden</a:t>
            </a:r>
            <a:r>
              <a:rPr sz="900" b="0" i="0">
                <a:solidFill>
                  <a:srgbClr val="1F1F1F"/>
                </a:solidFill>
                <a:latin typeface="Arial"/>
              </a:rPr>
              <a:t> by revenue: 93 clubs</a:t>
            </a:r>
            <a:endParaRPr sz="9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#1 in Finland</a:t>
            </a:r>
            <a:r>
              <a:rPr sz="900" b="0" i="0">
                <a:solidFill>
                  <a:srgbClr val="1F1F1F"/>
                </a:solidFill>
                <a:latin typeface="Arial"/>
              </a:rPr>
              <a:t> (ELIXIA): 32 clubs</a:t>
            </a:r>
            <a:endParaRPr sz="9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#2 in Denmark: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28 clubs in Greater Copenhagen</a:t>
            </a:r>
            <a:endParaRPr sz="900"/>
          </a:p>
        </p:txBody>
      </p:sp>
      <p:sp>
        <p:nvSpPr>
          <p:cNvPr id="28" name="TextBox 27"/>
          <p:cNvSpPr txBox="1"/>
          <p:nvPr/>
        </p:nvSpPr>
        <p:spPr>
          <a:xfrm>
            <a:off x="4270248" y="3822191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Demand absorbs price increases</a:t>
            </a:r>
            <a:endParaRPr sz="1200"/>
          </a:p>
        </p:txBody>
      </p:sp>
      <p:cxnSp>
        <p:nvCxnSpPr>
          <p:cNvPr id="29" name="Connector 28"/>
          <p:cNvCxnSpPr/>
          <p:nvPr/>
        </p:nvCxnSpPr>
        <p:spPr>
          <a:xfrm>
            <a:off x="4270248" y="4123944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5712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31" name="Rectangle 30"/>
          <p:cNvSpPr/>
          <p:nvPr/>
        </p:nvSpPr>
        <p:spPr>
          <a:xfrm>
            <a:off x="4270248" y="4206240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407408" y="4325112"/>
            <a:ext cx="530352" cy="530352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+3%</a:t>
            </a:r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5074920" y="434339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member growth in 2025 on a flat club base – 755,000 members at year end</a:t>
            </a:r>
            <a:endParaRPr sz="950"/>
          </a:p>
        </p:txBody>
      </p:sp>
      <p:sp>
        <p:nvSpPr>
          <p:cNvPr id="34" name="Oval 33"/>
          <p:cNvSpPr/>
          <p:nvPr/>
        </p:nvSpPr>
        <p:spPr>
          <a:xfrm>
            <a:off x="4407408" y="4965192"/>
            <a:ext cx="530352" cy="530352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+7%</a:t>
            </a:r>
            <a:endParaRPr sz="1100"/>
          </a:p>
        </p:txBody>
      </p:sp>
      <p:sp>
        <p:nvSpPr>
          <p:cNvPr id="35" name="TextBox 34"/>
          <p:cNvSpPr txBox="1"/>
          <p:nvPr/>
        </p:nvSpPr>
        <p:spPr>
          <a:xfrm>
            <a:off x="5074920" y="498347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currency-adjusted revenue growth in Q2 2026 with three fewer clubs than a year earlier</a:t>
            </a:r>
            <a:endParaRPr sz="950"/>
          </a:p>
        </p:txBody>
      </p:sp>
      <p:sp>
        <p:nvSpPr>
          <p:cNvPr id="36" name="Oval 35"/>
          <p:cNvSpPr/>
          <p:nvPr/>
        </p:nvSpPr>
        <p:spPr>
          <a:xfrm>
            <a:off x="4407408" y="5605271"/>
            <a:ext cx="530352" cy="530352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30</a:t>
            </a:r>
            <a:endParaRPr sz="1100"/>
          </a:p>
        </p:txBody>
      </p:sp>
      <p:sp>
        <p:nvSpPr>
          <p:cNvPr id="37" name="TextBox 36"/>
          <p:cNvSpPr txBox="1"/>
          <p:nvPr/>
        </p:nvSpPr>
        <p:spPr>
          <a:xfrm>
            <a:off x="5074920" y="562355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new club locations signed through 2028, against a target of 8-12 openings a year</a:t>
            </a:r>
            <a:endParaRPr sz="950"/>
          </a:p>
        </p:txBody>
      </p:sp>
      <p:sp>
        <p:nvSpPr>
          <p:cNvPr id="38" name="Rectangle 37"/>
          <p:cNvSpPr/>
          <p:nvPr/>
        </p:nvSpPr>
        <p:spPr>
          <a:xfrm>
            <a:off x="8110727" y="1280160"/>
            <a:ext cx="365760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Opportunities</a:t>
            </a:r>
            <a:endParaRPr sz="1200"/>
          </a:p>
        </p:txBody>
      </p:sp>
      <p:sp>
        <p:nvSpPr>
          <p:cNvPr id="39" name="Rectangle 38"/>
          <p:cNvSpPr/>
          <p:nvPr/>
        </p:nvSpPr>
        <p:spPr>
          <a:xfrm>
            <a:off x="8110727" y="1627631"/>
            <a:ext cx="3657600" cy="1371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0455" y="1709928"/>
            <a:ext cx="3438144" cy="12344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Price increases above cost inflation</a:t>
            </a:r>
            <a:r>
              <a:rPr sz="950" b="0" i="0">
                <a:solidFill>
                  <a:srgbClr val="1F1F1F"/>
                </a:solidFill>
                <a:latin typeface="Arial"/>
              </a:rPr>
              <a:t> backed by product tiers and upgrades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Higher utilisation: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more members per club at near-zero marginal cost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Roll-out: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8-12 new clubs a year with a ~3-year payback</a:t>
            </a:r>
            <a:endParaRPr sz="950"/>
          </a:p>
        </p:txBody>
      </p:sp>
      <p:sp>
        <p:nvSpPr>
          <p:cNvPr id="41" name="Rectangle 40"/>
          <p:cNvSpPr/>
          <p:nvPr/>
        </p:nvSpPr>
        <p:spPr>
          <a:xfrm>
            <a:off x="8110727" y="3136391"/>
            <a:ext cx="3657600" cy="310896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Disruption</a:t>
            </a:r>
            <a:endParaRPr sz="1200"/>
          </a:p>
        </p:txBody>
      </p:sp>
      <p:sp>
        <p:nvSpPr>
          <p:cNvPr id="42" name="Rectangle 41"/>
          <p:cNvSpPr/>
          <p:nvPr/>
        </p:nvSpPr>
        <p:spPr>
          <a:xfrm>
            <a:off x="8110727" y="3483863"/>
            <a:ext cx="3657600" cy="10515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20455" y="3566159"/>
            <a:ext cx="3438144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Boutique studios and digital training</a:t>
            </a:r>
            <a:r>
              <a:rPr sz="950" b="0" i="0">
                <a:solidFill>
                  <a:srgbClr val="1F1F1F"/>
                </a:solidFill>
                <a:latin typeface="Arial"/>
              </a:rPr>
              <a:t> – met with premium concepts inside the clubs and the SATS app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Low-cost segment</a:t>
            </a:r>
            <a:r>
              <a:rPr sz="950" b="0" i="0">
                <a:solidFill>
                  <a:srgbClr val="1F1F1F"/>
                </a:solidFill>
                <a:latin typeface="Arial"/>
              </a:rPr>
              <a:t> – addressed with Fresh Fitness (42 clubs in Norway)</a:t>
            </a:r>
            <a:endParaRPr sz="950"/>
          </a:p>
        </p:txBody>
      </p:sp>
      <p:sp>
        <p:nvSpPr>
          <p:cNvPr id="44" name="Rectangle 43"/>
          <p:cNvSpPr/>
          <p:nvPr/>
        </p:nvSpPr>
        <p:spPr>
          <a:xfrm>
            <a:off x="8110727" y="4672583"/>
            <a:ext cx="3657600" cy="31089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Threats</a:t>
            </a:r>
            <a:endParaRPr sz="1200"/>
          </a:p>
        </p:txBody>
      </p:sp>
      <p:sp>
        <p:nvSpPr>
          <p:cNvPr id="45" name="Rectangle 44"/>
          <p:cNvSpPr/>
          <p:nvPr/>
        </p:nvSpPr>
        <p:spPr>
          <a:xfrm>
            <a:off x="8110727" y="5020055"/>
            <a:ext cx="3657600" cy="10515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20455" y="5102351"/>
            <a:ext cx="3438144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Low-cost expansion</a:t>
            </a:r>
            <a:r>
              <a:rPr sz="950" b="0" i="0">
                <a:solidFill>
                  <a:srgbClr val="1F1F1F"/>
                </a:solidFill>
                <a:latin typeface="Arial"/>
              </a:rPr>
              <a:t> in the big cities could cap pricing power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Regulation: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Denmark's VAT on group training and PT (2026) cut the Danish member base by 4%</a:t>
            </a:r>
            <a:endParaRPr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#3 Historical analysis and forecasts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Financials and estimates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New locations, like-for-like and price drive a 5.8% revenue CAGR 2025–30E, with EBIT margins expanding to 15%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Company reports, case team estimates (see Excel model: Model, DCF and Comps sheets). Peer multiples: Yahoo Finance consensus (Sep 2026).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5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71597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Financial summary (NOKm)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71140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62672" y="130759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9768" y="1847088"/>
          <a:ext cx="7543796" cy="24643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43700"/>
                <a:gridCol w="725012"/>
                <a:gridCol w="725012"/>
                <a:gridCol w="725012"/>
                <a:gridCol w="725012"/>
                <a:gridCol w="725012"/>
                <a:gridCol w="725012"/>
                <a:gridCol w="725012"/>
                <a:gridCol w="725012"/>
              </a:tblGrid>
              <a:tr h="214884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4,734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5,064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5,509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5,751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6,082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6,469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6,883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7,288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16.0%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7.0%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8.8%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4.4%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5.8%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5.9%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EBITDA (reported)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1,784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1,941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2,109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2,255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2,414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2,592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2,788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2,976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39.2%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39.7%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40.1%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40.5%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40.8%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 adj.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375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521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647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756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838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916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1,010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1,095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7.9%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10.3%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11.7%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13.2%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13.8%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14.2%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14.7%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15.0%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Net profit to shareholders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326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475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672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742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804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EPS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1.10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1.59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2.39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2.95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3.44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3.93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4.54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DPS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0.63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0.67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1.72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2.16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2.49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3.09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Free cash flow to firm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356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446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519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532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562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625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707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765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ROIC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21.8%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23.5%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24.9%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26.6%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28.1%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NIBD / EBITDAaL (x)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173468" y="1645920"/>
            <a:ext cx="2156749" cy="173736"/>
          </a:xfrm>
          <a:prstGeom prst="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Historical</a:t>
            </a:r>
            <a:endParaRPr sz="800"/>
          </a:p>
        </p:txBody>
      </p:sp>
      <p:sp>
        <p:nvSpPr>
          <p:cNvPr id="16" name="Rectangle 15"/>
          <p:cNvSpPr/>
          <p:nvPr/>
        </p:nvSpPr>
        <p:spPr>
          <a:xfrm>
            <a:off x="4348505" y="1645920"/>
            <a:ext cx="3625062" cy="17373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Forecast</a:t>
            </a:r>
            <a:endParaRPr sz="800"/>
          </a:p>
        </p:txBody>
      </p:sp>
      <p:sp>
        <p:nvSpPr>
          <p:cNvPr id="17" name="TextBox 16"/>
          <p:cNvSpPr txBox="1"/>
          <p:nvPr/>
        </p:nvSpPr>
        <p:spPr>
          <a:xfrm>
            <a:off x="429768" y="4370832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Growth: new locations, like-for-like, price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429768" y="467258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776472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29768" y="4754880"/>
          <a:ext cx="3657600" cy="15727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315968" y="4370832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by scenario (NOKm)</a:t>
            </a:r>
            <a:endParaRPr sz="1200"/>
          </a:p>
        </p:txBody>
      </p:sp>
      <p:cxnSp>
        <p:nvCxnSpPr>
          <p:cNvPr id="22" name="Connector 21"/>
          <p:cNvCxnSpPr/>
          <p:nvPr/>
        </p:nvCxnSpPr>
        <p:spPr>
          <a:xfrm>
            <a:off x="4315968" y="467258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662671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315968" y="4754880"/>
          <a:ext cx="3657600" cy="15727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202168" y="126187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Financial commentary</a:t>
            </a:r>
            <a:endParaRPr sz="1200"/>
          </a:p>
        </p:txBody>
      </p:sp>
      <p:cxnSp>
        <p:nvCxnSpPr>
          <p:cNvPr id="26" name="Connector 25"/>
          <p:cNvCxnSpPr/>
          <p:nvPr/>
        </p:nvCxnSpPr>
        <p:spPr>
          <a:xfrm>
            <a:off x="8202168" y="1563624"/>
            <a:ext cx="313639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457432" y="130759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8202168" y="1645920"/>
            <a:ext cx="3566160" cy="26974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11896" y="1719072"/>
            <a:ext cx="3346704" cy="2606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5.8% revenue CAGR</a:t>
            </a:r>
            <a:r>
              <a:rPr sz="900" b="0" i="0">
                <a:solidFill>
                  <a:srgbClr val="1F1F1F"/>
                </a:solidFill>
                <a:latin typeface="Arial"/>
              </a:rPr>
              <a:t> 2025–30E: new locations add ~2.0pp, like-for-like ~0.8pp and price/mix ~3.0pp p.a.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Operating leverage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lifts EBIT adj. margin from 11.7% to 15.0% as fixed costs and rent grow with inflation and locations, not with sales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Growth is paid for: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36 openings at ~NOK 9m each lift capex to 5.3% of sales (5.6% in 2025A)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Highly cash generative: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~54% of EBITDAaL converts to FCFF; negative working capital funds growth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ROIC of 28% by 2030E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– far above our 9.0% WACC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Shareholder returns: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payout from 50% to 60%; cash above 1.00x NIBD/EBITDAaL funds buybacks – NOK 1,889m over 2026–30E</a:t>
            </a:r>
            <a:endParaRPr sz="900"/>
          </a:p>
        </p:txBody>
      </p:sp>
      <p:sp>
        <p:nvSpPr>
          <p:cNvPr id="30" name="TextBox 29"/>
          <p:cNvSpPr txBox="1"/>
          <p:nvPr/>
        </p:nvSpPr>
        <p:spPr>
          <a:xfrm>
            <a:off x="8202168" y="437083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Our estimates vs. consensus</a:t>
            </a:r>
            <a:endParaRPr sz="1200"/>
          </a:p>
        </p:txBody>
      </p:sp>
      <p:cxnSp>
        <p:nvCxnSpPr>
          <p:cNvPr id="31" name="Connector 30"/>
          <p:cNvCxnSpPr/>
          <p:nvPr/>
        </p:nvCxnSpPr>
        <p:spPr>
          <a:xfrm>
            <a:off x="8202168" y="4672584"/>
            <a:ext cx="313639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1457432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8202168" y="4782312"/>
          <a:ext cx="3566160" cy="10881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97280"/>
                <a:gridCol w="822960"/>
                <a:gridCol w="822960"/>
                <a:gridCol w="822960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vs. consensus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+0.5%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EBITDA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EPS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+0.4%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-2.6%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202168" y="5907024"/>
            <a:ext cx="356616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1" i="0">
                <a:solidFill>
                  <a:srgbClr val="1F1F1F"/>
                </a:solidFill>
                <a:latin typeface="Arial"/>
              </a:rPr>
              <a:t>Where we differ – operating leverage.</a:t>
            </a:r>
            <a:r>
              <a:rPr sz="750" b="0" i="0">
                <a:solidFill>
                  <a:srgbClr val="1F1F1F"/>
                </a:solidFill>
                <a:latin typeface="Arial"/>
              </a:rPr>
              <a:t> Consensus: Near-term estimates are close to ours, but the share price implies only ~12.7% in 2033 (11.7% today). We: EBIT adj. margin rises from 11.7% (2025) to 15.6% by 2033 on a largely fixed cost base.</a:t>
            </a:r>
            <a:endParaRPr sz="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#4 Valuation and concluding thoughts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Valuation and recommendation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We recommend BUY with a target price of NOK 57 – 35% upside and 38% expected total return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DCF and peer analysis; peer multiples from Yahoo Finance consensus (Sep 2026). (1) TP = 70% DCF + 30% peer multiples, rolled forward 12 months at the cost of equity less next year's dividend.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6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243584"/>
            <a:ext cx="11338559" cy="5029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Our take: at NOK 42 the market prices in an EBIT margin of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12.7%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in 2033E – above the 11.7% SATS earns today. We see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15.6%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as fixed costs are spread over more locations. DCF NOK 54 and peers NOK 52 both point higher: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12-month target price NOK 57</a:t>
            </a:r>
            <a:r>
              <a:rPr sz="1050" b="0" i="0">
                <a:solidFill>
                  <a:srgbClr val="FFFFFF"/>
                </a:solidFill>
                <a:latin typeface="Arial"/>
              </a:rPr>
              <a:t>(1),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BUY</a:t>
            </a:r>
            <a:r>
              <a:rPr sz="1050" b="0" i="0">
                <a:solidFill>
                  <a:srgbClr val="FFFFFF"/>
                </a:solidFill>
                <a:latin typeface="Arial"/>
              </a:rPr>
              <a:t>.</a:t>
            </a:r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429768" y="18470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BUY – TP NOK 57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148840"/>
            <a:ext cx="425196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9768" y="2231136"/>
            <a:ext cx="4297680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9496" y="2304288"/>
            <a:ext cx="4078224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Little operating leverage priced in: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the share price implies a 12.7% EBIT margin in 2033E (11.7% today) – we model 15.6%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Growth engine intact: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revenue per member, members per club and ~9 net openings a year from 30 signed leases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Cash machine: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FCF yield rising to 8% by 2029E funds rising dividends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Asymmetric risk/reward: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bull NOK 92 vs. bear NOK 15 per share (DCF)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Catalysts: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Q3 report 27 Oct 2026 (margins), the next buyback programme, the 2027 opening pipeline</a:t>
            </a:r>
            <a:endParaRPr sz="950"/>
          </a:p>
        </p:txBody>
      </p:sp>
      <p:sp>
        <p:nvSpPr>
          <p:cNvPr id="16" name="TextBox 15"/>
          <p:cNvSpPr txBox="1"/>
          <p:nvPr/>
        </p:nvSpPr>
        <p:spPr>
          <a:xfrm>
            <a:off x="429768" y="41148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Valuation summary – football field (NOK/share)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429768" y="4416552"/>
            <a:ext cx="425196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29768" y="4681728"/>
          <a:ext cx="429768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421236" y="485714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35</a:t>
            </a:r>
            <a:endParaRPr sz="800"/>
          </a:p>
        </p:txBody>
      </p:sp>
      <p:sp>
        <p:nvSpPr>
          <p:cNvPr id="20" name="TextBox 19"/>
          <p:cNvSpPr txBox="1"/>
          <p:nvPr/>
        </p:nvSpPr>
        <p:spPr>
          <a:xfrm>
            <a:off x="3406861" y="485714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47</a:t>
            </a:r>
            <a:endParaRPr sz="800"/>
          </a:p>
        </p:txBody>
      </p:sp>
      <p:sp>
        <p:nvSpPr>
          <p:cNvPr id="21" name="TextBox 20"/>
          <p:cNvSpPr txBox="1"/>
          <p:nvPr/>
        </p:nvSpPr>
        <p:spPr>
          <a:xfrm>
            <a:off x="2579090" y="5079949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49</a:t>
            </a:r>
            <a:endParaRPr sz="800"/>
          </a:p>
        </p:txBody>
      </p:sp>
      <p:sp>
        <p:nvSpPr>
          <p:cNvPr id="22" name="TextBox 21"/>
          <p:cNvSpPr txBox="1"/>
          <p:nvPr/>
        </p:nvSpPr>
        <p:spPr>
          <a:xfrm>
            <a:off x="3468589" y="5079949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60</a:t>
            </a:r>
            <a:endParaRPr sz="800"/>
          </a:p>
        </p:txBody>
      </p:sp>
      <p:sp>
        <p:nvSpPr>
          <p:cNvPr id="23" name="TextBox 22"/>
          <p:cNvSpPr txBox="1"/>
          <p:nvPr/>
        </p:nvSpPr>
        <p:spPr>
          <a:xfrm>
            <a:off x="1934427" y="530275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15</a:t>
            </a:r>
            <a:endParaRPr sz="800"/>
          </a:p>
        </p:txBody>
      </p:sp>
      <p:sp>
        <p:nvSpPr>
          <p:cNvPr id="24" name="TextBox 23"/>
          <p:cNvSpPr txBox="1"/>
          <p:nvPr/>
        </p:nvSpPr>
        <p:spPr>
          <a:xfrm>
            <a:off x="4215716" y="530275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92</a:t>
            </a:r>
            <a:endParaRPr sz="800"/>
          </a:p>
        </p:txBody>
      </p:sp>
      <p:sp>
        <p:nvSpPr>
          <p:cNvPr id="25" name="TextBox 24"/>
          <p:cNvSpPr txBox="1"/>
          <p:nvPr/>
        </p:nvSpPr>
        <p:spPr>
          <a:xfrm>
            <a:off x="2579090" y="552556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44</a:t>
            </a:r>
            <a:endParaRPr sz="800"/>
          </a:p>
        </p:txBody>
      </p:sp>
      <p:sp>
        <p:nvSpPr>
          <p:cNvPr id="26" name="TextBox 25"/>
          <p:cNvSpPr txBox="1"/>
          <p:nvPr/>
        </p:nvSpPr>
        <p:spPr>
          <a:xfrm>
            <a:off x="3383506" y="552556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57</a:t>
            </a:r>
            <a:endParaRPr sz="800"/>
          </a:p>
        </p:txBody>
      </p:sp>
      <p:sp>
        <p:nvSpPr>
          <p:cNvPr id="27" name="TextBox 26"/>
          <p:cNvSpPr txBox="1"/>
          <p:nvPr/>
        </p:nvSpPr>
        <p:spPr>
          <a:xfrm>
            <a:off x="2579090" y="574837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47</a:t>
            </a:r>
            <a:endParaRPr sz="800"/>
          </a:p>
        </p:txBody>
      </p:sp>
      <p:sp>
        <p:nvSpPr>
          <p:cNvPr id="28" name="TextBox 27"/>
          <p:cNvSpPr txBox="1"/>
          <p:nvPr/>
        </p:nvSpPr>
        <p:spPr>
          <a:xfrm>
            <a:off x="3795952" y="574837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74</a:t>
            </a:r>
            <a:endParaRPr sz="800"/>
          </a:p>
        </p:txBody>
      </p:sp>
      <p:sp>
        <p:nvSpPr>
          <p:cNvPr id="29" name="TextBox 28"/>
          <p:cNvSpPr txBox="1"/>
          <p:nvPr/>
        </p:nvSpPr>
        <p:spPr>
          <a:xfrm>
            <a:off x="2579090" y="59711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43</a:t>
            </a:r>
            <a:endParaRPr sz="800"/>
          </a:p>
        </p:txBody>
      </p:sp>
      <p:sp>
        <p:nvSpPr>
          <p:cNvPr id="30" name="TextBox 29"/>
          <p:cNvSpPr txBox="1"/>
          <p:nvPr/>
        </p:nvSpPr>
        <p:spPr>
          <a:xfrm>
            <a:off x="3522441" y="59711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63</a:t>
            </a:r>
            <a:endParaRPr sz="800"/>
          </a:p>
        </p:txBody>
      </p:sp>
      <p:cxnSp>
        <p:nvCxnSpPr>
          <p:cNvPr id="31" name="Connector 30"/>
          <p:cNvCxnSpPr/>
          <p:nvPr/>
        </p:nvCxnSpPr>
        <p:spPr>
          <a:xfrm>
            <a:off x="3008858" y="4818888"/>
            <a:ext cx="0" cy="135514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79528" y="4818888"/>
            <a:ext cx="0" cy="1355140"/>
          </a:xfrm>
          <a:prstGeom prst="line">
            <a:avLst/>
          </a:prstGeom>
          <a:ln w="1905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61141" y="4818888"/>
            <a:ext cx="0" cy="1355140"/>
          </a:xfrm>
          <a:prstGeom prst="line">
            <a:avLst/>
          </a:prstGeom>
          <a:ln w="15875">
            <a:solidFill>
              <a:srgbClr val="2E7D3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87650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42</a:t>
            </a:r>
            <a:endParaRPr sz="800"/>
          </a:p>
        </p:txBody>
      </p:sp>
      <p:sp>
        <p:nvSpPr>
          <p:cNvPr id="35" name="TextBox 34"/>
          <p:cNvSpPr txBox="1"/>
          <p:nvPr/>
        </p:nvSpPr>
        <p:spPr>
          <a:xfrm>
            <a:off x="2758320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54</a:t>
            </a:r>
            <a:endParaRPr sz="800"/>
          </a:p>
        </p:txBody>
      </p:sp>
      <p:sp>
        <p:nvSpPr>
          <p:cNvPr id="36" name="TextBox 35"/>
          <p:cNvSpPr txBox="1"/>
          <p:nvPr/>
        </p:nvSpPr>
        <p:spPr>
          <a:xfrm>
            <a:off x="3379429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57</a:t>
            </a:r>
            <a:endParaRPr sz="800"/>
          </a:p>
        </p:txBody>
      </p:sp>
      <p:cxnSp>
        <p:nvCxnSpPr>
          <p:cNvPr id="37" name="Connector 36"/>
          <p:cNvCxnSpPr/>
          <p:nvPr/>
        </p:nvCxnSpPr>
        <p:spPr>
          <a:xfrm>
            <a:off x="521207" y="6309360"/>
            <a:ext cx="228601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5527" y="6217920"/>
            <a:ext cx="10058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Share price</a:t>
            </a:r>
            <a:endParaRPr sz="750"/>
          </a:p>
        </p:txBody>
      </p:sp>
      <p:cxnSp>
        <p:nvCxnSpPr>
          <p:cNvPr id="39" name="Connector 38"/>
          <p:cNvCxnSpPr/>
          <p:nvPr/>
        </p:nvCxnSpPr>
        <p:spPr>
          <a:xfrm>
            <a:off x="1664207" y="6309360"/>
            <a:ext cx="228600" cy="0"/>
          </a:xfrm>
          <a:prstGeom prst="line">
            <a:avLst/>
          </a:prstGeom>
          <a:ln w="1905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38528" y="621792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Fair value today</a:t>
            </a:r>
            <a:endParaRPr sz="750"/>
          </a:p>
        </p:txBody>
      </p:sp>
      <p:cxnSp>
        <p:nvCxnSpPr>
          <p:cNvPr id="41" name="Connector 40"/>
          <p:cNvCxnSpPr/>
          <p:nvPr/>
        </p:nvCxnSpPr>
        <p:spPr>
          <a:xfrm>
            <a:off x="3035808" y="6309360"/>
            <a:ext cx="228600" cy="0"/>
          </a:xfrm>
          <a:prstGeom prst="line">
            <a:avLst/>
          </a:prstGeom>
          <a:ln w="15875">
            <a:solidFill>
              <a:srgbClr val="2E7D3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10127" y="6217920"/>
            <a:ext cx="19202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12m target price (rolled forward)</a:t>
            </a:r>
            <a:endParaRPr sz="750"/>
          </a:p>
        </p:txBody>
      </p:sp>
      <p:cxnSp>
        <p:nvCxnSpPr>
          <p:cNvPr id="43" name="Connector 42"/>
          <p:cNvCxnSpPr/>
          <p:nvPr/>
        </p:nvCxnSpPr>
        <p:spPr>
          <a:xfrm>
            <a:off x="4937760" y="1874519"/>
            <a:ext cx="0" cy="4389121"/>
          </a:xfrm>
          <a:prstGeom prst="line">
            <a:avLst/>
          </a:prstGeom>
          <a:ln w="9525">
            <a:solidFill>
              <a:srgbClr val="C8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38928" y="1847088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DCF valuation – sensitivity analysis (NOK per share)</a:t>
            </a:r>
            <a:endParaRPr sz="1200"/>
          </a:p>
        </p:txBody>
      </p:sp>
      <p:cxnSp>
        <p:nvCxnSpPr>
          <p:cNvPr id="45" name="Connector 44"/>
          <p:cNvCxnSpPr/>
          <p:nvPr/>
        </p:nvCxnSpPr>
        <p:spPr>
          <a:xfrm>
            <a:off x="5138928" y="2148840"/>
            <a:ext cx="6583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138928" y="2276856"/>
          <a:ext cx="4800598" cy="1554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46153"/>
                <a:gridCol w="564776"/>
                <a:gridCol w="555667"/>
                <a:gridCol w="555667"/>
                <a:gridCol w="555667"/>
                <a:gridCol w="555667"/>
                <a:gridCol w="555667"/>
                <a:gridCol w="555667"/>
                <a:gridCol w="555667"/>
              </a:tblGrid>
              <a:tr h="237744">
                <a:tc rowSpan="2" gridSpan="2">
                  <a:txBody>
                    <a:bodyPr wrap="square"/>
                    <a:lstStyle/>
                    <a:p>
                      <a:pPr algn="l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rowSpan="2"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gridSpan="7"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WACC</a:t>
                      </a:r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9456">
                <a:tc gridSpan="2"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 vMerge="1"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7.52%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8.02%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8.52%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9.02%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9.52%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10.02%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10.52%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9456">
                <a:tc rowSpan="5"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Arial"/>
                        </a:rPr>
                        <a:t>Terminal growth</a:t>
                      </a:r>
                      <a:endParaRPr sz="900"/>
                    </a:p>
                  </a:txBody>
                  <a:tcPr marL="36576" marR="36576" marT="0" marB="0" anchor="ctr" vert="vert27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1.50%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67.2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61.5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56.5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52.3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48.5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45.2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42.3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1.75%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69.0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62.9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57.7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53.2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49.3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45.9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42.9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2.00%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71.0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64.5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59.0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54.3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9EC3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50.2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46.6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43.5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2.25%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73.1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66.2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60.3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55.4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51.1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47.4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44.1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2.50%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75.4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68.0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61.8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56.6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52.1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48.2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44.8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10076688" y="2276856"/>
            <a:ext cx="169164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076688" y="2276856"/>
            <a:ext cx="1691640" cy="1572768"/>
          </a:xfrm>
          <a:prstGeom prst="rect">
            <a:avLst/>
          </a:prstGeom>
          <a:noFill/>
          <a:ln w="9525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9" name="Chart 48"/>
          <p:cNvGraphicFramePr>
            <a:graphicFrameLocks noGrp="1"/>
          </p:cNvGraphicFramePr>
          <p:nvPr/>
        </p:nvGraphicFramePr>
        <p:xfrm>
          <a:off x="10149840" y="2487168"/>
          <a:ext cx="1545336" cy="1325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0" name="Oval 49"/>
          <p:cNvSpPr/>
          <p:nvPr/>
        </p:nvSpPr>
        <p:spPr>
          <a:xfrm>
            <a:off x="11014176" y="2352971"/>
            <a:ext cx="51206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1F1F1F"/>
                </a:solidFill>
                <a:latin typeface="Arial"/>
              </a:rPr>
              <a:t>+28%</a:t>
            </a:r>
            <a:endParaRPr sz="800"/>
          </a:p>
        </p:txBody>
      </p:sp>
      <p:cxnSp>
        <p:nvCxnSpPr>
          <p:cNvPr id="51" name="Connector 50"/>
          <p:cNvCxnSpPr/>
          <p:nvPr/>
        </p:nvCxnSpPr>
        <p:spPr>
          <a:xfrm>
            <a:off x="11270208" y="2554139"/>
            <a:ext cx="0" cy="9144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38928" y="41148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What the market is pricing in (reverse DCF)</a:t>
            </a:r>
            <a:endParaRPr sz="1200"/>
          </a:p>
        </p:txBody>
      </p:sp>
      <p:cxnSp>
        <p:nvCxnSpPr>
          <p:cNvPr id="53" name="Connector 52"/>
          <p:cNvCxnSpPr/>
          <p:nvPr/>
        </p:nvCxnSpPr>
        <p:spPr>
          <a:xfrm>
            <a:off x="5138928" y="4416552"/>
            <a:ext cx="6583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138928" y="4498848"/>
            <a:ext cx="4800600" cy="181051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5230368" y="4590288"/>
          <a:ext cx="4617717" cy="8641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904214"/>
                <a:gridCol w="904501"/>
                <a:gridCol w="904501"/>
                <a:gridCol w="904501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Market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 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12.7%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15.6%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 CAGR 2025–33E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4.8%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5.4%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10.7%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248656" y="5532120"/>
            <a:ext cx="4581144" cy="7772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Little operating leverage priced in: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the market's 2033E margin is only 0.9pp above today's and 2.9pp below ours</a:t>
            </a:r>
            <a:endParaRPr sz="90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Each 1pp of margin is worth NOK 4.1 per share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– our upside rests on margins, not on multiples</a:t>
            </a:r>
            <a:endParaRPr sz="900"/>
          </a:p>
        </p:txBody>
      </p:sp>
      <p:sp>
        <p:nvSpPr>
          <p:cNvPr id="57" name="Rectangle 56"/>
          <p:cNvSpPr/>
          <p:nvPr/>
        </p:nvSpPr>
        <p:spPr>
          <a:xfrm>
            <a:off x="10076688" y="4498848"/>
            <a:ext cx="1691640" cy="1810512"/>
          </a:xfrm>
          <a:prstGeom prst="rect">
            <a:avLst/>
          </a:prstGeom>
          <a:noFill/>
          <a:ln w="9525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168128" y="457200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C00000"/>
                </a:solidFill>
                <a:latin typeface="Arial"/>
              </a:rPr>
              <a:t>12.7%</a:t>
            </a:r>
            <a:endParaRPr sz="1700"/>
          </a:p>
        </p:txBody>
      </p:sp>
      <p:sp>
        <p:nvSpPr>
          <p:cNvPr id="59" name="TextBox 58"/>
          <p:cNvSpPr txBox="1"/>
          <p:nvPr/>
        </p:nvSpPr>
        <p:spPr>
          <a:xfrm>
            <a:off x="10168128" y="4873752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Market-implied, 2033E</a:t>
            </a:r>
            <a:endParaRPr sz="750"/>
          </a:p>
        </p:txBody>
      </p:sp>
      <p:sp>
        <p:nvSpPr>
          <p:cNvPr id="60" name="TextBox 59"/>
          <p:cNvSpPr txBox="1"/>
          <p:nvPr/>
        </p:nvSpPr>
        <p:spPr>
          <a:xfrm>
            <a:off x="10168128" y="5138928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003255"/>
                </a:solidFill>
                <a:latin typeface="Arial"/>
              </a:rPr>
              <a:t>15.6%</a:t>
            </a:r>
            <a:endParaRPr sz="1700"/>
          </a:p>
        </p:txBody>
      </p:sp>
      <p:sp>
        <p:nvSpPr>
          <p:cNvPr id="61" name="TextBox 60"/>
          <p:cNvSpPr txBox="1"/>
          <p:nvPr/>
        </p:nvSpPr>
        <p:spPr>
          <a:xfrm>
            <a:off x="10168128" y="5440680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Our base case, 2033E</a:t>
            </a:r>
            <a:endParaRPr sz="750"/>
          </a:p>
        </p:txBody>
      </p:sp>
      <p:sp>
        <p:nvSpPr>
          <p:cNvPr id="62" name="TextBox 61"/>
          <p:cNvSpPr txBox="1"/>
          <p:nvPr/>
        </p:nvSpPr>
        <p:spPr>
          <a:xfrm>
            <a:off x="10168128" y="5705856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6B7480"/>
                </a:solidFill>
                <a:latin typeface="Arial"/>
              </a:rPr>
              <a:t>11.7%</a:t>
            </a:r>
            <a:endParaRPr sz="1700"/>
          </a:p>
        </p:txBody>
      </p:sp>
      <p:sp>
        <p:nvSpPr>
          <p:cNvPr id="63" name="TextBox 62"/>
          <p:cNvSpPr txBox="1"/>
          <p:nvPr/>
        </p:nvSpPr>
        <p:spPr>
          <a:xfrm>
            <a:off x="10168128" y="6007608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Today (2025A)</a:t>
            </a:r>
            <a:endParaRPr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